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E2761"/>
          </a:solidFill>
          <a:ln/>
        </p:spPr>
      </p:sp>
      <p:sp>
        <p:nvSpPr>
          <p:cNvPr id="3" name="Shape 1"/>
          <p:cNvSpPr/>
          <p:nvPr/>
        </p:nvSpPr>
        <p:spPr>
          <a:xfrm>
            <a:off x="9875520" y="-914400"/>
            <a:ext cx="3749040" cy="3749040"/>
          </a:xfrm>
          <a:prstGeom prst="ellipse">
            <a:avLst/>
          </a:prstGeom>
          <a:solidFill>
            <a:srgbClr val="272F55"/>
          </a:solidFill>
          <a:ln/>
        </p:spPr>
      </p:sp>
      <p:sp>
        <p:nvSpPr>
          <p:cNvPr id="4" name="Shape 2"/>
          <p:cNvSpPr/>
          <p:nvPr/>
        </p:nvSpPr>
        <p:spPr>
          <a:xfrm>
            <a:off x="-2194560" y="4754880"/>
            <a:ext cx="4206240" cy="4206240"/>
          </a:xfrm>
          <a:prstGeom prst="ellipse">
            <a:avLst/>
          </a:prstGeom>
          <a:solidFill>
            <a:srgbClr val="1E2761"/>
          </a:solidFill>
          <a:ln/>
        </p:spPr>
      </p:sp>
      <p:sp>
        <p:nvSpPr>
          <p:cNvPr id="5" name="Text 3"/>
          <p:cNvSpPr txBox="1"/>
          <p:nvPr/>
        </p:nvSpPr>
        <p:spPr>
          <a:xfrm>
            <a:off x="822960" y="1417320"/>
            <a:ext cx="9601200" cy="365760"/>
          </a:xfrm>
          <a:prstGeom prst="rect">
            <a:avLst/>
          </a:prstGeom>
          <a:noFill/>
          <a:ln/>
        </p:spPr>
        <p:txBody>
          <a:bodyPr wrap="square" lIns="0" tIns="0" rIns="0" bIns="0" rtlCol="0" anchor="ctr"/>
          <a:lstStyle/>
          <a:p>
            <a:pPr indent="0" marL="0">
              <a:buNone/>
            </a:pPr>
            <a:r>
              <a:rPr lang="en-US" sz="1300" b="1" spc="200" kern="0" dirty="0">
                <a:solidFill>
                  <a:srgbClr val="FF6B4A"/>
                </a:solidFill>
                <a:latin typeface="Calibri" pitchFamily="34" charset="0"/>
                <a:ea typeface="Calibri" pitchFamily="34" charset="-122"/>
                <a:cs typeface="Calibri" pitchFamily="34" charset="-120"/>
              </a:rPr>
              <a:t>PROJET DE FIN D’ÉTUDES  ·  DIPLÔME NATIONAL D’INGÉNIEUR EN INFORMATIQUE</a:t>
            </a:r>
            <a:endParaRPr lang="en-US" sz="1300" dirty="0"/>
          </a:p>
        </p:txBody>
      </p:sp>
      <p:sp>
        <p:nvSpPr>
          <p:cNvPr id="6" name="Text 4"/>
          <p:cNvSpPr txBox="1"/>
          <p:nvPr/>
        </p:nvSpPr>
        <p:spPr>
          <a:xfrm>
            <a:off x="777240" y="1874520"/>
            <a:ext cx="10515600" cy="155448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ANTIGONE 360°</a:t>
            </a:r>
            <a:endParaRPr lang="en-US" sz="6800" dirty="0"/>
          </a:p>
        </p:txBody>
      </p:sp>
      <p:sp>
        <p:nvSpPr>
          <p:cNvPr id="7" name="Text 5"/>
          <p:cNvSpPr txBox="1"/>
          <p:nvPr/>
        </p:nvSpPr>
        <p:spPr>
          <a:xfrm>
            <a:off x="822960" y="3246120"/>
            <a:ext cx="8778240" cy="868680"/>
          </a:xfrm>
          <a:prstGeom prst="rect">
            <a:avLst/>
          </a:prstGeom>
          <a:noFill/>
          <a:ln/>
        </p:spPr>
        <p:txBody>
          <a:bodyPr wrap="square" lIns="0" tIns="0" rIns="0" bIns="0" rtlCol="0" anchor="ctr"/>
          <a:lstStyle/>
          <a:p>
            <a:pPr indent="0" marL="0">
              <a:lnSpc>
                <a:spcPct val="120000"/>
              </a:lnSpc>
              <a:buNone/>
            </a:pPr>
            <a:r>
              <a:rPr lang="en-US" sz="1700" dirty="0">
                <a:solidFill>
                  <a:srgbClr val="E8EEFC"/>
                </a:solidFill>
                <a:latin typeface="Calibri" pitchFamily="34" charset="0"/>
                <a:ea typeface="Calibri" pitchFamily="34" charset="-122"/>
                <a:cs typeface="Calibri" pitchFamily="34" charset="-120"/>
              </a:rPr>
              <a:t>Plateforme intégrée de gestion des Ressources Humaines, des Projets et des</a:t>
            </a:r>
            <a:endParaRPr lang="en-US" sz="1700" dirty="0"/>
          </a:p>
          <a:p>
            <a:pPr indent="0" marL="0">
              <a:lnSpc>
                <a:spcPct val="120000"/>
              </a:lnSpc>
              <a:buNone/>
            </a:pPr>
            <a:r>
              <a:rPr lang="en-US" sz="1700" dirty="0">
                <a:solidFill>
                  <a:srgbClr val="E8EEFC"/>
                </a:solidFill>
                <a:latin typeface="Calibri" pitchFamily="34" charset="0"/>
                <a:ea typeface="Calibri" pitchFamily="34" charset="-122"/>
                <a:cs typeface="Calibri" pitchFamily="34" charset="-120"/>
              </a:rPr>
              <a:t>Finances — augmentée par un assistant conversationnel IA</a:t>
            </a:r>
            <a:endParaRPr lang="en-US" sz="1700" dirty="0"/>
          </a:p>
        </p:txBody>
      </p:sp>
      <p:sp>
        <p:nvSpPr>
          <p:cNvPr id="8" name="Shape 6"/>
          <p:cNvSpPr/>
          <p:nvPr/>
        </p:nvSpPr>
        <p:spPr>
          <a:xfrm>
            <a:off x="822960" y="4434840"/>
            <a:ext cx="7498080" cy="1417320"/>
          </a:xfrm>
          <a:prstGeom prst="roundRect">
            <a:avLst>
              <a:gd name="adj" fmla="val 6452"/>
            </a:avLst>
          </a:prstGeom>
          <a:solidFill>
            <a:srgbClr val="1E2761"/>
          </a:solidFill>
          <a:ln w="12700">
            <a:solidFill>
              <a:srgbClr val="1E2761"/>
            </a:solidFill>
            <a:prstDash val="solid"/>
          </a:ln>
          <a:effectLst>
            <a:outerShdw sx="100000" sy="100000" kx="0" ky="0" algn="bl" rotWithShape="0" blurRad="76200" dist="25400" dir="5400000">
              <a:srgbClr val="141B3C">
                <a:alpha val="10000"/>
              </a:srgbClr>
            </a:outerShdw>
          </a:effectLst>
        </p:spPr>
      </p:sp>
      <p:sp>
        <p:nvSpPr>
          <p:cNvPr id="9" name="Text 7"/>
          <p:cNvSpPr txBox="1"/>
          <p:nvPr/>
        </p:nvSpPr>
        <p:spPr>
          <a:xfrm>
            <a:off x="1097280" y="4617720"/>
            <a:ext cx="6949440" cy="1097280"/>
          </a:xfrm>
          <a:prstGeom prst="rect">
            <a:avLst/>
          </a:prstGeom>
          <a:noFill/>
          <a:ln/>
        </p:spPr>
        <p:txBody>
          <a:bodyPr wrap="square" lIns="0" tIns="0" rIns="0" bIns="0" rtlCol="0" anchor="ctr"/>
          <a:lstStyle/>
          <a:p>
            <a:pPr indent="0" marL="0">
              <a:lnSpc>
                <a:spcPct val="135000"/>
              </a:lnSpc>
              <a:buNone/>
            </a:pPr>
            <a:r>
              <a:rPr lang="en-US" sz="1250" dirty="0">
                <a:solidFill>
                  <a:srgbClr val="B9C6EE"/>
                </a:solidFill>
                <a:latin typeface="Calibri" pitchFamily="34" charset="0"/>
                <a:ea typeface="Calibri" pitchFamily="34" charset="-122"/>
                <a:cs typeface="Calibri" pitchFamily="34" charset="-120"/>
              </a:rPr>
              <a:t>Réalisé par </a:t>
            </a:r>
            <a:pPr indent="0" marL="0">
              <a:lnSpc>
                <a:spcPct val="135000"/>
              </a:lnSpc>
              <a:buNone/>
            </a:pPr>
            <a:r>
              <a:rPr lang="en-US" sz="1250" b="1" dirty="0">
                <a:solidFill>
                  <a:srgbClr val="FFFFFF"/>
                </a:solidFill>
                <a:latin typeface="Calibri" pitchFamily="34" charset="0"/>
                <a:ea typeface="Calibri" pitchFamily="34" charset="-122"/>
                <a:cs typeface="Calibri" pitchFamily="34" charset="-120"/>
              </a:rPr>
              <a:t>Yosr Khriji</a:t>
            </a:r>
            <a:endParaRPr lang="en-US" sz="1250" dirty="0"/>
          </a:p>
          <a:p>
            <a:pPr indent="0" marL="0">
              <a:lnSpc>
                <a:spcPct val="135000"/>
              </a:lnSpc>
              <a:buNone/>
            </a:pPr>
            <a:r>
              <a:rPr lang="en-US" sz="1250" dirty="0">
                <a:solidFill>
                  <a:srgbClr val="B9C6EE"/>
                </a:solidFill>
                <a:latin typeface="Calibri" pitchFamily="34" charset="0"/>
                <a:ea typeface="Calibri" pitchFamily="34" charset="-122"/>
                <a:cs typeface="Calibri" pitchFamily="34" charset="-120"/>
              </a:rPr>
              <a:t>Organisme d’accueil : Antigone — agence de communication et de marketing</a:t>
            </a:r>
            <a:endParaRPr lang="en-US" sz="1250" dirty="0"/>
          </a:p>
          <a:p>
            <a:pPr indent="0" marL="0">
              <a:lnSpc>
                <a:spcPct val="135000"/>
              </a:lnSpc>
              <a:buNone/>
            </a:pPr>
            <a:r>
              <a:rPr lang="en-US" sz="1250" dirty="0">
                <a:solidFill>
                  <a:srgbClr val="B9C6EE"/>
                </a:solidFill>
                <a:latin typeface="Calibri" pitchFamily="34" charset="0"/>
                <a:ea typeface="Calibri" pitchFamily="34" charset="-122"/>
                <a:cs typeface="Calibri" pitchFamily="34" charset="-120"/>
              </a:rPr>
              <a:t>Encadrant académique : ______________     ·     Encadrant professionnel : ______________</a:t>
            </a:r>
            <a:endParaRPr lang="en-US" sz="1250" dirty="0"/>
          </a:p>
        </p:txBody>
      </p:sp>
      <p:sp>
        <p:nvSpPr>
          <p:cNvPr id="10" name="Shape 8"/>
          <p:cNvSpPr/>
          <p:nvPr/>
        </p:nvSpPr>
        <p:spPr>
          <a:xfrm>
            <a:off x="9326880" y="4754880"/>
            <a:ext cx="960120" cy="960120"/>
          </a:xfrm>
          <a:prstGeom prst="ellipse">
            <a:avLst/>
          </a:prstGeom>
          <a:solidFill>
            <a:srgbClr val="FF6B4A"/>
          </a:solidFill>
          <a:ln/>
        </p:spPr>
      </p:sp>
      <p:pic>
        <p:nvPicPr>
          <p:cNvPr id="11" name="Image 0" descr="C:\Users\yosrk\AppData\Local\Temp\claude\c--Users-yosrk-OneDrive-Bureau-RHpfe-Antigone-RH\f59fd8f1-a1b7-4e96-84d6-6d2a4296fa99\scratchpad\pfe-soutenance\icons\gradcap.png">    </p:cNvPr>
          <p:cNvPicPr>
            <a:picLocks noChangeAspect="1"/>
          </p:cNvPicPr>
          <p:nvPr/>
        </p:nvPicPr>
        <p:blipFill>
          <a:blip r:embed="rId1"/>
          <a:stretch>
            <a:fillRect/>
          </a:stretch>
        </p:blipFill>
        <p:spPr>
          <a:xfrm>
            <a:off x="9461297" y="4889297"/>
            <a:ext cx="691286" cy="691286"/>
          </a:xfrm>
          <a:prstGeom prst="rect">
            <a:avLst/>
          </a:prstGeom>
        </p:spPr>
      </p:pic>
      <p:sp>
        <p:nvSpPr>
          <p:cNvPr id="12" name="Text 9"/>
          <p:cNvSpPr txBox="1"/>
          <p:nvPr/>
        </p:nvSpPr>
        <p:spPr>
          <a:xfrm>
            <a:off x="8778240" y="5806440"/>
            <a:ext cx="2103120" cy="274320"/>
          </a:xfrm>
          <a:prstGeom prst="rect">
            <a:avLst/>
          </a:prstGeom>
          <a:noFill/>
          <a:ln/>
        </p:spPr>
        <p:txBody>
          <a:bodyPr wrap="square" lIns="0" tIns="0" rIns="0" bIns="0" rtlCol="0" anchor="ctr"/>
          <a:lstStyle/>
          <a:p>
            <a:pPr algn="ctr" indent="0" marL="0">
              <a:buNone/>
            </a:pPr>
            <a:r>
              <a:rPr lang="en-US" sz="1050" dirty="0">
                <a:solidFill>
                  <a:srgbClr val="B9C6EE"/>
                </a:solidFill>
                <a:latin typeface="Calibri" pitchFamily="34" charset="0"/>
                <a:ea typeface="Calibri" pitchFamily="34" charset="-122"/>
                <a:cs typeface="Calibri" pitchFamily="34" charset="-120"/>
              </a:rPr>
              <a:t>Février — Juillet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01</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PLAN DE LA PRÉSENTATION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Sommaire</a:t>
            </a:r>
            <a:endParaRPr lang="en-US" sz="3000" dirty="0"/>
          </a:p>
        </p:txBody>
      </p:sp>
      <p:sp>
        <p:nvSpPr>
          <p:cNvPr id="6" name="Text 4"/>
          <p:cNvSpPr txBox="1"/>
          <p:nvPr/>
        </p:nvSpPr>
        <p:spPr>
          <a:xfrm>
            <a:off x="566928" y="1828800"/>
            <a:ext cx="914400" cy="1005840"/>
          </a:xfrm>
          <a:prstGeom prst="rect">
            <a:avLst/>
          </a:prstGeom>
          <a:noFill/>
          <a:ln/>
        </p:spPr>
        <p:txBody>
          <a:bodyPr wrap="square" lIns="0" tIns="0" rIns="0" bIns="0" rtlCol="0" anchor="ctr"/>
          <a:lstStyle/>
          <a:p>
            <a:pPr indent="0" marL="0">
              <a:buNone/>
            </a:pPr>
            <a:r>
              <a:rPr lang="en-US" sz="4000" b="1" dirty="0">
                <a:solidFill>
                  <a:srgbClr val="E3E7F3"/>
                </a:solidFill>
                <a:latin typeface="Cambria" pitchFamily="34" charset="0"/>
                <a:ea typeface="Cambria" pitchFamily="34" charset="-122"/>
                <a:cs typeface="Cambria" pitchFamily="34" charset="-120"/>
              </a:rPr>
              <a:t>01</a:t>
            </a:r>
            <a:endParaRPr lang="en-US" sz="4000" dirty="0"/>
          </a:p>
        </p:txBody>
      </p:sp>
      <p:sp>
        <p:nvSpPr>
          <p:cNvPr id="7" name="Text 5"/>
          <p:cNvSpPr txBox="1"/>
          <p:nvPr/>
        </p:nvSpPr>
        <p:spPr>
          <a:xfrm>
            <a:off x="1435608" y="1901952"/>
            <a:ext cx="5029200" cy="457200"/>
          </a:xfrm>
          <a:prstGeom prst="rect">
            <a:avLst/>
          </a:prstGeom>
          <a:noFill/>
          <a:ln/>
        </p:spPr>
        <p:txBody>
          <a:bodyPr wrap="square" lIns="0" tIns="0" rIns="0" bIns="0" rtlCol="0" anchor="ctr"/>
          <a:lstStyle/>
          <a:p>
            <a:pPr indent="0" marL="0">
              <a:buNone/>
            </a:pPr>
            <a:r>
              <a:rPr lang="en-US" sz="2000" b="1" dirty="0">
                <a:solidFill>
                  <a:srgbClr val="141B3C"/>
                </a:solidFill>
                <a:latin typeface="Cambria" pitchFamily="34" charset="0"/>
                <a:ea typeface="Cambria" pitchFamily="34" charset="-122"/>
                <a:cs typeface="Cambria" pitchFamily="34" charset="-120"/>
              </a:rPr>
              <a:t>Introduction</a:t>
            </a:r>
            <a:endParaRPr lang="en-US" sz="2000" dirty="0"/>
          </a:p>
        </p:txBody>
      </p:sp>
      <p:sp>
        <p:nvSpPr>
          <p:cNvPr id="8" name="Text 6"/>
          <p:cNvSpPr txBox="1"/>
          <p:nvPr/>
        </p:nvSpPr>
        <p:spPr>
          <a:xfrm>
            <a:off x="1435608" y="2304288"/>
            <a:ext cx="5394960" cy="365760"/>
          </a:xfrm>
          <a:prstGeom prst="rect">
            <a:avLst/>
          </a:prstGeom>
          <a:noFill/>
          <a:ln/>
        </p:spPr>
        <p:txBody>
          <a:bodyPr wrap="square" lIns="0" tIns="0" rIns="0" bIns="0" rtlCol="0" anchor="ctr"/>
          <a:lstStyle/>
          <a:p>
            <a:pPr indent="0" marL="0">
              <a:buNone/>
            </a:pPr>
            <a:r>
              <a:rPr lang="en-US" sz="1200" dirty="0">
                <a:solidFill>
                  <a:srgbClr val="767CA0"/>
                </a:solidFill>
                <a:latin typeface="Calibri" pitchFamily="34" charset="0"/>
                <a:ea typeface="Calibri" pitchFamily="34" charset="-122"/>
                <a:cs typeface="Calibri" pitchFamily="34" charset="-120"/>
              </a:rPr>
              <a:t>Contexte, organisme d’accueil et cadrage du projet</a:t>
            </a:r>
            <a:endParaRPr lang="en-US" sz="1200" dirty="0"/>
          </a:p>
        </p:txBody>
      </p:sp>
      <p:sp>
        <p:nvSpPr>
          <p:cNvPr id="9" name="Shape 7"/>
          <p:cNvSpPr/>
          <p:nvPr/>
        </p:nvSpPr>
        <p:spPr>
          <a:xfrm>
            <a:off x="566928" y="2843784"/>
            <a:ext cx="457200" cy="457200"/>
          </a:xfrm>
          <a:prstGeom prst="ellipse">
            <a:avLst/>
          </a:prstGeom>
          <a:solidFill>
            <a:srgbClr val="141B3C"/>
          </a:solidFill>
          <a:ln/>
        </p:spPr>
      </p:sp>
      <p:pic>
        <p:nvPicPr>
          <p:cNvPr id="10" name="Image 0" descr="C:\Users\yosrk\AppData\Local\Temp\claude\c--Users-yosrk-OneDrive-Bureau-RHpfe-Antigone-RH\f59fd8f1-a1b7-4e96-84d6-6d2a4296fa99\scratchpad\pfe-soutenance\icons\target.png">    </p:cNvPr>
          <p:cNvPicPr>
            <a:picLocks noChangeAspect="1"/>
          </p:cNvPicPr>
          <p:nvPr/>
        </p:nvPicPr>
        <p:blipFill>
          <a:blip r:embed="rId1"/>
          <a:stretch>
            <a:fillRect/>
          </a:stretch>
        </p:blipFill>
        <p:spPr>
          <a:xfrm>
            <a:off x="630936" y="2907792"/>
            <a:ext cx="329184" cy="329184"/>
          </a:xfrm>
          <a:prstGeom prst="rect">
            <a:avLst/>
          </a:prstGeom>
        </p:spPr>
      </p:pic>
      <p:sp>
        <p:nvSpPr>
          <p:cNvPr id="11" name="Text 8"/>
          <p:cNvSpPr txBox="1"/>
          <p:nvPr/>
        </p:nvSpPr>
        <p:spPr>
          <a:xfrm>
            <a:off x="1133856" y="2734056"/>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02</a:t>
            </a:r>
            <a:endParaRPr lang="en-US" sz="1200" dirty="0"/>
          </a:p>
        </p:txBody>
      </p:sp>
      <p:sp>
        <p:nvSpPr>
          <p:cNvPr id="12" name="Text 9"/>
          <p:cNvSpPr txBox="1"/>
          <p:nvPr/>
        </p:nvSpPr>
        <p:spPr>
          <a:xfrm>
            <a:off x="1133856" y="2935224"/>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Problématique</a:t>
            </a:r>
            <a:endParaRPr lang="en-US" sz="1450" dirty="0"/>
          </a:p>
        </p:txBody>
      </p:sp>
      <p:sp>
        <p:nvSpPr>
          <p:cNvPr id="13" name="Shape 10"/>
          <p:cNvSpPr/>
          <p:nvPr/>
        </p:nvSpPr>
        <p:spPr>
          <a:xfrm>
            <a:off x="6053328" y="2843784"/>
            <a:ext cx="457200" cy="457200"/>
          </a:xfrm>
          <a:prstGeom prst="ellipse">
            <a:avLst/>
          </a:prstGeom>
          <a:solidFill>
            <a:srgbClr val="17B8A6"/>
          </a:solidFill>
          <a:ln/>
        </p:spPr>
      </p:sp>
      <p:pic>
        <p:nvPicPr>
          <p:cNvPr id="14" name="Image 1" descr="C:\Users\yosrk\AppData\Local\Temp\claude\c--Users-yosrk-OneDrive-Bureau-RHpfe-Antigone-RH\f59fd8f1-a1b7-4e96-84d6-6d2a4296fa99\scratchpad\pfe-soutenance\icons\search.png">    </p:cNvPr>
          <p:cNvPicPr>
            <a:picLocks noChangeAspect="1"/>
          </p:cNvPicPr>
          <p:nvPr/>
        </p:nvPicPr>
        <p:blipFill>
          <a:blip r:embed="rId2"/>
          <a:stretch>
            <a:fillRect/>
          </a:stretch>
        </p:blipFill>
        <p:spPr>
          <a:xfrm>
            <a:off x="6117336" y="2907792"/>
            <a:ext cx="329184" cy="329184"/>
          </a:xfrm>
          <a:prstGeom prst="rect">
            <a:avLst/>
          </a:prstGeom>
        </p:spPr>
      </p:pic>
      <p:sp>
        <p:nvSpPr>
          <p:cNvPr id="15" name="Text 11"/>
          <p:cNvSpPr txBox="1"/>
          <p:nvPr/>
        </p:nvSpPr>
        <p:spPr>
          <a:xfrm>
            <a:off x="6620256" y="2734056"/>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03</a:t>
            </a:r>
            <a:endParaRPr lang="en-US" sz="1200" dirty="0"/>
          </a:p>
        </p:txBody>
      </p:sp>
      <p:sp>
        <p:nvSpPr>
          <p:cNvPr id="16" name="Text 12"/>
          <p:cNvSpPr txBox="1"/>
          <p:nvPr/>
        </p:nvSpPr>
        <p:spPr>
          <a:xfrm>
            <a:off x="6620256" y="2935224"/>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Étude de l’existant</a:t>
            </a:r>
            <a:endParaRPr lang="en-US" sz="1450" dirty="0"/>
          </a:p>
        </p:txBody>
      </p:sp>
      <p:sp>
        <p:nvSpPr>
          <p:cNvPr id="17" name="Shape 13"/>
          <p:cNvSpPr/>
          <p:nvPr/>
        </p:nvSpPr>
        <p:spPr>
          <a:xfrm>
            <a:off x="566928" y="3776472"/>
            <a:ext cx="457200" cy="457200"/>
          </a:xfrm>
          <a:prstGeom prst="ellipse">
            <a:avLst/>
          </a:prstGeom>
          <a:solidFill>
            <a:srgbClr val="141B3C"/>
          </a:solidFill>
          <a:ln/>
        </p:spPr>
      </p:sp>
      <p:pic>
        <p:nvPicPr>
          <p:cNvPr id="18" name="Image 2" descr="C:\Users\yosrk\AppData\Local\Temp\claude\c--Users-yosrk-OneDrive-Bureau-RHpfe-Antigone-RH\f59fd8f1-a1b7-4e96-84d6-6d2a4296fa99\scratchpad\pfe-soutenance\icons\lightbulb.png">    </p:cNvPr>
          <p:cNvPicPr>
            <a:picLocks noChangeAspect="1"/>
          </p:cNvPicPr>
          <p:nvPr/>
        </p:nvPicPr>
        <p:blipFill>
          <a:blip r:embed="rId3"/>
          <a:stretch>
            <a:fillRect/>
          </a:stretch>
        </p:blipFill>
        <p:spPr>
          <a:xfrm>
            <a:off x="630936" y="3840480"/>
            <a:ext cx="329184" cy="329184"/>
          </a:xfrm>
          <a:prstGeom prst="rect">
            <a:avLst/>
          </a:prstGeom>
        </p:spPr>
      </p:pic>
      <p:sp>
        <p:nvSpPr>
          <p:cNvPr id="19" name="Text 14"/>
          <p:cNvSpPr txBox="1"/>
          <p:nvPr/>
        </p:nvSpPr>
        <p:spPr>
          <a:xfrm>
            <a:off x="1133856" y="3666744"/>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04</a:t>
            </a:r>
            <a:endParaRPr lang="en-US" sz="1200" dirty="0"/>
          </a:p>
        </p:txBody>
      </p:sp>
      <p:sp>
        <p:nvSpPr>
          <p:cNvPr id="20" name="Text 15"/>
          <p:cNvSpPr txBox="1"/>
          <p:nvPr/>
        </p:nvSpPr>
        <p:spPr>
          <a:xfrm>
            <a:off x="1133856" y="3867912"/>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Solution proposée</a:t>
            </a:r>
            <a:endParaRPr lang="en-US" sz="1450" dirty="0"/>
          </a:p>
        </p:txBody>
      </p:sp>
      <p:sp>
        <p:nvSpPr>
          <p:cNvPr id="21" name="Shape 16"/>
          <p:cNvSpPr/>
          <p:nvPr/>
        </p:nvSpPr>
        <p:spPr>
          <a:xfrm>
            <a:off x="6053328" y="3776472"/>
            <a:ext cx="457200" cy="457200"/>
          </a:xfrm>
          <a:prstGeom prst="ellipse">
            <a:avLst/>
          </a:prstGeom>
          <a:solidFill>
            <a:srgbClr val="17B8A6"/>
          </a:solidFill>
          <a:ln/>
        </p:spPr>
      </p:sp>
      <p:pic>
        <p:nvPicPr>
          <p:cNvPr id="22" name="Image 3" descr="C:\Users\yosrk\AppData\Local\Temp\claude\c--Users-yosrk-OneDrive-Bureau-RHpfe-Antigone-RH\f59fd8f1-a1b7-4e96-84d6-6d2a4296fa99\scratchpad\pfe-soutenance\icons\sync.png">    </p:cNvPr>
          <p:cNvPicPr>
            <a:picLocks noChangeAspect="1"/>
          </p:cNvPicPr>
          <p:nvPr/>
        </p:nvPicPr>
        <p:blipFill>
          <a:blip r:embed="rId4"/>
          <a:stretch>
            <a:fillRect/>
          </a:stretch>
        </p:blipFill>
        <p:spPr>
          <a:xfrm>
            <a:off x="6117336" y="3840480"/>
            <a:ext cx="329184" cy="329184"/>
          </a:xfrm>
          <a:prstGeom prst="rect">
            <a:avLst/>
          </a:prstGeom>
        </p:spPr>
      </p:pic>
      <p:sp>
        <p:nvSpPr>
          <p:cNvPr id="23" name="Text 17"/>
          <p:cNvSpPr txBox="1"/>
          <p:nvPr/>
        </p:nvSpPr>
        <p:spPr>
          <a:xfrm>
            <a:off x="6620256" y="3666744"/>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05</a:t>
            </a:r>
            <a:endParaRPr lang="en-US" sz="1200" dirty="0"/>
          </a:p>
        </p:txBody>
      </p:sp>
      <p:sp>
        <p:nvSpPr>
          <p:cNvPr id="24" name="Text 18"/>
          <p:cNvSpPr txBox="1"/>
          <p:nvPr/>
        </p:nvSpPr>
        <p:spPr>
          <a:xfrm>
            <a:off x="6620256" y="3867912"/>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Méthodologie adoptée</a:t>
            </a:r>
            <a:endParaRPr lang="en-US" sz="1450" dirty="0"/>
          </a:p>
        </p:txBody>
      </p:sp>
      <p:sp>
        <p:nvSpPr>
          <p:cNvPr id="25" name="Shape 19"/>
          <p:cNvSpPr/>
          <p:nvPr/>
        </p:nvSpPr>
        <p:spPr>
          <a:xfrm>
            <a:off x="566928" y="4709160"/>
            <a:ext cx="457200" cy="457200"/>
          </a:xfrm>
          <a:prstGeom prst="ellipse">
            <a:avLst/>
          </a:prstGeom>
          <a:solidFill>
            <a:srgbClr val="141B3C"/>
          </a:solidFill>
          <a:ln/>
        </p:spPr>
      </p:sp>
      <p:pic>
        <p:nvPicPr>
          <p:cNvPr id="26" name="Image 4" descr="C:\Users\yosrk\AppData\Local\Temp\claude\c--Users-yosrk-OneDrive-Bureau-RHpfe-Antigone-RH\f59fd8f1-a1b7-4e96-84d6-6d2a4296fa99\scratchpad\pfe-soutenance\icons\listcheck.png">    </p:cNvPr>
          <p:cNvPicPr>
            <a:picLocks noChangeAspect="1"/>
          </p:cNvPicPr>
          <p:nvPr/>
        </p:nvPicPr>
        <p:blipFill>
          <a:blip r:embed="rId5"/>
          <a:stretch>
            <a:fillRect/>
          </a:stretch>
        </p:blipFill>
        <p:spPr>
          <a:xfrm>
            <a:off x="630936" y="4773168"/>
            <a:ext cx="329184" cy="329184"/>
          </a:xfrm>
          <a:prstGeom prst="rect">
            <a:avLst/>
          </a:prstGeom>
        </p:spPr>
      </p:pic>
      <p:sp>
        <p:nvSpPr>
          <p:cNvPr id="27" name="Text 20"/>
          <p:cNvSpPr txBox="1"/>
          <p:nvPr/>
        </p:nvSpPr>
        <p:spPr>
          <a:xfrm>
            <a:off x="1133856" y="4599432"/>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06</a:t>
            </a:r>
            <a:endParaRPr lang="en-US" sz="1200" dirty="0"/>
          </a:p>
        </p:txBody>
      </p:sp>
      <p:sp>
        <p:nvSpPr>
          <p:cNvPr id="28" name="Text 21"/>
          <p:cNvSpPr txBox="1"/>
          <p:nvPr/>
        </p:nvSpPr>
        <p:spPr>
          <a:xfrm>
            <a:off x="1133856" y="4800600"/>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Spécification des besoins</a:t>
            </a:r>
            <a:endParaRPr lang="en-US" sz="1450" dirty="0"/>
          </a:p>
        </p:txBody>
      </p:sp>
      <p:sp>
        <p:nvSpPr>
          <p:cNvPr id="29" name="Shape 22"/>
          <p:cNvSpPr/>
          <p:nvPr/>
        </p:nvSpPr>
        <p:spPr>
          <a:xfrm>
            <a:off x="6053328" y="4709160"/>
            <a:ext cx="457200" cy="457200"/>
          </a:xfrm>
          <a:prstGeom prst="ellipse">
            <a:avLst/>
          </a:prstGeom>
          <a:solidFill>
            <a:srgbClr val="17B8A6"/>
          </a:solidFill>
          <a:ln/>
        </p:spPr>
      </p:sp>
      <p:pic>
        <p:nvPicPr>
          <p:cNvPr id="30" name="Image 5" descr="C:\Users\yosrk\AppData\Local\Temp\claude\c--Users-yosrk-OneDrive-Bureau-RHpfe-Antigone-RH\f59fd8f1-a1b7-4e96-84d6-6d2a4296fa99\scratchpad\pfe-soutenance\icons\cubes.png">    </p:cNvPr>
          <p:cNvPicPr>
            <a:picLocks noChangeAspect="1"/>
          </p:cNvPicPr>
          <p:nvPr/>
        </p:nvPicPr>
        <p:blipFill>
          <a:blip r:embed="rId6"/>
          <a:stretch>
            <a:fillRect/>
          </a:stretch>
        </p:blipFill>
        <p:spPr>
          <a:xfrm>
            <a:off x="6117336" y="4773168"/>
            <a:ext cx="329184" cy="329184"/>
          </a:xfrm>
          <a:prstGeom prst="rect">
            <a:avLst/>
          </a:prstGeom>
        </p:spPr>
      </p:pic>
      <p:sp>
        <p:nvSpPr>
          <p:cNvPr id="31" name="Text 23"/>
          <p:cNvSpPr txBox="1"/>
          <p:nvPr/>
        </p:nvSpPr>
        <p:spPr>
          <a:xfrm>
            <a:off x="6620256" y="4599432"/>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07</a:t>
            </a:r>
            <a:endParaRPr lang="en-US" sz="1200" dirty="0"/>
          </a:p>
        </p:txBody>
      </p:sp>
      <p:sp>
        <p:nvSpPr>
          <p:cNvPr id="32" name="Text 24"/>
          <p:cNvSpPr txBox="1"/>
          <p:nvPr/>
        </p:nvSpPr>
        <p:spPr>
          <a:xfrm>
            <a:off x="6620256" y="4800600"/>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Conception</a:t>
            </a:r>
            <a:endParaRPr lang="en-US" sz="1450" dirty="0"/>
          </a:p>
        </p:txBody>
      </p:sp>
      <p:sp>
        <p:nvSpPr>
          <p:cNvPr id="33" name="Shape 25"/>
          <p:cNvSpPr/>
          <p:nvPr/>
        </p:nvSpPr>
        <p:spPr>
          <a:xfrm>
            <a:off x="566928" y="5641848"/>
            <a:ext cx="457200" cy="457200"/>
          </a:xfrm>
          <a:prstGeom prst="ellipse">
            <a:avLst/>
          </a:prstGeom>
          <a:solidFill>
            <a:srgbClr val="141B3C"/>
          </a:solidFill>
          <a:ln/>
        </p:spPr>
      </p:sp>
      <p:pic>
        <p:nvPicPr>
          <p:cNvPr id="34" name="Image 6" descr="C:\Users\yosrk\AppData\Local\Temp\claude\c--Users-yosrk-OneDrive-Bureau-RHpfe-Antigone-RH\f59fd8f1-a1b7-4e96-84d6-6d2a4296fa99\scratchpad\pfe-soutenance\icons\code.png">    </p:cNvPr>
          <p:cNvPicPr>
            <a:picLocks noChangeAspect="1"/>
          </p:cNvPicPr>
          <p:nvPr/>
        </p:nvPicPr>
        <p:blipFill>
          <a:blip r:embed="rId7"/>
          <a:stretch>
            <a:fillRect/>
          </a:stretch>
        </p:blipFill>
        <p:spPr>
          <a:xfrm>
            <a:off x="630936" y="5705856"/>
            <a:ext cx="329184" cy="329184"/>
          </a:xfrm>
          <a:prstGeom prst="rect">
            <a:avLst/>
          </a:prstGeom>
        </p:spPr>
      </p:pic>
      <p:sp>
        <p:nvSpPr>
          <p:cNvPr id="35" name="Text 26"/>
          <p:cNvSpPr txBox="1"/>
          <p:nvPr/>
        </p:nvSpPr>
        <p:spPr>
          <a:xfrm>
            <a:off x="1133856" y="5532120"/>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08</a:t>
            </a:r>
            <a:endParaRPr lang="en-US" sz="1200" dirty="0"/>
          </a:p>
        </p:txBody>
      </p:sp>
      <p:sp>
        <p:nvSpPr>
          <p:cNvPr id="36" name="Text 27"/>
          <p:cNvSpPr txBox="1"/>
          <p:nvPr/>
        </p:nvSpPr>
        <p:spPr>
          <a:xfrm>
            <a:off x="1133856" y="5733288"/>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Réalisation</a:t>
            </a:r>
            <a:endParaRPr lang="en-US" sz="1450" dirty="0"/>
          </a:p>
        </p:txBody>
      </p:sp>
      <p:sp>
        <p:nvSpPr>
          <p:cNvPr id="37" name="Shape 28"/>
          <p:cNvSpPr/>
          <p:nvPr/>
        </p:nvSpPr>
        <p:spPr>
          <a:xfrm>
            <a:off x="6053328" y="5641848"/>
            <a:ext cx="457200" cy="457200"/>
          </a:xfrm>
          <a:prstGeom prst="ellipse">
            <a:avLst/>
          </a:prstGeom>
          <a:solidFill>
            <a:srgbClr val="17B8A6"/>
          </a:solidFill>
          <a:ln/>
        </p:spPr>
      </p:sp>
      <p:pic>
        <p:nvPicPr>
          <p:cNvPr id="38" name="Image 7" descr="C:\Users\yosrk\AppData\Local\Temp\claude\c--Users-yosrk-OneDrive-Bureau-RHpfe-Antigone-RH\f59fd8f1-a1b7-4e96-84d6-6d2a4296fa99\scratchpad\pfe-soutenance\icons\rocket.png">    </p:cNvPr>
          <p:cNvPicPr>
            <a:picLocks noChangeAspect="1"/>
          </p:cNvPicPr>
          <p:nvPr/>
        </p:nvPicPr>
        <p:blipFill>
          <a:blip r:embed="rId8"/>
          <a:stretch>
            <a:fillRect/>
          </a:stretch>
        </p:blipFill>
        <p:spPr>
          <a:xfrm>
            <a:off x="6117336" y="5705856"/>
            <a:ext cx="329184" cy="329184"/>
          </a:xfrm>
          <a:prstGeom prst="rect">
            <a:avLst/>
          </a:prstGeom>
        </p:spPr>
      </p:pic>
      <p:sp>
        <p:nvSpPr>
          <p:cNvPr id="39" name="Text 29"/>
          <p:cNvSpPr txBox="1"/>
          <p:nvPr/>
        </p:nvSpPr>
        <p:spPr>
          <a:xfrm>
            <a:off x="6620256" y="5532120"/>
            <a:ext cx="548640" cy="274320"/>
          </a:xfrm>
          <a:prstGeom prst="rect">
            <a:avLst/>
          </a:prstGeom>
          <a:noFill/>
          <a:ln/>
        </p:spPr>
        <p:txBody>
          <a:bodyPr wrap="square" lIns="0" tIns="0" rIns="0" bIns="0" rtlCol="0" anchor="ctr"/>
          <a:lstStyle/>
          <a:p>
            <a:pPr indent="0" marL="0">
              <a:buNone/>
            </a:pPr>
            <a:r>
              <a:rPr lang="en-US" sz="1200" b="1" dirty="0">
                <a:solidFill>
                  <a:srgbClr val="E3E7F3"/>
                </a:solidFill>
                <a:latin typeface="Cambria" pitchFamily="34" charset="0"/>
                <a:ea typeface="Cambria" pitchFamily="34" charset="-122"/>
                <a:cs typeface="Cambria" pitchFamily="34" charset="-120"/>
              </a:rPr>
              <a:t>09</a:t>
            </a:r>
            <a:endParaRPr lang="en-US" sz="1200" dirty="0"/>
          </a:p>
        </p:txBody>
      </p:sp>
      <p:sp>
        <p:nvSpPr>
          <p:cNvPr id="40" name="Text 30"/>
          <p:cNvSpPr txBox="1"/>
          <p:nvPr/>
        </p:nvSpPr>
        <p:spPr>
          <a:xfrm>
            <a:off x="6620256" y="5733288"/>
            <a:ext cx="4846320" cy="457200"/>
          </a:xfrm>
          <a:prstGeom prst="rect">
            <a:avLst/>
          </a:prstGeom>
          <a:noFill/>
          <a:ln/>
        </p:spPr>
        <p:txBody>
          <a:bodyPr wrap="square" lIns="0" tIns="0" rIns="0" bIns="0" rtlCol="0" anchor="ctr"/>
          <a:lstStyle/>
          <a:p>
            <a:pPr indent="0" marL="0">
              <a:buNone/>
            </a:pPr>
            <a:r>
              <a:rPr lang="en-US" sz="1450" b="1" dirty="0">
                <a:solidFill>
                  <a:srgbClr val="141B3C"/>
                </a:solidFill>
                <a:latin typeface="Calibri" pitchFamily="34" charset="0"/>
                <a:ea typeface="Calibri" pitchFamily="34" charset="-122"/>
                <a:cs typeface="Calibri" pitchFamily="34" charset="-120"/>
              </a:rPr>
              <a:t>Conclusion &amp; perspectives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02</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01 · INTRODUCTION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Une agence créative confrontée à sa propre croissance</a:t>
            </a:r>
            <a:endParaRPr lang="en-US" sz="3000" dirty="0"/>
          </a:p>
        </p:txBody>
      </p:sp>
      <p:sp>
        <p:nvSpPr>
          <p:cNvPr id="6" name="Text 4"/>
          <p:cNvSpPr txBox="1"/>
          <p:nvPr/>
        </p:nvSpPr>
        <p:spPr>
          <a:xfrm>
            <a:off x="566928" y="1691640"/>
            <a:ext cx="6263640" cy="4480560"/>
          </a:xfrm>
          <a:prstGeom prst="rect">
            <a:avLst/>
          </a:prstGeom>
          <a:noFill/>
          <a:ln/>
        </p:spPr>
        <p:txBody>
          <a:bodyPr wrap="square" lIns="0" tIns="0" rIns="0" bIns="0" rtlCol="0" anchor="ctr"/>
          <a:lstStyle/>
          <a:p>
            <a:pPr marL="177800" indent="-177800">
              <a:lnSpc>
                <a:spcPct val="128000"/>
              </a:lnSpc>
              <a:spcAft>
                <a:spcPts val="1400"/>
              </a:spcAft>
              <a:buSzPct val="100000"/>
              <a:buChar char="•"/>
            </a:pPr>
            <a:r>
              <a:rPr lang="en-US" sz="1450" dirty="0">
                <a:solidFill>
                  <a:srgbClr val="3A3F5C"/>
                </a:solidFill>
                <a:latin typeface="Calibri" pitchFamily="34" charset="0"/>
                <a:ea typeface="Calibri" pitchFamily="34" charset="-122"/>
                <a:cs typeface="Calibri" pitchFamily="34" charset="-120"/>
              </a:rPr>
              <a:t>Antigone : agence tunisienne de communication et de marketing, gérant en parallèle plusieurs projets clients, des plans médias et une équipe pluridisciplinaire.</a:t>
            </a:r>
            <a:endParaRPr lang="en-US" sz="1450" dirty="0"/>
          </a:p>
          <a:p>
            <a:pPr marL="177800" indent="-177800">
              <a:lnSpc>
                <a:spcPct val="128000"/>
              </a:lnSpc>
              <a:spcAft>
                <a:spcPts val="1400"/>
              </a:spcAft>
              <a:buSzPct val="100000"/>
              <a:buChar char="•"/>
            </a:pPr>
            <a:r>
              <a:rPr lang="en-US" sz="1450" dirty="0">
                <a:solidFill>
                  <a:srgbClr val="3A3F5C"/>
                </a:solidFill>
                <a:latin typeface="Calibri" pitchFamily="34" charset="0"/>
                <a:ea typeface="Calibri" pitchFamily="34" charset="-122"/>
                <a:cs typeface="Calibri" pitchFamily="34" charset="-120"/>
              </a:rPr>
              <a:t>Jusqu’ici : une mosaïque d’outils non reliés — fichiers partagés pour les congés et la paie, échanges informels pour le suivi de projet.</a:t>
            </a:r>
            <a:endParaRPr lang="en-US" sz="1450" dirty="0"/>
          </a:p>
          <a:p>
            <a:pPr marL="177800" indent="-177800">
              <a:lnSpc>
                <a:spcPct val="128000"/>
              </a:lnSpc>
              <a:spcAft>
                <a:spcPts val="1400"/>
              </a:spcAft>
              <a:buSzPct val="100000"/>
              <a:buChar char="•"/>
            </a:pPr>
            <a:r>
              <a:rPr lang="en-US" sz="1450" dirty="0">
                <a:solidFill>
                  <a:srgbClr val="3A3F5C"/>
                </a:solidFill>
                <a:latin typeface="Calibri" pitchFamily="34" charset="0"/>
                <a:ea typeface="Calibri" pitchFamily="34" charset="-122"/>
                <a:cs typeface="Calibri" pitchFamily="34" charset="-120"/>
              </a:rPr>
              <a:t>Aucun espace dédié ne permettait aux clients de suivre l’avancement de leurs propres dossiers.</a:t>
            </a:r>
            <a:endParaRPr lang="en-US" sz="1450" dirty="0"/>
          </a:p>
          <a:p>
            <a:pPr marL="177800" indent="-177800">
              <a:lnSpc>
                <a:spcPct val="128000"/>
              </a:lnSpc>
              <a:spcAft>
                <a:spcPts val="1400"/>
              </a:spcAft>
              <a:buSzPct val="100000"/>
              <a:buChar char="•"/>
            </a:pPr>
            <a:r>
              <a:rPr lang="en-US" sz="1450" dirty="0">
                <a:solidFill>
                  <a:srgbClr val="3A3F5C"/>
                </a:solidFill>
                <a:latin typeface="Calibri" pitchFamily="34" charset="0"/>
                <a:ea typeface="Calibri" pitchFamily="34" charset="-122"/>
                <a:cs typeface="Calibri" pitchFamily="34" charset="-120"/>
              </a:rPr>
              <a:t>PFE réalisé en solo sur 6 mois (février – juillet 2026), en vue du diplôme d’ingénieur informatique à l’École ESPRIT.</a:t>
            </a:r>
            <a:endParaRPr lang="en-US" sz="1450" dirty="0"/>
          </a:p>
          <a:p>
            <a:pPr marL="177800" indent="-177800">
              <a:lnSpc>
                <a:spcPct val="128000"/>
              </a:lnSpc>
              <a:spcAft>
                <a:spcPts val="1400"/>
              </a:spcAft>
              <a:buSzPct val="100000"/>
              <a:buChar char="•"/>
            </a:pPr>
            <a:r>
              <a:rPr lang="en-US" sz="1450" dirty="0">
                <a:solidFill>
                  <a:srgbClr val="3A3F5C"/>
                </a:solidFill>
                <a:latin typeface="Calibri" pitchFamily="34" charset="0"/>
                <a:ea typeface="Calibri" pitchFamily="34" charset="-122"/>
                <a:cs typeface="Calibri" pitchFamily="34" charset="-120"/>
              </a:rPr>
              <a:t>Mission confiée : concevoir et développer une plateforme intégrée pour la gestion RH, projets et finances de l’agence.</a:t>
            </a:r>
            <a:endParaRPr lang="en-US" sz="1450" dirty="0"/>
          </a:p>
        </p:txBody>
      </p:sp>
      <p:sp>
        <p:nvSpPr>
          <p:cNvPr id="7" name="Shape 5"/>
          <p:cNvSpPr/>
          <p:nvPr/>
        </p:nvSpPr>
        <p:spPr>
          <a:xfrm>
            <a:off x="7315200" y="1691640"/>
            <a:ext cx="4297680" cy="1051560"/>
          </a:xfrm>
          <a:prstGeom prst="roundRect">
            <a:avLst>
              <a:gd name="adj" fmla="val 695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8" name="Text 6"/>
          <p:cNvSpPr txBox="1"/>
          <p:nvPr/>
        </p:nvSpPr>
        <p:spPr>
          <a:xfrm>
            <a:off x="7543800" y="1801368"/>
            <a:ext cx="1188720" cy="822960"/>
          </a:xfrm>
          <a:prstGeom prst="rect">
            <a:avLst/>
          </a:prstGeom>
          <a:noFill/>
          <a:ln/>
        </p:spPr>
        <p:txBody>
          <a:bodyPr wrap="square" lIns="0" tIns="0" rIns="0" bIns="0" rtlCol="0" anchor="ctr"/>
          <a:lstStyle/>
          <a:p>
            <a:pPr indent="0" marL="0">
              <a:buNone/>
            </a:pPr>
            <a:r>
              <a:rPr lang="en-US" sz="3400" b="1" dirty="0">
                <a:solidFill>
                  <a:srgbClr val="FF6B4A"/>
                </a:solidFill>
                <a:latin typeface="Cambria" pitchFamily="34" charset="0"/>
                <a:ea typeface="Cambria" pitchFamily="34" charset="-122"/>
                <a:cs typeface="Cambria" pitchFamily="34" charset="-120"/>
              </a:rPr>
              <a:t>6</a:t>
            </a:r>
            <a:endParaRPr lang="en-US" sz="3400" dirty="0"/>
          </a:p>
        </p:txBody>
      </p:sp>
      <p:sp>
        <p:nvSpPr>
          <p:cNvPr id="9" name="Text 7"/>
          <p:cNvSpPr txBox="1"/>
          <p:nvPr/>
        </p:nvSpPr>
        <p:spPr>
          <a:xfrm>
            <a:off x="8686800" y="1691640"/>
            <a:ext cx="2743200" cy="1051560"/>
          </a:xfrm>
          <a:prstGeom prst="rect">
            <a:avLst/>
          </a:prstGeom>
          <a:noFill/>
          <a:ln/>
        </p:spPr>
        <p:txBody>
          <a:bodyPr wrap="square" lIns="0" tIns="0" rIns="0" bIns="0" rtlCol="0" anchor="ctr"/>
          <a:lstStyle/>
          <a:p>
            <a:pPr indent="0" marL="0">
              <a:buNone/>
            </a:pPr>
            <a:r>
              <a:rPr lang="en-US" sz="1300" b="1" dirty="0">
                <a:solidFill>
                  <a:srgbClr val="141B3C"/>
                </a:solidFill>
                <a:latin typeface="Calibri" pitchFamily="34" charset="0"/>
                <a:ea typeface="Calibri" pitchFamily="34" charset="-122"/>
                <a:cs typeface="Calibri" pitchFamily="34" charset="-120"/>
              </a:rPr>
              <a:t>mois de développement</a:t>
            </a:r>
            <a:endParaRPr lang="en-US" sz="1300" dirty="0"/>
          </a:p>
        </p:txBody>
      </p:sp>
      <p:sp>
        <p:nvSpPr>
          <p:cNvPr id="10" name="Shape 8"/>
          <p:cNvSpPr/>
          <p:nvPr/>
        </p:nvSpPr>
        <p:spPr>
          <a:xfrm>
            <a:off x="7315200" y="2907792"/>
            <a:ext cx="4297680" cy="1051560"/>
          </a:xfrm>
          <a:prstGeom prst="roundRect">
            <a:avLst>
              <a:gd name="adj" fmla="val 695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1" name="Text 9"/>
          <p:cNvSpPr txBox="1"/>
          <p:nvPr/>
        </p:nvSpPr>
        <p:spPr>
          <a:xfrm>
            <a:off x="7543800" y="3017520"/>
            <a:ext cx="1188720" cy="822960"/>
          </a:xfrm>
          <a:prstGeom prst="rect">
            <a:avLst/>
          </a:prstGeom>
          <a:noFill/>
          <a:ln/>
        </p:spPr>
        <p:txBody>
          <a:bodyPr wrap="square" lIns="0" tIns="0" rIns="0" bIns="0" rtlCol="0" anchor="ctr"/>
          <a:lstStyle/>
          <a:p>
            <a:pPr indent="0" marL="0">
              <a:buNone/>
            </a:pPr>
            <a:r>
              <a:rPr lang="en-US" sz="3400" b="1" dirty="0">
                <a:solidFill>
                  <a:srgbClr val="FF6B4A"/>
                </a:solidFill>
                <a:latin typeface="Cambria" pitchFamily="34" charset="0"/>
                <a:ea typeface="Cambria" pitchFamily="34" charset="-122"/>
                <a:cs typeface="Cambria" pitchFamily="34" charset="-120"/>
              </a:rPr>
              <a:t>1</a:t>
            </a:r>
            <a:endParaRPr lang="en-US" sz="3400" dirty="0"/>
          </a:p>
        </p:txBody>
      </p:sp>
      <p:sp>
        <p:nvSpPr>
          <p:cNvPr id="12" name="Text 10"/>
          <p:cNvSpPr txBox="1"/>
          <p:nvPr/>
        </p:nvSpPr>
        <p:spPr>
          <a:xfrm>
            <a:off x="8686800" y="2907792"/>
            <a:ext cx="2743200" cy="1051560"/>
          </a:xfrm>
          <a:prstGeom prst="rect">
            <a:avLst/>
          </a:prstGeom>
          <a:noFill/>
          <a:ln/>
        </p:spPr>
        <p:txBody>
          <a:bodyPr wrap="square" lIns="0" tIns="0" rIns="0" bIns="0" rtlCol="0" anchor="ctr"/>
          <a:lstStyle/>
          <a:p>
            <a:pPr indent="0" marL="0">
              <a:buNone/>
            </a:pPr>
            <a:r>
              <a:rPr lang="en-US" sz="1300" b="1" dirty="0">
                <a:solidFill>
                  <a:srgbClr val="141B3C"/>
                </a:solidFill>
                <a:latin typeface="Calibri" pitchFamily="34" charset="0"/>
                <a:ea typeface="Calibri" pitchFamily="34" charset="-122"/>
                <a:cs typeface="Calibri" pitchFamily="34" charset="-120"/>
              </a:rPr>
              <a:t>développeur — projet solo</a:t>
            </a:r>
            <a:endParaRPr lang="en-US" sz="1300" dirty="0"/>
          </a:p>
        </p:txBody>
      </p:sp>
      <p:sp>
        <p:nvSpPr>
          <p:cNvPr id="13" name="Shape 11"/>
          <p:cNvSpPr/>
          <p:nvPr/>
        </p:nvSpPr>
        <p:spPr>
          <a:xfrm>
            <a:off x="7315200" y="4123944"/>
            <a:ext cx="4297680" cy="1051560"/>
          </a:xfrm>
          <a:prstGeom prst="roundRect">
            <a:avLst>
              <a:gd name="adj" fmla="val 695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4" name="Text 12"/>
          <p:cNvSpPr txBox="1"/>
          <p:nvPr/>
        </p:nvSpPr>
        <p:spPr>
          <a:xfrm>
            <a:off x="7543800" y="4233672"/>
            <a:ext cx="1188720" cy="822960"/>
          </a:xfrm>
          <a:prstGeom prst="rect">
            <a:avLst/>
          </a:prstGeom>
          <a:noFill/>
          <a:ln/>
        </p:spPr>
        <p:txBody>
          <a:bodyPr wrap="square" lIns="0" tIns="0" rIns="0" bIns="0" rtlCol="0" anchor="ctr"/>
          <a:lstStyle/>
          <a:p>
            <a:pPr indent="0" marL="0">
              <a:buNone/>
            </a:pPr>
            <a:r>
              <a:rPr lang="en-US" sz="3400" b="1" dirty="0">
                <a:solidFill>
                  <a:srgbClr val="FF6B4A"/>
                </a:solidFill>
                <a:latin typeface="Cambria" pitchFamily="34" charset="0"/>
                <a:ea typeface="Cambria" pitchFamily="34" charset="-122"/>
                <a:cs typeface="Cambria" pitchFamily="34" charset="-120"/>
              </a:rPr>
              <a:t>4</a:t>
            </a:r>
            <a:endParaRPr lang="en-US" sz="3400" dirty="0"/>
          </a:p>
        </p:txBody>
      </p:sp>
      <p:sp>
        <p:nvSpPr>
          <p:cNvPr id="15" name="Text 13"/>
          <p:cNvSpPr txBox="1"/>
          <p:nvPr/>
        </p:nvSpPr>
        <p:spPr>
          <a:xfrm>
            <a:off x="8686800" y="4123944"/>
            <a:ext cx="2743200" cy="1051560"/>
          </a:xfrm>
          <a:prstGeom prst="rect">
            <a:avLst/>
          </a:prstGeom>
          <a:noFill/>
          <a:ln/>
        </p:spPr>
        <p:txBody>
          <a:bodyPr wrap="square" lIns="0" tIns="0" rIns="0" bIns="0" rtlCol="0" anchor="ctr"/>
          <a:lstStyle/>
          <a:p>
            <a:pPr indent="0" marL="0">
              <a:buNone/>
            </a:pPr>
            <a:r>
              <a:rPr lang="en-US" sz="1300" b="1" dirty="0">
                <a:solidFill>
                  <a:srgbClr val="141B3C"/>
                </a:solidFill>
                <a:latin typeface="Calibri" pitchFamily="34" charset="0"/>
                <a:ea typeface="Calibri" pitchFamily="34" charset="-122"/>
                <a:cs typeface="Calibri" pitchFamily="34" charset="-120"/>
              </a:rPr>
              <a:t>modules métier intégrés</a:t>
            </a:r>
            <a:endParaRPr lang="en-US" sz="1300" dirty="0"/>
          </a:p>
        </p:txBody>
      </p:sp>
      <p:sp>
        <p:nvSpPr>
          <p:cNvPr id="16" name="Shape 14"/>
          <p:cNvSpPr/>
          <p:nvPr/>
        </p:nvSpPr>
        <p:spPr>
          <a:xfrm>
            <a:off x="7315200" y="5340096"/>
            <a:ext cx="4297680" cy="1051560"/>
          </a:xfrm>
          <a:prstGeom prst="roundRect">
            <a:avLst>
              <a:gd name="adj" fmla="val 695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7" name="Text 15"/>
          <p:cNvSpPr txBox="1"/>
          <p:nvPr/>
        </p:nvSpPr>
        <p:spPr>
          <a:xfrm>
            <a:off x="7543800" y="5449824"/>
            <a:ext cx="1188720" cy="822960"/>
          </a:xfrm>
          <a:prstGeom prst="rect">
            <a:avLst/>
          </a:prstGeom>
          <a:noFill/>
          <a:ln/>
        </p:spPr>
        <p:txBody>
          <a:bodyPr wrap="square" lIns="0" tIns="0" rIns="0" bIns="0" rtlCol="0" anchor="ctr"/>
          <a:lstStyle/>
          <a:p>
            <a:pPr indent="0" marL="0">
              <a:buNone/>
            </a:pPr>
            <a:r>
              <a:rPr lang="en-US" sz="3400" b="1" dirty="0">
                <a:solidFill>
                  <a:srgbClr val="FF6B4A"/>
                </a:solidFill>
                <a:latin typeface="Cambria" pitchFamily="34" charset="0"/>
                <a:ea typeface="Cambria" pitchFamily="34" charset="-122"/>
                <a:cs typeface="Cambria" pitchFamily="34" charset="-120"/>
              </a:rPr>
              <a:t>1</a:t>
            </a:r>
            <a:endParaRPr lang="en-US" sz="3400" dirty="0"/>
          </a:p>
        </p:txBody>
      </p:sp>
      <p:sp>
        <p:nvSpPr>
          <p:cNvPr id="18" name="Text 16"/>
          <p:cNvSpPr txBox="1"/>
          <p:nvPr/>
        </p:nvSpPr>
        <p:spPr>
          <a:xfrm>
            <a:off x="8686800" y="5340096"/>
            <a:ext cx="2743200" cy="1051560"/>
          </a:xfrm>
          <a:prstGeom prst="rect">
            <a:avLst/>
          </a:prstGeom>
          <a:noFill/>
          <a:ln/>
        </p:spPr>
        <p:txBody>
          <a:bodyPr wrap="square" lIns="0" tIns="0" rIns="0" bIns="0" rtlCol="0" anchor="ctr"/>
          <a:lstStyle/>
          <a:p>
            <a:pPr indent="0" marL="0">
              <a:buNone/>
            </a:pPr>
            <a:r>
              <a:rPr lang="en-US" sz="1300" b="1" dirty="0">
                <a:solidFill>
                  <a:srgbClr val="141B3C"/>
                </a:solidFill>
                <a:latin typeface="Calibri" pitchFamily="34" charset="0"/>
                <a:ea typeface="Calibri" pitchFamily="34" charset="-122"/>
                <a:cs typeface="Calibri" pitchFamily="34" charset="-120"/>
              </a:rPr>
              <a:t>assistant conversationnel IA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03</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02 · PROBLÉMATIQUE</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Des outils dispersés qui atteignent leurs limites</a:t>
            </a:r>
            <a:endParaRPr lang="en-US" sz="3000" dirty="0"/>
          </a:p>
        </p:txBody>
      </p:sp>
      <p:sp>
        <p:nvSpPr>
          <p:cNvPr id="6" name="Shape 4"/>
          <p:cNvSpPr/>
          <p:nvPr/>
        </p:nvSpPr>
        <p:spPr>
          <a:xfrm>
            <a:off x="566928" y="1783080"/>
            <a:ext cx="2670048" cy="2331720"/>
          </a:xfrm>
          <a:prstGeom prst="roundRect">
            <a:avLst>
              <a:gd name="adj" fmla="val 313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822960" y="2039112"/>
            <a:ext cx="566928" cy="566928"/>
          </a:xfrm>
          <a:prstGeom prst="ellipse">
            <a:avLst/>
          </a:prstGeom>
          <a:solidFill>
            <a:srgbClr val="FF6B4A"/>
          </a:solidFill>
          <a:ln/>
        </p:spPr>
      </p:sp>
      <p:pic>
        <p:nvPicPr>
          <p:cNvPr id="8" name="Image 0" descr="C:\Users\yosrk\AppData\Local\Temp\claude\c--Users-yosrk-OneDrive-Bureau-RHpfe-Antigone-RH\f59fd8f1-a1b7-4e96-84d6-6d2a4296fa99\scratchpad\pfe-soutenance\icons\calendar.png">    </p:cNvPr>
          <p:cNvPicPr>
            <a:picLocks noChangeAspect="1"/>
          </p:cNvPicPr>
          <p:nvPr/>
        </p:nvPicPr>
        <p:blipFill>
          <a:blip r:embed="rId1"/>
          <a:stretch>
            <a:fillRect/>
          </a:stretch>
        </p:blipFill>
        <p:spPr>
          <a:xfrm>
            <a:off x="902330" y="2118482"/>
            <a:ext cx="408188" cy="408188"/>
          </a:xfrm>
          <a:prstGeom prst="rect">
            <a:avLst/>
          </a:prstGeom>
        </p:spPr>
      </p:pic>
      <p:sp>
        <p:nvSpPr>
          <p:cNvPr id="9" name="Text 6"/>
          <p:cNvSpPr txBox="1"/>
          <p:nvPr/>
        </p:nvSpPr>
        <p:spPr>
          <a:xfrm>
            <a:off x="822960" y="2743200"/>
            <a:ext cx="2157984" cy="502920"/>
          </a:xfrm>
          <a:prstGeom prst="rect">
            <a:avLst/>
          </a:prstGeom>
          <a:noFill/>
          <a:ln/>
        </p:spPr>
        <p:txBody>
          <a:bodyPr wrap="square" lIns="0" tIns="0" rIns="0" bIns="0" rtlCol="0" anchor="ctr"/>
          <a:lstStyle/>
          <a:p>
            <a:pPr indent="0" marL="0">
              <a:buNone/>
            </a:pPr>
            <a:r>
              <a:rPr lang="en-US" sz="1400" b="1" dirty="0">
                <a:solidFill>
                  <a:srgbClr val="141B3C"/>
                </a:solidFill>
                <a:latin typeface="Calibri" pitchFamily="34" charset="0"/>
                <a:ea typeface="Calibri" pitchFamily="34" charset="-122"/>
                <a:cs typeface="Calibri" pitchFamily="34" charset="-120"/>
              </a:rPr>
              <a:t>Congés &amp; absences</a:t>
            </a:r>
            <a:endParaRPr lang="en-US" sz="1400" dirty="0"/>
          </a:p>
        </p:txBody>
      </p:sp>
      <p:sp>
        <p:nvSpPr>
          <p:cNvPr id="10" name="Text 7"/>
          <p:cNvSpPr txBox="1"/>
          <p:nvPr/>
        </p:nvSpPr>
        <p:spPr>
          <a:xfrm>
            <a:off x="822960" y="3200400"/>
            <a:ext cx="2157984" cy="822960"/>
          </a:xfrm>
          <a:prstGeom prst="rect">
            <a:avLst/>
          </a:prstGeom>
          <a:noFill/>
          <a:ln/>
        </p:spPr>
        <p:txBody>
          <a:bodyPr wrap="square" lIns="0" tIns="0" rIns="0" bIns="0" rtlCol="0" anchor="ctr"/>
          <a:lstStyle/>
          <a:p>
            <a:pPr indent="0" marL="0">
              <a:lnSpc>
                <a:spcPct val="120000"/>
              </a:lnSpc>
              <a:buNone/>
            </a:pPr>
            <a:r>
              <a:rPr lang="en-US" sz="1080" dirty="0">
                <a:solidFill>
                  <a:srgbClr val="3A3F5C"/>
                </a:solidFill>
                <a:latin typeface="Calibri" pitchFamily="34" charset="0"/>
                <a:ea typeface="Calibri" pitchFamily="34" charset="-122"/>
                <a:cs typeface="Calibri" pitchFamily="34" charset="-120"/>
              </a:rPr>
              <a:t>Demandes suivies par fichiers partagés : elles se perdent dans les échanges informels.</a:t>
            </a:r>
            <a:endParaRPr lang="en-US" sz="1080" dirty="0"/>
          </a:p>
        </p:txBody>
      </p:sp>
      <p:sp>
        <p:nvSpPr>
          <p:cNvPr id="11" name="Shape 8"/>
          <p:cNvSpPr/>
          <p:nvPr/>
        </p:nvSpPr>
        <p:spPr>
          <a:xfrm>
            <a:off x="3419856" y="1783080"/>
            <a:ext cx="2670048" cy="2331720"/>
          </a:xfrm>
          <a:prstGeom prst="roundRect">
            <a:avLst>
              <a:gd name="adj" fmla="val 313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9"/>
          <p:cNvSpPr/>
          <p:nvPr/>
        </p:nvSpPr>
        <p:spPr>
          <a:xfrm>
            <a:off x="3675888" y="2039112"/>
            <a:ext cx="566928" cy="566928"/>
          </a:xfrm>
          <a:prstGeom prst="ellipse">
            <a:avLst/>
          </a:prstGeom>
          <a:solidFill>
            <a:srgbClr val="FF6B4A"/>
          </a:solidFill>
          <a:ln/>
        </p:spPr>
      </p:sp>
      <p:pic>
        <p:nvPicPr>
          <p:cNvPr id="13" name="Image 1" descr="C:\Users\yosrk\AppData\Local\Temp\claude\c--Users-yosrk-OneDrive-Bureau-RHpfe-Antigone-RH\f59fd8f1-a1b7-4e96-84d6-6d2a4296fa99\scratchpad\pfe-soutenance\icons\briefcase.png">    </p:cNvPr>
          <p:cNvPicPr>
            <a:picLocks noChangeAspect="1"/>
          </p:cNvPicPr>
          <p:nvPr/>
        </p:nvPicPr>
        <p:blipFill>
          <a:blip r:embed="rId2"/>
          <a:stretch>
            <a:fillRect/>
          </a:stretch>
        </p:blipFill>
        <p:spPr>
          <a:xfrm>
            <a:off x="3755258" y="2118482"/>
            <a:ext cx="408188" cy="408188"/>
          </a:xfrm>
          <a:prstGeom prst="rect">
            <a:avLst/>
          </a:prstGeom>
        </p:spPr>
      </p:pic>
      <p:sp>
        <p:nvSpPr>
          <p:cNvPr id="14" name="Text 10"/>
          <p:cNvSpPr txBox="1"/>
          <p:nvPr/>
        </p:nvSpPr>
        <p:spPr>
          <a:xfrm>
            <a:off x="3675888" y="2743200"/>
            <a:ext cx="2157984" cy="502920"/>
          </a:xfrm>
          <a:prstGeom prst="rect">
            <a:avLst/>
          </a:prstGeom>
          <a:noFill/>
          <a:ln/>
        </p:spPr>
        <p:txBody>
          <a:bodyPr wrap="square" lIns="0" tIns="0" rIns="0" bIns="0" rtlCol="0" anchor="ctr"/>
          <a:lstStyle/>
          <a:p>
            <a:pPr indent="0" marL="0">
              <a:buNone/>
            </a:pPr>
            <a:r>
              <a:rPr lang="en-US" sz="1400" b="1" dirty="0">
                <a:solidFill>
                  <a:srgbClr val="141B3C"/>
                </a:solidFill>
                <a:latin typeface="Calibri" pitchFamily="34" charset="0"/>
                <a:ea typeface="Calibri" pitchFamily="34" charset="-122"/>
                <a:cs typeface="Calibri" pitchFamily="34" charset="-120"/>
              </a:rPr>
              <a:t>Suivi de projet</a:t>
            </a:r>
            <a:endParaRPr lang="en-US" sz="1400" dirty="0"/>
          </a:p>
        </p:txBody>
      </p:sp>
      <p:sp>
        <p:nvSpPr>
          <p:cNvPr id="15" name="Text 11"/>
          <p:cNvSpPr txBox="1"/>
          <p:nvPr/>
        </p:nvSpPr>
        <p:spPr>
          <a:xfrm>
            <a:off x="3675888" y="3200400"/>
            <a:ext cx="2157984" cy="822960"/>
          </a:xfrm>
          <a:prstGeom prst="rect">
            <a:avLst/>
          </a:prstGeom>
          <a:noFill/>
          <a:ln/>
        </p:spPr>
        <p:txBody>
          <a:bodyPr wrap="square" lIns="0" tIns="0" rIns="0" bIns="0" rtlCol="0" anchor="ctr"/>
          <a:lstStyle/>
          <a:p>
            <a:pPr indent="0" marL="0">
              <a:lnSpc>
                <a:spcPct val="120000"/>
              </a:lnSpc>
              <a:buNone/>
            </a:pPr>
            <a:r>
              <a:rPr lang="en-US" sz="1080" dirty="0">
                <a:solidFill>
                  <a:srgbClr val="3A3F5C"/>
                </a:solidFill>
                <a:latin typeface="Calibri" pitchFamily="34" charset="0"/>
                <a:ea typeface="Calibri" pitchFamily="34" charset="-122"/>
                <a:cs typeface="Calibri" pitchFamily="34" charset="-120"/>
              </a:rPr>
              <a:t>L’avancement des projets repose sur la mémoire du chef de projet, sans traçabilité.</a:t>
            </a:r>
            <a:endParaRPr lang="en-US" sz="1080" dirty="0"/>
          </a:p>
        </p:txBody>
      </p:sp>
      <p:sp>
        <p:nvSpPr>
          <p:cNvPr id="16" name="Shape 12"/>
          <p:cNvSpPr/>
          <p:nvPr/>
        </p:nvSpPr>
        <p:spPr>
          <a:xfrm>
            <a:off x="6272784" y="1783080"/>
            <a:ext cx="2670048" cy="2331720"/>
          </a:xfrm>
          <a:prstGeom prst="roundRect">
            <a:avLst>
              <a:gd name="adj" fmla="val 313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7" name="Shape 13"/>
          <p:cNvSpPr/>
          <p:nvPr/>
        </p:nvSpPr>
        <p:spPr>
          <a:xfrm>
            <a:off x="6528816" y="2039112"/>
            <a:ext cx="566928" cy="566928"/>
          </a:xfrm>
          <a:prstGeom prst="ellipse">
            <a:avLst/>
          </a:prstGeom>
          <a:solidFill>
            <a:srgbClr val="FF6B4A"/>
          </a:solidFill>
          <a:ln/>
        </p:spPr>
      </p:sp>
      <p:pic>
        <p:nvPicPr>
          <p:cNvPr id="18" name="Image 2" descr="C:\Users\yosrk\AppData\Local\Temp\claude\c--Users-yosrk-OneDrive-Bureau-RHpfe-Antigone-RH\f59fd8f1-a1b7-4e96-84d6-6d2a4296fa99\scratchpad\pfe-soutenance\icons\invoice.png">    </p:cNvPr>
          <p:cNvPicPr>
            <a:picLocks noChangeAspect="1"/>
          </p:cNvPicPr>
          <p:nvPr/>
        </p:nvPicPr>
        <p:blipFill>
          <a:blip r:embed="rId3"/>
          <a:stretch>
            <a:fillRect/>
          </a:stretch>
        </p:blipFill>
        <p:spPr>
          <a:xfrm>
            <a:off x="6608186" y="2118482"/>
            <a:ext cx="408188" cy="408188"/>
          </a:xfrm>
          <a:prstGeom prst="rect">
            <a:avLst/>
          </a:prstGeom>
        </p:spPr>
      </p:pic>
      <p:sp>
        <p:nvSpPr>
          <p:cNvPr id="19" name="Text 14"/>
          <p:cNvSpPr txBox="1"/>
          <p:nvPr/>
        </p:nvSpPr>
        <p:spPr>
          <a:xfrm>
            <a:off x="6528816" y="2743200"/>
            <a:ext cx="2157984" cy="502920"/>
          </a:xfrm>
          <a:prstGeom prst="rect">
            <a:avLst/>
          </a:prstGeom>
          <a:noFill/>
          <a:ln/>
        </p:spPr>
        <p:txBody>
          <a:bodyPr wrap="square" lIns="0" tIns="0" rIns="0" bIns="0" rtlCol="0" anchor="ctr"/>
          <a:lstStyle/>
          <a:p>
            <a:pPr indent="0" marL="0">
              <a:buNone/>
            </a:pPr>
            <a:r>
              <a:rPr lang="en-US" sz="1400" b="1" dirty="0">
                <a:solidFill>
                  <a:srgbClr val="141B3C"/>
                </a:solidFill>
                <a:latin typeface="Calibri" pitchFamily="34" charset="0"/>
                <a:ea typeface="Calibri" pitchFamily="34" charset="-122"/>
                <a:cs typeface="Calibri" pitchFamily="34" charset="-120"/>
              </a:rPr>
              <a:t>Facturation &amp; paie</a:t>
            </a:r>
            <a:endParaRPr lang="en-US" sz="1400" dirty="0"/>
          </a:p>
        </p:txBody>
      </p:sp>
      <p:sp>
        <p:nvSpPr>
          <p:cNvPr id="20" name="Text 15"/>
          <p:cNvSpPr txBox="1"/>
          <p:nvPr/>
        </p:nvSpPr>
        <p:spPr>
          <a:xfrm>
            <a:off x="6528816" y="3200400"/>
            <a:ext cx="2157984" cy="822960"/>
          </a:xfrm>
          <a:prstGeom prst="rect">
            <a:avLst/>
          </a:prstGeom>
          <a:noFill/>
          <a:ln/>
        </p:spPr>
        <p:txBody>
          <a:bodyPr wrap="square" lIns="0" tIns="0" rIns="0" bIns="0" rtlCol="0" anchor="ctr"/>
          <a:lstStyle/>
          <a:p>
            <a:pPr indent="0" marL="0">
              <a:lnSpc>
                <a:spcPct val="120000"/>
              </a:lnSpc>
              <a:buNone/>
            </a:pPr>
            <a:r>
              <a:rPr lang="en-US" sz="1080" dirty="0">
                <a:solidFill>
                  <a:srgbClr val="3A3F5C"/>
                </a:solidFill>
                <a:latin typeface="Calibri" pitchFamily="34" charset="0"/>
                <a:ea typeface="Calibri" pitchFamily="34" charset="-122"/>
                <a:cs typeface="Calibri" pitchFamily="34" charset="-120"/>
              </a:rPr>
              <a:t>Recalculées à la main chaque mois : erreurs, retards, charge administrative lourde.</a:t>
            </a:r>
            <a:endParaRPr lang="en-US" sz="1080" dirty="0"/>
          </a:p>
        </p:txBody>
      </p:sp>
      <p:sp>
        <p:nvSpPr>
          <p:cNvPr id="21" name="Shape 16"/>
          <p:cNvSpPr/>
          <p:nvPr/>
        </p:nvSpPr>
        <p:spPr>
          <a:xfrm>
            <a:off x="9125712" y="1783080"/>
            <a:ext cx="2670048" cy="2331720"/>
          </a:xfrm>
          <a:prstGeom prst="roundRect">
            <a:avLst>
              <a:gd name="adj" fmla="val 3137"/>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2" name="Shape 17"/>
          <p:cNvSpPr/>
          <p:nvPr/>
        </p:nvSpPr>
        <p:spPr>
          <a:xfrm>
            <a:off x="9381744" y="2039112"/>
            <a:ext cx="566928" cy="566928"/>
          </a:xfrm>
          <a:prstGeom prst="ellipse">
            <a:avLst/>
          </a:prstGeom>
          <a:solidFill>
            <a:srgbClr val="FF6B4A"/>
          </a:solidFill>
          <a:ln/>
        </p:spPr>
      </p:sp>
      <p:pic>
        <p:nvPicPr>
          <p:cNvPr id="23" name="Image 3" descr="C:\Users\yosrk\AppData\Local\Temp\claude\c--Users-yosrk-OneDrive-Bureau-RHpfe-Antigone-RH\f59fd8f1-a1b7-4e96-84d6-6d2a4296fa99\scratchpad\pfe-soutenance\icons\building.png">    </p:cNvPr>
          <p:cNvPicPr>
            <a:picLocks noChangeAspect="1"/>
          </p:cNvPicPr>
          <p:nvPr/>
        </p:nvPicPr>
        <p:blipFill>
          <a:blip r:embed="rId4"/>
          <a:stretch>
            <a:fillRect/>
          </a:stretch>
        </p:blipFill>
        <p:spPr>
          <a:xfrm>
            <a:off x="9461114" y="2118482"/>
            <a:ext cx="408188" cy="408188"/>
          </a:xfrm>
          <a:prstGeom prst="rect">
            <a:avLst/>
          </a:prstGeom>
        </p:spPr>
      </p:pic>
      <p:sp>
        <p:nvSpPr>
          <p:cNvPr id="24" name="Text 18"/>
          <p:cNvSpPr txBox="1"/>
          <p:nvPr/>
        </p:nvSpPr>
        <p:spPr>
          <a:xfrm>
            <a:off x="9381744" y="2743200"/>
            <a:ext cx="2157984" cy="502920"/>
          </a:xfrm>
          <a:prstGeom prst="rect">
            <a:avLst/>
          </a:prstGeom>
          <a:noFill/>
          <a:ln/>
        </p:spPr>
        <p:txBody>
          <a:bodyPr wrap="square" lIns="0" tIns="0" rIns="0" bIns="0" rtlCol="0" anchor="ctr"/>
          <a:lstStyle/>
          <a:p>
            <a:pPr indent="0" marL="0">
              <a:buNone/>
            </a:pPr>
            <a:r>
              <a:rPr lang="en-US" sz="1400" b="1" dirty="0">
                <a:solidFill>
                  <a:srgbClr val="141B3C"/>
                </a:solidFill>
                <a:latin typeface="Calibri" pitchFamily="34" charset="0"/>
                <a:ea typeface="Calibri" pitchFamily="34" charset="-122"/>
                <a:cs typeface="Calibri" pitchFamily="34" charset="-120"/>
              </a:rPr>
              <a:t>Relation client</a:t>
            </a:r>
            <a:endParaRPr lang="en-US" sz="1400" dirty="0"/>
          </a:p>
        </p:txBody>
      </p:sp>
      <p:sp>
        <p:nvSpPr>
          <p:cNvPr id="25" name="Text 19"/>
          <p:cNvSpPr txBox="1"/>
          <p:nvPr/>
        </p:nvSpPr>
        <p:spPr>
          <a:xfrm>
            <a:off x="9381744" y="3200400"/>
            <a:ext cx="2157984" cy="822960"/>
          </a:xfrm>
          <a:prstGeom prst="rect">
            <a:avLst/>
          </a:prstGeom>
          <a:noFill/>
          <a:ln/>
        </p:spPr>
        <p:txBody>
          <a:bodyPr wrap="square" lIns="0" tIns="0" rIns="0" bIns="0" rtlCol="0" anchor="ctr"/>
          <a:lstStyle/>
          <a:p>
            <a:pPr indent="0" marL="0">
              <a:lnSpc>
                <a:spcPct val="120000"/>
              </a:lnSpc>
              <a:buNone/>
            </a:pPr>
            <a:r>
              <a:rPr lang="en-US" sz="1080" dirty="0">
                <a:solidFill>
                  <a:srgbClr val="3A3F5C"/>
                </a:solidFill>
                <a:latin typeface="Calibri" pitchFamily="34" charset="0"/>
                <a:ea typeface="Calibri" pitchFamily="34" charset="-122"/>
                <a:cs typeface="Calibri" pitchFamily="34" charset="-120"/>
              </a:rPr>
              <a:t>Aucun espace dédié ne permet aux clients de suivre l’avancement de leurs dossiers.</a:t>
            </a:r>
            <a:endParaRPr lang="en-US" sz="1080" dirty="0"/>
          </a:p>
        </p:txBody>
      </p:sp>
      <p:sp>
        <p:nvSpPr>
          <p:cNvPr id="26" name="Shape 20"/>
          <p:cNvSpPr/>
          <p:nvPr/>
        </p:nvSpPr>
        <p:spPr>
          <a:xfrm>
            <a:off x="566928" y="4434840"/>
            <a:ext cx="11057839" cy="1554480"/>
          </a:xfrm>
          <a:prstGeom prst="roundRect">
            <a:avLst>
              <a:gd name="adj" fmla="val 5882"/>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27" name="Shape 21"/>
          <p:cNvSpPr/>
          <p:nvPr/>
        </p:nvSpPr>
        <p:spPr>
          <a:xfrm>
            <a:off x="886968" y="4727448"/>
            <a:ext cx="932688" cy="932688"/>
          </a:xfrm>
          <a:prstGeom prst="ellipse">
            <a:avLst/>
          </a:prstGeom>
          <a:solidFill>
            <a:srgbClr val="17B8A6"/>
          </a:solidFill>
          <a:ln/>
        </p:spPr>
      </p:sp>
      <p:pic>
        <p:nvPicPr>
          <p:cNvPr id="28" name="Image 4" descr="C:\Users\yosrk\AppData\Local\Temp\claude\c--Users-yosrk-OneDrive-Bureau-RHpfe-Antigone-RH\f59fd8f1-a1b7-4e96-84d6-6d2a4296fa99\scratchpad\pfe-soutenance\icons\target.png">    </p:cNvPr>
          <p:cNvPicPr>
            <a:picLocks noChangeAspect="1"/>
          </p:cNvPicPr>
          <p:nvPr/>
        </p:nvPicPr>
        <p:blipFill>
          <a:blip r:embed="rId5"/>
          <a:stretch>
            <a:fillRect/>
          </a:stretch>
        </p:blipFill>
        <p:spPr>
          <a:xfrm>
            <a:off x="1017544" y="4858024"/>
            <a:ext cx="671535" cy="671535"/>
          </a:xfrm>
          <a:prstGeom prst="rect">
            <a:avLst/>
          </a:prstGeom>
        </p:spPr>
      </p:pic>
      <p:sp>
        <p:nvSpPr>
          <p:cNvPr id="29" name="Text 22"/>
          <p:cNvSpPr txBox="1"/>
          <p:nvPr/>
        </p:nvSpPr>
        <p:spPr>
          <a:xfrm>
            <a:off x="2075688" y="4617720"/>
            <a:ext cx="9235440" cy="1280160"/>
          </a:xfrm>
          <a:prstGeom prst="rect">
            <a:avLst/>
          </a:prstGeom>
          <a:noFill/>
          <a:ln/>
        </p:spPr>
        <p:txBody>
          <a:bodyPr wrap="square" lIns="0" tIns="0" rIns="0" bIns="0" rtlCol="0" anchor="ctr"/>
          <a:lstStyle/>
          <a:p>
            <a:pPr indent="0" marL="0">
              <a:lnSpc>
                <a:spcPct val="125000"/>
              </a:lnSpc>
              <a:buNone/>
            </a:pPr>
            <a:r>
              <a:rPr lang="en-US" sz="1700" dirty="0">
                <a:solidFill>
                  <a:srgbClr val="FFFFFF"/>
                </a:solidFill>
                <a:latin typeface="Cambria" pitchFamily="34" charset="0"/>
                <a:ea typeface="Cambria" pitchFamily="34" charset="-122"/>
                <a:cs typeface="Cambria" pitchFamily="34" charset="-120"/>
              </a:rPr>
              <a:t>Comment </a:t>
            </a:r>
            <a:pPr indent="0" marL="0">
              <a:lnSpc>
                <a:spcPct val="125000"/>
              </a:lnSpc>
              <a:buNone/>
            </a:pPr>
            <a:r>
              <a:rPr lang="en-US" sz="1700" b="1" dirty="0">
                <a:solidFill>
                  <a:srgbClr val="17B8A6"/>
                </a:solidFill>
                <a:latin typeface="Cambria" pitchFamily="34" charset="0"/>
                <a:ea typeface="Cambria" pitchFamily="34" charset="-122"/>
                <a:cs typeface="Cambria" pitchFamily="34" charset="-120"/>
              </a:rPr>
              <a:t>centraliser les données</a:t>
            </a:r>
            <a:pPr indent="0" marL="0">
              <a:lnSpc>
                <a:spcPct val="125000"/>
              </a:lnSpc>
              <a:buNone/>
            </a:pPr>
            <a:r>
              <a:rPr lang="en-US" sz="1700" dirty="0">
                <a:solidFill>
                  <a:srgbClr val="FFFFFF"/>
                </a:solidFill>
                <a:latin typeface="Cambria" pitchFamily="34" charset="0"/>
                <a:ea typeface="Cambria" pitchFamily="34" charset="-122"/>
                <a:cs typeface="Cambria" pitchFamily="34" charset="-120"/>
              </a:rPr>
              <a:t>, </a:t>
            </a:r>
            <a:pPr indent="0" marL="0">
              <a:lnSpc>
                <a:spcPct val="125000"/>
              </a:lnSpc>
              <a:buNone/>
            </a:pPr>
            <a:r>
              <a:rPr lang="en-US" sz="1700" b="1" dirty="0">
                <a:solidFill>
                  <a:srgbClr val="17B8A6"/>
                </a:solidFill>
                <a:latin typeface="Cambria" pitchFamily="34" charset="0"/>
                <a:ea typeface="Cambria" pitchFamily="34" charset="-122"/>
                <a:cs typeface="Cambria" pitchFamily="34" charset="-120"/>
              </a:rPr>
              <a:t>automatiser les tâches répétitives</a:t>
            </a:r>
            <a:pPr indent="0" marL="0">
              <a:lnSpc>
                <a:spcPct val="125000"/>
              </a:lnSpc>
              <a:buNone/>
            </a:pPr>
            <a:r>
              <a:rPr lang="en-US" sz="1700" dirty="0">
                <a:solidFill>
                  <a:srgbClr val="FFFFFF"/>
                </a:solidFill>
                <a:latin typeface="Cambria" pitchFamily="34" charset="0"/>
                <a:ea typeface="Cambria" pitchFamily="34" charset="-122"/>
                <a:cs typeface="Cambria" pitchFamily="34" charset="-120"/>
              </a:rPr>
              <a:t> et offrir à chaque profil — employé, responsable, chef de projet, client — une </a:t>
            </a:r>
            <a:pPr indent="0" marL="0">
              <a:lnSpc>
                <a:spcPct val="125000"/>
              </a:lnSpc>
              <a:buNone/>
            </a:pPr>
            <a:r>
              <a:rPr lang="en-US" sz="1700" b="1" dirty="0">
                <a:solidFill>
                  <a:srgbClr val="17B8A6"/>
                </a:solidFill>
                <a:latin typeface="Cambria" pitchFamily="34" charset="0"/>
                <a:ea typeface="Cambria" pitchFamily="34" charset="-122"/>
                <a:cs typeface="Cambria" pitchFamily="34" charset="-120"/>
              </a:rPr>
              <a:t>vue fiable et à jour</a:t>
            </a:r>
            <a:pPr indent="0" marL="0">
              <a:lnSpc>
                <a:spcPct val="125000"/>
              </a:lnSpc>
              <a:buNone/>
            </a:pPr>
            <a:r>
              <a:rPr lang="en-US" sz="1700" dirty="0">
                <a:solidFill>
                  <a:srgbClr val="FFFFFF"/>
                </a:solidFill>
                <a:latin typeface="Cambria" pitchFamily="34" charset="0"/>
                <a:ea typeface="Cambria" pitchFamily="34" charset="-122"/>
                <a:cs typeface="Cambria" pitchFamily="34" charset="-120"/>
              </a:rPr>
              <a:t> de ce qui le concerne ?</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04</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03 · ÉTUDE DE L’EXISTANT</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Une gestion reposant sur des outils non reliés</a:t>
            </a:r>
            <a:endParaRPr lang="en-US" sz="3000" dirty="0"/>
          </a:p>
        </p:txBody>
      </p:sp>
      <p:sp>
        <p:nvSpPr>
          <p:cNvPr id="6" name="Text 4"/>
          <p:cNvSpPr txBox="1"/>
          <p:nvPr/>
        </p:nvSpPr>
        <p:spPr>
          <a:xfrm>
            <a:off x="566928" y="1737360"/>
            <a:ext cx="6126480" cy="365760"/>
          </a:xfrm>
          <a:prstGeom prst="rect">
            <a:avLst/>
          </a:prstGeom>
          <a:noFill/>
          <a:ln/>
        </p:spPr>
        <p:txBody>
          <a:bodyPr wrap="square" lIns="0" tIns="0" rIns="0" bIns="0" rtlCol="0" anchor="ctr"/>
          <a:lstStyle/>
          <a:p>
            <a:pPr indent="0" marL="0">
              <a:buNone/>
            </a:pPr>
            <a:r>
              <a:rPr lang="en-US" sz="1500" b="1" dirty="0">
                <a:solidFill>
                  <a:srgbClr val="141B3C"/>
                </a:solidFill>
                <a:latin typeface="Calibri" pitchFamily="34" charset="0"/>
                <a:ea typeface="Calibri" pitchFamily="34" charset="-122"/>
                <a:cs typeface="Calibri" pitchFamily="34" charset="-120"/>
              </a:rPr>
              <a:t>Situation avant le projet</a:t>
            </a:r>
            <a:endParaRPr lang="en-US" sz="1500" dirty="0"/>
          </a:p>
        </p:txBody>
      </p:sp>
      <p:sp>
        <p:nvSpPr>
          <p:cNvPr id="7" name="Text 5"/>
          <p:cNvSpPr txBox="1"/>
          <p:nvPr/>
        </p:nvSpPr>
        <p:spPr>
          <a:xfrm>
            <a:off x="566928" y="2148840"/>
            <a:ext cx="6126480" cy="2011680"/>
          </a:xfrm>
          <a:prstGeom prst="rect">
            <a:avLst/>
          </a:prstGeom>
          <a:noFill/>
          <a:ln/>
        </p:spPr>
        <p:txBody>
          <a:bodyPr wrap="square" lIns="0" tIns="0" rIns="0" bIns="0" rtlCol="0" anchor="ctr"/>
          <a:lstStyle/>
          <a:p>
            <a:pPr marL="177800" indent="-177800">
              <a:lnSpc>
                <a:spcPct val="130000"/>
              </a:lnSpc>
              <a:spcAft>
                <a:spcPts val="1000"/>
              </a:spcAft>
              <a:buSzPct val="100000"/>
              <a:buChar char="•"/>
            </a:pPr>
            <a:r>
              <a:rPr lang="en-US" sz="1350" dirty="0">
                <a:solidFill>
                  <a:srgbClr val="3A3F5C"/>
                </a:solidFill>
                <a:latin typeface="Calibri" pitchFamily="34" charset="0"/>
                <a:ea typeface="Calibri" pitchFamily="34" charset="-122"/>
                <a:cs typeface="Calibri" pitchFamily="34" charset="-120"/>
              </a:rPr>
              <a:t>Tableur partagé pour le suivi des congés et le calcul de la paie</a:t>
            </a:r>
            <a:endParaRPr lang="en-US" sz="1350" dirty="0"/>
          </a:p>
          <a:p>
            <a:pPr marL="177800" indent="-177800">
              <a:lnSpc>
                <a:spcPct val="130000"/>
              </a:lnSpc>
              <a:spcAft>
                <a:spcPts val="1000"/>
              </a:spcAft>
              <a:buSzPct val="100000"/>
              <a:buChar char="•"/>
            </a:pPr>
            <a:r>
              <a:rPr lang="en-US" sz="1350" dirty="0">
                <a:solidFill>
                  <a:srgbClr val="3A3F5C"/>
                </a:solidFill>
                <a:latin typeface="Calibri" pitchFamily="34" charset="0"/>
                <a:ea typeface="Calibri" pitchFamily="34" charset="-122"/>
                <a:cs typeface="Calibri" pitchFamily="34" charset="-120"/>
              </a:rPr>
              <a:t>Messagerie instantanée pour le suivi informel de l’avancement des projets</a:t>
            </a:r>
            <a:endParaRPr lang="en-US" sz="1350" dirty="0"/>
          </a:p>
          <a:p>
            <a:pPr marL="177800" indent="-177800">
              <a:lnSpc>
                <a:spcPct val="130000"/>
              </a:lnSpc>
              <a:spcAft>
                <a:spcPts val="1000"/>
              </a:spcAft>
              <a:buSzPct val="100000"/>
              <a:buChar char="•"/>
            </a:pPr>
            <a:r>
              <a:rPr lang="en-US" sz="1350" dirty="0">
                <a:solidFill>
                  <a:srgbClr val="3A3F5C"/>
                </a:solidFill>
                <a:latin typeface="Calibri" pitchFamily="34" charset="0"/>
                <a:ea typeface="Calibri" pitchFamily="34" charset="-122"/>
                <a:cs typeface="Calibri" pitchFamily="34" charset="-120"/>
              </a:rPr>
              <a:t>Fichiers dispersés, sans espace dédié par client ni par projet</a:t>
            </a:r>
            <a:endParaRPr lang="en-US" sz="1350" dirty="0"/>
          </a:p>
          <a:p>
            <a:pPr marL="177800" indent="-177800">
              <a:lnSpc>
                <a:spcPct val="130000"/>
              </a:lnSpc>
              <a:spcAft>
                <a:spcPts val="1000"/>
              </a:spcAft>
              <a:buSzPct val="100000"/>
              <a:buChar char="•"/>
            </a:pPr>
            <a:r>
              <a:rPr lang="en-US" sz="1350" dirty="0">
                <a:solidFill>
                  <a:srgbClr val="3A3F5C"/>
                </a:solidFill>
                <a:latin typeface="Calibri" pitchFamily="34" charset="0"/>
                <a:ea typeface="Calibri" pitchFamily="34" charset="-122"/>
                <a:cs typeface="Calibri" pitchFamily="34" charset="-120"/>
              </a:rPr>
              <a:t>Aucune vue consolidée pour les responsables de l’agence</a:t>
            </a:r>
            <a:endParaRPr lang="en-US" sz="1350" dirty="0"/>
          </a:p>
        </p:txBody>
      </p:sp>
      <p:sp>
        <p:nvSpPr>
          <p:cNvPr id="8" name="Shape 6"/>
          <p:cNvSpPr/>
          <p:nvPr/>
        </p:nvSpPr>
        <p:spPr>
          <a:xfrm>
            <a:off x="566928" y="4343400"/>
            <a:ext cx="6126480" cy="1691640"/>
          </a:xfrm>
          <a:prstGeom prst="roundRect">
            <a:avLst>
              <a:gd name="adj" fmla="val 432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9" name="Text 7"/>
          <p:cNvSpPr txBox="1"/>
          <p:nvPr/>
        </p:nvSpPr>
        <p:spPr>
          <a:xfrm>
            <a:off x="841248" y="4526280"/>
            <a:ext cx="5577840" cy="320040"/>
          </a:xfrm>
          <a:prstGeom prst="rect">
            <a:avLst/>
          </a:prstGeom>
          <a:noFill/>
          <a:ln/>
        </p:spPr>
        <p:txBody>
          <a:bodyPr wrap="square" lIns="0" tIns="0" rIns="0" bIns="0" rtlCol="0" anchor="ctr"/>
          <a:lstStyle/>
          <a:p>
            <a:pPr indent="0" marL="0">
              <a:buNone/>
            </a:pPr>
            <a:r>
              <a:rPr lang="en-US" sz="1300" b="1" dirty="0">
                <a:solidFill>
                  <a:srgbClr val="D9502F"/>
                </a:solidFill>
                <a:latin typeface="Calibri" pitchFamily="34" charset="0"/>
                <a:ea typeface="Calibri" pitchFamily="34" charset="-122"/>
                <a:cs typeface="Calibri" pitchFamily="34" charset="-120"/>
              </a:rPr>
              <a:t>Coût de cette dispersion</a:t>
            </a:r>
            <a:endParaRPr lang="en-US" sz="1300" dirty="0"/>
          </a:p>
        </p:txBody>
      </p:sp>
      <p:sp>
        <p:nvSpPr>
          <p:cNvPr id="10" name="Text 8"/>
          <p:cNvSpPr txBox="1"/>
          <p:nvPr/>
        </p:nvSpPr>
        <p:spPr>
          <a:xfrm>
            <a:off x="841248" y="4846320"/>
            <a:ext cx="5577840" cy="1097280"/>
          </a:xfrm>
          <a:prstGeom prst="rect">
            <a:avLst/>
          </a:prstGeom>
          <a:noFill/>
          <a:ln/>
        </p:spPr>
        <p:txBody>
          <a:bodyPr wrap="square" lIns="0" tIns="0" rIns="0" bIns="0" rtlCol="0" anchor="ctr"/>
          <a:lstStyle/>
          <a:p>
            <a:pPr indent="0" marL="0">
              <a:lnSpc>
                <a:spcPct val="130000"/>
              </a:lnSpc>
              <a:buNone/>
            </a:pPr>
            <a:r>
              <a:rPr lang="en-US" sz="1250" i="1" dirty="0">
                <a:solidFill>
                  <a:srgbClr val="3A3F5C"/>
                </a:solidFill>
                <a:latin typeface="Calibri" pitchFamily="34" charset="0"/>
                <a:ea typeface="Calibri" pitchFamily="34" charset="-122"/>
                <a:cs typeface="Calibri" pitchFamily="34" charset="-120"/>
              </a:rPr>
              <a:t>Temps précieux perdu par les équipes administratives, et absence de vision consolidée de l’activité de l’agence pour ses responsables.</a:t>
            </a:r>
            <a:endParaRPr lang="en-US" sz="1250" dirty="0"/>
          </a:p>
        </p:txBody>
      </p:sp>
      <p:sp>
        <p:nvSpPr>
          <p:cNvPr id="11" name="Shape 9"/>
          <p:cNvSpPr/>
          <p:nvPr/>
        </p:nvSpPr>
        <p:spPr>
          <a:xfrm>
            <a:off x="6903720" y="1737360"/>
            <a:ext cx="4709160" cy="4297680"/>
          </a:xfrm>
          <a:prstGeom prst="roundRect">
            <a:avLst>
              <a:gd name="adj" fmla="val 2128"/>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12" name="Shape 10"/>
          <p:cNvSpPr/>
          <p:nvPr/>
        </p:nvSpPr>
        <p:spPr>
          <a:xfrm>
            <a:off x="7223760" y="2011680"/>
            <a:ext cx="777240" cy="777240"/>
          </a:xfrm>
          <a:prstGeom prst="ellipse">
            <a:avLst/>
          </a:prstGeom>
          <a:solidFill>
            <a:srgbClr val="FF6B4A"/>
          </a:solidFill>
          <a:ln/>
        </p:spPr>
      </p:sp>
      <p:pic>
        <p:nvPicPr>
          <p:cNvPr id="13" name="Image 0" descr="C:\Users\yosrk\AppData\Local\Temp\claude\c--Users-yosrk-OneDrive-Bureau-RHpfe-Antigone-RH\f59fd8f1-a1b7-4e96-84d6-6d2a4296fa99\scratchpad\pfe-soutenance\icons\search.png">    </p:cNvPr>
          <p:cNvPicPr>
            <a:picLocks noChangeAspect="1"/>
          </p:cNvPicPr>
          <p:nvPr/>
        </p:nvPicPr>
        <p:blipFill>
          <a:blip r:embed="rId1"/>
          <a:stretch>
            <a:fillRect/>
          </a:stretch>
        </p:blipFill>
        <p:spPr>
          <a:xfrm>
            <a:off x="7332574" y="2120494"/>
            <a:ext cx="559613" cy="559613"/>
          </a:xfrm>
          <a:prstGeom prst="rect">
            <a:avLst/>
          </a:prstGeom>
        </p:spPr>
      </p:pic>
      <p:sp>
        <p:nvSpPr>
          <p:cNvPr id="14" name="Text 11"/>
          <p:cNvSpPr txBox="1"/>
          <p:nvPr/>
        </p:nvSpPr>
        <p:spPr>
          <a:xfrm>
            <a:off x="7223760" y="2971800"/>
            <a:ext cx="4023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Limites identifiées</a:t>
            </a:r>
            <a:endParaRPr lang="en-US" sz="1700" dirty="0"/>
          </a:p>
        </p:txBody>
      </p:sp>
      <p:sp>
        <p:nvSpPr>
          <p:cNvPr id="15" name="Text 12"/>
          <p:cNvSpPr txBox="1"/>
          <p:nvPr/>
        </p:nvSpPr>
        <p:spPr>
          <a:xfrm>
            <a:off x="7223760" y="3429000"/>
            <a:ext cx="4069080" cy="2377440"/>
          </a:xfrm>
          <a:prstGeom prst="rect">
            <a:avLst/>
          </a:prstGeom>
          <a:noFill/>
          <a:ln/>
        </p:spPr>
        <p:txBody>
          <a:bodyPr wrap="square" lIns="0" tIns="0" rIns="0" bIns="0" rtlCol="0" anchor="ctr"/>
          <a:lstStyle/>
          <a:p>
            <a:pPr marL="177800" indent="-177800">
              <a:lnSpc>
                <a:spcPct val="125000"/>
              </a:lnSpc>
              <a:spcAft>
                <a:spcPts val="1100"/>
              </a:spcAft>
              <a:buSzPct val="100000"/>
              <a:buChar char="•"/>
            </a:pPr>
            <a:r>
              <a:rPr lang="en-US" sz="1250" dirty="0">
                <a:solidFill>
                  <a:srgbClr val="E8EEFC"/>
                </a:solidFill>
                <a:latin typeface="Calibri" pitchFamily="34" charset="0"/>
                <a:ea typeface="Calibri" pitchFamily="34" charset="-122"/>
                <a:cs typeface="Calibri" pitchFamily="34" charset="-120"/>
              </a:rPr>
              <a:t>Pas de centralisation des données entre RH, projets et finances</a:t>
            </a:r>
            <a:endParaRPr lang="en-US" sz="1250" dirty="0"/>
          </a:p>
          <a:p>
            <a:pPr marL="177800" indent="-177800">
              <a:lnSpc>
                <a:spcPct val="125000"/>
              </a:lnSpc>
              <a:spcAft>
                <a:spcPts val="1100"/>
              </a:spcAft>
              <a:buSzPct val="100000"/>
              <a:buChar char="•"/>
            </a:pPr>
            <a:r>
              <a:rPr lang="en-US" sz="1250" dirty="0">
                <a:solidFill>
                  <a:srgbClr val="E8EEFC"/>
                </a:solidFill>
                <a:latin typeface="Calibri" pitchFamily="34" charset="0"/>
                <a:ea typeface="Calibri" pitchFamily="34" charset="-122"/>
                <a:cs typeface="Calibri" pitchFamily="34" charset="-120"/>
              </a:rPr>
              <a:t>Calculs manuels sujets à erreur (paie, jours de congé)</a:t>
            </a:r>
            <a:endParaRPr lang="en-US" sz="1250" dirty="0"/>
          </a:p>
          <a:p>
            <a:pPr marL="177800" indent="-177800">
              <a:lnSpc>
                <a:spcPct val="125000"/>
              </a:lnSpc>
              <a:spcAft>
                <a:spcPts val="1100"/>
              </a:spcAft>
              <a:buSzPct val="100000"/>
              <a:buChar char="•"/>
            </a:pPr>
            <a:r>
              <a:rPr lang="en-US" sz="1250" dirty="0">
                <a:solidFill>
                  <a:srgbClr val="E8EEFC"/>
                </a:solidFill>
                <a:latin typeface="Calibri" pitchFamily="34" charset="0"/>
                <a:ea typeface="Calibri" pitchFamily="34" charset="-122"/>
                <a:cs typeface="Calibri" pitchFamily="34" charset="-120"/>
              </a:rPr>
              <a:t>Aucune traçabilité des décisions prises</a:t>
            </a:r>
            <a:endParaRPr lang="en-US" sz="1250" dirty="0"/>
          </a:p>
          <a:p>
            <a:pPr marL="177800" indent="-177800">
              <a:lnSpc>
                <a:spcPct val="125000"/>
              </a:lnSpc>
              <a:spcAft>
                <a:spcPts val="1100"/>
              </a:spcAft>
              <a:buSzPct val="100000"/>
              <a:buChar char="•"/>
            </a:pPr>
            <a:r>
              <a:rPr lang="en-US" sz="1250" dirty="0">
                <a:solidFill>
                  <a:srgbClr val="E8EEFC"/>
                </a:solidFill>
                <a:latin typeface="Calibri" pitchFamily="34" charset="0"/>
                <a:ea typeface="Calibri" pitchFamily="34" charset="-122"/>
                <a:cs typeface="Calibri" pitchFamily="34" charset="-120"/>
              </a:rPr>
              <a:t>Aucun portail dédié pour les clients de l’agence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05</a:t>
            </a:r>
            <a:endParaRPr lang="en-US" sz="850" dirty="0"/>
          </a:p>
        </p:txBody>
      </p:sp>
      <p:sp>
        <p:nvSpPr>
          <p:cNvPr id="4" name="Shape 2"/>
          <p:cNvSpPr/>
          <p:nvPr/>
        </p:nvSpPr>
        <p:spPr>
          <a:xfrm>
            <a:off x="-502920" y="-502920"/>
            <a:ext cx="1371600" cy="1371600"/>
          </a:xfrm>
          <a:prstGeom prst="ellipse">
            <a:avLst/>
          </a:prstGeom>
          <a:solidFill>
            <a:srgbClr val="F1E9F6"/>
          </a:solidFill>
          <a:ln/>
        </p:spPr>
      </p:sp>
      <p:sp>
        <p:nvSpPr>
          <p:cNvPr id="5" name="Shape 3"/>
          <p:cNvSpPr/>
          <p:nvPr/>
        </p:nvSpPr>
        <p:spPr>
          <a:xfrm>
            <a:off x="11795760" y="6446520"/>
            <a:ext cx="685800" cy="685800"/>
          </a:xfrm>
          <a:prstGeom prst="ellipse">
            <a:avLst/>
          </a:prstGeom>
          <a:solidFill>
            <a:srgbClr val="FDE7D6"/>
          </a:solidFill>
          <a:ln/>
        </p:spPr>
      </p:sp>
      <p:sp>
        <p:nvSpPr>
          <p:cNvPr id="6" name="Text 4"/>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04 · SOLUTION PROPOSÉE</a:t>
            </a:r>
            <a:endParaRPr lang="en-US" sz="1250" dirty="0"/>
          </a:p>
        </p:txBody>
      </p:sp>
      <p:sp>
        <p:nvSpPr>
          <p:cNvPr id="7" name="Text 5"/>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 Antigone 360° » — architecture globale de la solution</a:t>
            </a:r>
            <a:endParaRPr lang="en-US" sz="3000" dirty="0"/>
          </a:p>
        </p:txBody>
      </p:sp>
      <p:sp>
        <p:nvSpPr>
          <p:cNvPr id="8" name="Text 6"/>
          <p:cNvSpPr txBox="1"/>
          <p:nvPr/>
        </p:nvSpPr>
        <p:spPr>
          <a:xfrm>
            <a:off x="566928" y="1371600"/>
            <a:ext cx="11057839" cy="384048"/>
          </a:xfrm>
          <a:prstGeom prst="rect">
            <a:avLst/>
          </a:prstGeom>
          <a:noFill/>
          <a:ln/>
        </p:spPr>
        <p:txBody>
          <a:bodyPr wrap="square" lIns="0" tIns="0" rIns="0" bIns="0" rtlCol="0" anchor="ctr"/>
          <a:lstStyle/>
          <a:p>
            <a:pPr indent="0" marL="0">
              <a:buNone/>
            </a:pPr>
            <a:r>
              <a:rPr lang="en-US" sz="1200" i="1" dirty="0">
                <a:solidFill>
                  <a:srgbClr val="767CA0"/>
                </a:solidFill>
                <a:latin typeface="Calibri" pitchFamily="34" charset="0"/>
                <a:ea typeface="Calibri" pitchFamily="34" charset="-122"/>
                <a:cs typeface="Calibri" pitchFamily="34" charset="-120"/>
              </a:rPr>
              <a:t>Un backend unique qui collecte, stocke et met en intelligence les données de l’agence, restituées via des interfaces dédiées à chaque profil.</a:t>
            </a:r>
            <a:endParaRPr lang="en-US" sz="1200" dirty="0"/>
          </a:p>
        </p:txBody>
      </p:sp>
      <p:sp>
        <p:nvSpPr>
          <p:cNvPr id="9" name="Shape 7"/>
          <p:cNvSpPr/>
          <p:nvPr/>
        </p:nvSpPr>
        <p:spPr>
          <a:xfrm>
            <a:off x="566928" y="1965960"/>
            <a:ext cx="7280453" cy="1143000"/>
          </a:xfrm>
          <a:prstGeom prst="roundRect">
            <a:avLst>
              <a:gd name="adj" fmla="val 5600"/>
            </a:avLst>
          </a:prstGeom>
          <a:solidFill>
            <a:srgbClr val="F1E9F6"/>
          </a:solidFill>
          <a:ln w="12700">
            <a:solidFill>
              <a:srgbClr val="DCC3E8"/>
            </a:solidFill>
            <a:prstDash val="solid"/>
          </a:ln>
        </p:spPr>
      </p:sp>
      <p:sp>
        <p:nvSpPr>
          <p:cNvPr id="10" name="Shape 8"/>
          <p:cNvSpPr/>
          <p:nvPr/>
        </p:nvSpPr>
        <p:spPr>
          <a:xfrm>
            <a:off x="566928" y="1965960"/>
            <a:ext cx="7280453" cy="365760"/>
          </a:xfrm>
          <a:prstGeom prst="roundRect">
            <a:avLst>
              <a:gd name="adj" fmla="val 17500"/>
            </a:avLst>
          </a:prstGeom>
          <a:solidFill>
            <a:srgbClr val="673C78"/>
          </a:solidFill>
          <a:ln/>
        </p:spPr>
      </p:sp>
      <p:sp>
        <p:nvSpPr>
          <p:cNvPr id="11" name="Shape 9"/>
          <p:cNvSpPr/>
          <p:nvPr/>
        </p:nvSpPr>
        <p:spPr>
          <a:xfrm>
            <a:off x="566928" y="2148840"/>
            <a:ext cx="7280453" cy="182880"/>
          </a:xfrm>
          <a:prstGeom prst="rect">
            <a:avLst/>
          </a:prstGeom>
          <a:solidFill>
            <a:srgbClr val="673C78"/>
          </a:solidFill>
          <a:ln/>
        </p:spPr>
      </p:sp>
      <p:sp>
        <p:nvSpPr>
          <p:cNvPr id="12" name="Shape 10"/>
          <p:cNvSpPr/>
          <p:nvPr/>
        </p:nvSpPr>
        <p:spPr>
          <a:xfrm>
            <a:off x="658368" y="2029968"/>
            <a:ext cx="237744" cy="237744"/>
          </a:xfrm>
          <a:prstGeom prst="ellipse">
            <a:avLst/>
          </a:prstGeom>
          <a:solidFill>
            <a:srgbClr val="F46A03"/>
          </a:solidFill>
          <a:ln/>
        </p:spPr>
      </p:sp>
      <p:sp>
        <p:nvSpPr>
          <p:cNvPr id="13" name="Text 11"/>
          <p:cNvSpPr txBox="1"/>
          <p:nvPr/>
        </p:nvSpPr>
        <p:spPr>
          <a:xfrm>
            <a:off x="658368" y="20299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1</a:t>
            </a:r>
            <a:endParaRPr lang="en-US" sz="1050" dirty="0"/>
          </a:p>
        </p:txBody>
      </p:sp>
      <p:sp>
        <p:nvSpPr>
          <p:cNvPr id="14" name="Text 12"/>
          <p:cNvSpPr txBox="1"/>
          <p:nvPr/>
        </p:nvSpPr>
        <p:spPr>
          <a:xfrm>
            <a:off x="987552" y="1965960"/>
            <a:ext cx="6768389"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Sources &amp; acteurs</a:t>
            </a:r>
            <a:endParaRPr lang="en-US" sz="1080" dirty="0"/>
          </a:p>
        </p:txBody>
      </p:sp>
      <p:sp>
        <p:nvSpPr>
          <p:cNvPr id="15" name="Shape 13"/>
          <p:cNvSpPr/>
          <p:nvPr/>
        </p:nvSpPr>
        <p:spPr>
          <a:xfrm>
            <a:off x="749808" y="2423160"/>
            <a:ext cx="2213458" cy="548640"/>
          </a:xfrm>
          <a:prstGeom prst="roundRect">
            <a:avLst>
              <a:gd name="adj" fmla="val 10000"/>
            </a:avLst>
          </a:prstGeom>
          <a:solidFill>
            <a:srgbClr val="673C78"/>
          </a:solidFill>
          <a:ln/>
        </p:spPr>
      </p:sp>
      <p:sp>
        <p:nvSpPr>
          <p:cNvPr id="16" name="Text 14"/>
          <p:cNvSpPr txBox="1"/>
          <p:nvPr/>
        </p:nvSpPr>
        <p:spPr>
          <a:xfrm>
            <a:off x="804672" y="2423160"/>
            <a:ext cx="2103730" cy="548640"/>
          </a:xfrm>
          <a:prstGeom prst="rect">
            <a:avLst/>
          </a:prstGeom>
          <a:noFill/>
          <a:ln/>
        </p:spPr>
        <p:txBody>
          <a:bodyPr wrap="square" lIns="0" tIns="0" rIns="0" bIns="0" rtlCol="0" anchor="ctr"/>
          <a:lstStyle/>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Employés · Chefs de projet</a:t>
            </a:r>
            <a:endParaRPr lang="en-US" sz="930" dirty="0"/>
          </a:p>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Finance · Admin</a:t>
            </a:r>
            <a:endParaRPr lang="en-US" sz="930" dirty="0"/>
          </a:p>
        </p:txBody>
      </p:sp>
      <p:sp>
        <p:nvSpPr>
          <p:cNvPr id="17" name="Shape 15"/>
          <p:cNvSpPr/>
          <p:nvPr/>
        </p:nvSpPr>
        <p:spPr>
          <a:xfrm>
            <a:off x="3100426" y="2423160"/>
            <a:ext cx="2213458" cy="548640"/>
          </a:xfrm>
          <a:prstGeom prst="roundRect">
            <a:avLst>
              <a:gd name="adj" fmla="val 10000"/>
            </a:avLst>
          </a:prstGeom>
          <a:solidFill>
            <a:srgbClr val="673C78"/>
          </a:solidFill>
          <a:ln/>
        </p:spPr>
      </p:sp>
      <p:sp>
        <p:nvSpPr>
          <p:cNvPr id="18" name="Text 16"/>
          <p:cNvSpPr txBox="1"/>
          <p:nvPr/>
        </p:nvSpPr>
        <p:spPr>
          <a:xfrm>
            <a:off x="3155290" y="2423160"/>
            <a:ext cx="2103730" cy="548640"/>
          </a:xfrm>
          <a:prstGeom prst="rect">
            <a:avLst/>
          </a:prstGeom>
          <a:noFill/>
          <a:ln/>
        </p:spPr>
        <p:txBody>
          <a:bodyPr wrap="square" lIns="0" tIns="0" rIns="0" bIns="0" rtlCol="0" anchor="ctr"/>
          <a:lstStyle/>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Clients</a:t>
            </a:r>
            <a:endParaRPr lang="en-US" sz="930" dirty="0"/>
          </a:p>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(portail dédié)</a:t>
            </a:r>
            <a:endParaRPr lang="en-US" sz="930" dirty="0"/>
          </a:p>
        </p:txBody>
      </p:sp>
      <p:sp>
        <p:nvSpPr>
          <p:cNvPr id="19" name="Shape 17"/>
          <p:cNvSpPr/>
          <p:nvPr/>
        </p:nvSpPr>
        <p:spPr>
          <a:xfrm>
            <a:off x="5451043" y="2423160"/>
            <a:ext cx="2213458" cy="548640"/>
          </a:xfrm>
          <a:prstGeom prst="roundRect">
            <a:avLst>
              <a:gd name="adj" fmla="val 10000"/>
            </a:avLst>
          </a:prstGeom>
          <a:solidFill>
            <a:srgbClr val="F46A03"/>
          </a:solidFill>
          <a:ln/>
        </p:spPr>
      </p:sp>
      <p:sp>
        <p:nvSpPr>
          <p:cNvPr id="20" name="Text 18"/>
          <p:cNvSpPr txBox="1"/>
          <p:nvPr/>
        </p:nvSpPr>
        <p:spPr>
          <a:xfrm>
            <a:off x="5505907" y="2423160"/>
            <a:ext cx="2103730" cy="548640"/>
          </a:xfrm>
          <a:prstGeom prst="rect">
            <a:avLst/>
          </a:prstGeom>
          <a:noFill/>
          <a:ln/>
        </p:spPr>
        <p:txBody>
          <a:bodyPr wrap="square" lIns="0" tIns="0" rIns="0" bIns="0" rtlCol="0" anchor="ctr"/>
          <a:lstStyle/>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Services externes</a:t>
            </a:r>
            <a:endParaRPr lang="en-US" sz="930" dirty="0"/>
          </a:p>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Drive · Brevo · Agent</a:t>
            </a:r>
            <a:endParaRPr lang="en-US" sz="930" dirty="0"/>
          </a:p>
        </p:txBody>
      </p:sp>
      <p:sp>
        <p:nvSpPr>
          <p:cNvPr id="21" name="Shape 19"/>
          <p:cNvSpPr/>
          <p:nvPr/>
        </p:nvSpPr>
        <p:spPr>
          <a:xfrm>
            <a:off x="8121701" y="1965960"/>
            <a:ext cx="3503066" cy="1143000"/>
          </a:xfrm>
          <a:prstGeom prst="roundRect">
            <a:avLst>
              <a:gd name="adj" fmla="val 5600"/>
            </a:avLst>
          </a:prstGeom>
          <a:solidFill>
            <a:srgbClr val="F1E9F6"/>
          </a:solidFill>
          <a:ln w="12700">
            <a:solidFill>
              <a:srgbClr val="DCC3E8"/>
            </a:solidFill>
            <a:prstDash val="solid"/>
          </a:ln>
        </p:spPr>
      </p:sp>
      <p:sp>
        <p:nvSpPr>
          <p:cNvPr id="22" name="Shape 20"/>
          <p:cNvSpPr/>
          <p:nvPr/>
        </p:nvSpPr>
        <p:spPr>
          <a:xfrm>
            <a:off x="8121701" y="1965960"/>
            <a:ext cx="3503066" cy="365760"/>
          </a:xfrm>
          <a:prstGeom prst="roundRect">
            <a:avLst>
              <a:gd name="adj" fmla="val 17500"/>
            </a:avLst>
          </a:prstGeom>
          <a:solidFill>
            <a:srgbClr val="673C78"/>
          </a:solidFill>
          <a:ln/>
        </p:spPr>
      </p:sp>
      <p:sp>
        <p:nvSpPr>
          <p:cNvPr id="23" name="Shape 21"/>
          <p:cNvSpPr/>
          <p:nvPr/>
        </p:nvSpPr>
        <p:spPr>
          <a:xfrm>
            <a:off x="8121701" y="2148840"/>
            <a:ext cx="3503066" cy="182880"/>
          </a:xfrm>
          <a:prstGeom prst="rect">
            <a:avLst/>
          </a:prstGeom>
          <a:solidFill>
            <a:srgbClr val="673C78"/>
          </a:solidFill>
          <a:ln/>
        </p:spPr>
      </p:sp>
      <p:sp>
        <p:nvSpPr>
          <p:cNvPr id="24" name="Shape 22"/>
          <p:cNvSpPr/>
          <p:nvPr/>
        </p:nvSpPr>
        <p:spPr>
          <a:xfrm>
            <a:off x="8213141" y="2029968"/>
            <a:ext cx="237744" cy="237744"/>
          </a:xfrm>
          <a:prstGeom prst="ellipse">
            <a:avLst/>
          </a:prstGeom>
          <a:solidFill>
            <a:srgbClr val="F46A03"/>
          </a:solidFill>
          <a:ln/>
        </p:spPr>
      </p:sp>
      <p:sp>
        <p:nvSpPr>
          <p:cNvPr id="25" name="Text 23"/>
          <p:cNvSpPr txBox="1"/>
          <p:nvPr/>
        </p:nvSpPr>
        <p:spPr>
          <a:xfrm>
            <a:off x="8213141" y="20299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5</a:t>
            </a:r>
            <a:endParaRPr lang="en-US" sz="1050" dirty="0"/>
          </a:p>
        </p:txBody>
      </p:sp>
      <p:sp>
        <p:nvSpPr>
          <p:cNvPr id="26" name="Text 24"/>
          <p:cNvSpPr txBox="1"/>
          <p:nvPr/>
        </p:nvSpPr>
        <p:spPr>
          <a:xfrm>
            <a:off x="8542325" y="1965960"/>
            <a:ext cx="2991002"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Interfaces utilisateur</a:t>
            </a:r>
            <a:endParaRPr lang="en-US" sz="1080" dirty="0"/>
          </a:p>
        </p:txBody>
      </p:sp>
      <p:sp>
        <p:nvSpPr>
          <p:cNvPr id="27" name="Shape 25"/>
          <p:cNvSpPr/>
          <p:nvPr/>
        </p:nvSpPr>
        <p:spPr>
          <a:xfrm>
            <a:off x="8213141" y="2423160"/>
            <a:ext cx="1660093" cy="566928"/>
          </a:xfrm>
          <a:prstGeom prst="roundRect">
            <a:avLst>
              <a:gd name="adj" fmla="val 9677"/>
            </a:avLst>
          </a:prstGeom>
          <a:solidFill>
            <a:srgbClr val="673C78"/>
          </a:solidFill>
          <a:ln/>
        </p:spPr>
      </p:sp>
      <p:sp>
        <p:nvSpPr>
          <p:cNvPr id="28" name="Text 26"/>
          <p:cNvSpPr txBox="1"/>
          <p:nvPr/>
        </p:nvSpPr>
        <p:spPr>
          <a:xfrm>
            <a:off x="8268005" y="2423160"/>
            <a:ext cx="1550365" cy="566928"/>
          </a:xfrm>
          <a:prstGeom prst="rect">
            <a:avLst/>
          </a:prstGeom>
          <a:noFill/>
          <a:ln/>
        </p:spPr>
        <p:txBody>
          <a:bodyPr wrap="square" lIns="0" tIns="0" rIns="0" bIns="0" rtlCol="0" anchor="ctr"/>
          <a:lstStyle/>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Dashboards</a:t>
            </a:r>
            <a:endParaRPr lang="en-US" sz="930" dirty="0"/>
          </a:p>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RH · Projets · Finance · BI</a:t>
            </a:r>
            <a:endParaRPr lang="en-US" sz="930" dirty="0"/>
          </a:p>
        </p:txBody>
      </p:sp>
      <p:sp>
        <p:nvSpPr>
          <p:cNvPr id="29" name="Shape 27"/>
          <p:cNvSpPr/>
          <p:nvPr/>
        </p:nvSpPr>
        <p:spPr>
          <a:xfrm>
            <a:off x="9964674" y="2423160"/>
            <a:ext cx="1660093" cy="566928"/>
          </a:xfrm>
          <a:prstGeom prst="roundRect">
            <a:avLst>
              <a:gd name="adj" fmla="val 9677"/>
            </a:avLst>
          </a:prstGeom>
          <a:solidFill>
            <a:srgbClr val="F46A03"/>
          </a:solidFill>
          <a:ln/>
        </p:spPr>
      </p:sp>
      <p:sp>
        <p:nvSpPr>
          <p:cNvPr id="30" name="Text 28"/>
          <p:cNvSpPr txBox="1"/>
          <p:nvPr/>
        </p:nvSpPr>
        <p:spPr>
          <a:xfrm>
            <a:off x="10019538" y="2423160"/>
            <a:ext cx="1550365" cy="566928"/>
          </a:xfrm>
          <a:prstGeom prst="rect">
            <a:avLst/>
          </a:prstGeom>
          <a:noFill/>
          <a:ln/>
        </p:spPr>
        <p:txBody>
          <a:bodyPr wrap="square" lIns="0" tIns="0" rIns="0" bIns="0" rtlCol="0" anchor="ctr"/>
          <a:lstStyle/>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Chatbot</a:t>
            </a:r>
            <a:endParaRPr lang="en-US" sz="930" dirty="0"/>
          </a:p>
          <a:p>
            <a:pPr algn="ctr" indent="0" marL="0">
              <a:lnSpc>
                <a:spcPct val="105000"/>
              </a:lnSpc>
              <a:buNone/>
            </a:pPr>
            <a:r>
              <a:rPr lang="en-US" sz="930" b="1" dirty="0">
                <a:solidFill>
                  <a:srgbClr val="FFFFFF"/>
                </a:solidFill>
                <a:latin typeface="Calibri" pitchFamily="34" charset="0"/>
                <a:ea typeface="Calibri" pitchFamily="34" charset="-122"/>
                <a:cs typeface="Calibri" pitchFamily="34" charset="-120"/>
              </a:rPr>
              <a:t>IA</a:t>
            </a:r>
            <a:endParaRPr lang="en-US" sz="930" dirty="0"/>
          </a:p>
        </p:txBody>
      </p:sp>
      <p:sp>
        <p:nvSpPr>
          <p:cNvPr id="31" name="Text 29"/>
          <p:cNvSpPr txBox="1"/>
          <p:nvPr/>
        </p:nvSpPr>
        <p:spPr>
          <a:xfrm>
            <a:off x="9818370" y="2423160"/>
            <a:ext cx="201168" cy="566928"/>
          </a:xfrm>
          <a:prstGeom prst="rect">
            <a:avLst/>
          </a:prstGeom>
          <a:noFill/>
          <a:ln/>
        </p:spPr>
        <p:txBody>
          <a:bodyPr wrap="square" lIns="0" tIns="0" rIns="0" bIns="0" rtlCol="0" anchor="ctr"/>
          <a:lstStyle/>
          <a:p>
            <a:pPr algn="ctr" indent="0" marL="0">
              <a:buNone/>
            </a:pPr>
            <a:r>
              <a:rPr lang="en-US" sz="1300" b="1" dirty="0">
                <a:solidFill>
                  <a:srgbClr val="767CA0"/>
                </a:solidFill>
                <a:latin typeface="Calibri" pitchFamily="34" charset="0"/>
                <a:ea typeface="Calibri" pitchFamily="34" charset="-122"/>
                <a:cs typeface="Calibri" pitchFamily="34" charset="-120"/>
              </a:rPr>
              <a:t>↔</a:t>
            </a:r>
            <a:endParaRPr lang="en-US" sz="1300" dirty="0"/>
          </a:p>
        </p:txBody>
      </p:sp>
      <p:sp>
        <p:nvSpPr>
          <p:cNvPr id="32" name="Shape 30"/>
          <p:cNvSpPr/>
          <p:nvPr/>
        </p:nvSpPr>
        <p:spPr>
          <a:xfrm>
            <a:off x="566928" y="3337560"/>
            <a:ext cx="3503066" cy="1554480"/>
          </a:xfrm>
          <a:prstGeom prst="roundRect">
            <a:avLst>
              <a:gd name="adj" fmla="val 4118"/>
            </a:avLst>
          </a:prstGeom>
          <a:solidFill>
            <a:srgbClr val="F1E9F6"/>
          </a:solidFill>
          <a:ln w="12700">
            <a:solidFill>
              <a:srgbClr val="DCC3E8"/>
            </a:solidFill>
            <a:prstDash val="solid"/>
          </a:ln>
        </p:spPr>
      </p:sp>
      <p:sp>
        <p:nvSpPr>
          <p:cNvPr id="33" name="Shape 31"/>
          <p:cNvSpPr/>
          <p:nvPr/>
        </p:nvSpPr>
        <p:spPr>
          <a:xfrm>
            <a:off x="566928" y="3337560"/>
            <a:ext cx="3503066" cy="365760"/>
          </a:xfrm>
          <a:prstGeom prst="roundRect">
            <a:avLst>
              <a:gd name="adj" fmla="val 17500"/>
            </a:avLst>
          </a:prstGeom>
          <a:solidFill>
            <a:srgbClr val="673C78"/>
          </a:solidFill>
          <a:ln/>
        </p:spPr>
      </p:sp>
      <p:sp>
        <p:nvSpPr>
          <p:cNvPr id="34" name="Shape 32"/>
          <p:cNvSpPr/>
          <p:nvPr/>
        </p:nvSpPr>
        <p:spPr>
          <a:xfrm>
            <a:off x="566928" y="3520440"/>
            <a:ext cx="3503066" cy="182880"/>
          </a:xfrm>
          <a:prstGeom prst="rect">
            <a:avLst/>
          </a:prstGeom>
          <a:solidFill>
            <a:srgbClr val="673C78"/>
          </a:solidFill>
          <a:ln/>
        </p:spPr>
      </p:sp>
      <p:sp>
        <p:nvSpPr>
          <p:cNvPr id="35" name="Shape 33"/>
          <p:cNvSpPr/>
          <p:nvPr/>
        </p:nvSpPr>
        <p:spPr>
          <a:xfrm>
            <a:off x="658368" y="3401568"/>
            <a:ext cx="237744" cy="237744"/>
          </a:xfrm>
          <a:prstGeom prst="ellipse">
            <a:avLst/>
          </a:prstGeom>
          <a:solidFill>
            <a:srgbClr val="F46A03"/>
          </a:solidFill>
          <a:ln/>
        </p:spPr>
      </p:sp>
      <p:sp>
        <p:nvSpPr>
          <p:cNvPr id="36" name="Text 34"/>
          <p:cNvSpPr txBox="1"/>
          <p:nvPr/>
        </p:nvSpPr>
        <p:spPr>
          <a:xfrm>
            <a:off x="658368" y="34015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2</a:t>
            </a:r>
            <a:endParaRPr lang="en-US" sz="1050" dirty="0"/>
          </a:p>
        </p:txBody>
      </p:sp>
      <p:sp>
        <p:nvSpPr>
          <p:cNvPr id="37" name="Text 35"/>
          <p:cNvSpPr txBox="1"/>
          <p:nvPr/>
        </p:nvSpPr>
        <p:spPr>
          <a:xfrm>
            <a:off x="987552" y="3337560"/>
            <a:ext cx="2991002"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Collecte &amp; traitement</a:t>
            </a:r>
            <a:endParaRPr lang="en-US" sz="1080" dirty="0"/>
          </a:p>
        </p:txBody>
      </p:sp>
      <p:sp>
        <p:nvSpPr>
          <p:cNvPr id="38" name="Shape 36"/>
          <p:cNvSpPr/>
          <p:nvPr/>
        </p:nvSpPr>
        <p:spPr>
          <a:xfrm>
            <a:off x="1449781" y="3776472"/>
            <a:ext cx="1737360" cy="777240"/>
          </a:xfrm>
          <a:prstGeom prst="diamond">
            <a:avLst/>
          </a:prstGeom>
          <a:solidFill>
            <a:srgbClr val="673C78"/>
          </a:solidFill>
          <a:ln/>
        </p:spPr>
      </p:sp>
      <p:sp>
        <p:nvSpPr>
          <p:cNvPr id="39" name="Text 37"/>
          <p:cNvSpPr txBox="1"/>
          <p:nvPr/>
        </p:nvSpPr>
        <p:spPr>
          <a:xfrm>
            <a:off x="1449781" y="3776472"/>
            <a:ext cx="1737360" cy="777240"/>
          </a:xfrm>
          <a:prstGeom prst="rect">
            <a:avLst/>
          </a:prstGeom>
          <a:noFill/>
          <a:ln/>
        </p:spPr>
        <p:txBody>
          <a:bodyPr wrap="square" lIns="0" tIns="0" rIns="0" bIns="0" rtlCol="0" anchor="ctr"/>
          <a:lstStyle/>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 30</a:t>
            </a: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Contrôleurs</a:t>
            </a:r>
            <a:endParaRPr lang="en-US" sz="900" dirty="0"/>
          </a:p>
          <a:p>
            <a:pPr algn="ctr" indent="0" marL="0">
              <a:lnSpc>
                <a:spcPct val="105000"/>
              </a:lnSpc>
              <a:buNone/>
            </a:pPr>
            <a:r>
              <a:rPr lang="en-US" sz="900" b="1" dirty="0">
                <a:solidFill>
                  <a:srgbClr val="FFFFFF"/>
                </a:solidFill>
                <a:latin typeface="Calibri" pitchFamily="34" charset="0"/>
                <a:ea typeface="Calibri" pitchFamily="34" charset="-122"/>
                <a:cs typeface="Calibri" pitchFamily="34" charset="-120"/>
              </a:rPr>
              <a:t>REST</a:t>
            </a:r>
            <a:endParaRPr lang="en-US" sz="900" dirty="0"/>
          </a:p>
        </p:txBody>
      </p:sp>
      <p:sp>
        <p:nvSpPr>
          <p:cNvPr id="40" name="Text 38"/>
          <p:cNvSpPr txBox="1"/>
          <p:nvPr/>
        </p:nvSpPr>
        <p:spPr>
          <a:xfrm>
            <a:off x="704088" y="4626864"/>
            <a:ext cx="3228746" cy="274320"/>
          </a:xfrm>
          <a:prstGeom prst="rect">
            <a:avLst/>
          </a:prstGeom>
          <a:noFill/>
          <a:ln/>
        </p:spPr>
        <p:txBody>
          <a:bodyPr wrap="square" lIns="0" tIns="0" rIns="0" bIns="0" rtlCol="0" anchor="ctr"/>
          <a:lstStyle/>
          <a:p>
            <a:pPr algn="ctr" indent="0" marL="0">
              <a:buNone/>
            </a:pPr>
            <a:r>
              <a:rPr lang="en-US" sz="870" i="1" dirty="0">
                <a:solidFill>
                  <a:srgbClr val="767CA0"/>
                </a:solidFill>
                <a:latin typeface="Calibri" pitchFamily="34" charset="0"/>
                <a:ea typeface="Calibri" pitchFamily="34" charset="-122"/>
                <a:cs typeface="Calibri" pitchFamily="34" charset="-120"/>
              </a:rPr>
              <a:t>3 SPA React · sécurisées par JWT</a:t>
            </a:r>
            <a:endParaRPr lang="en-US" sz="870" dirty="0"/>
          </a:p>
        </p:txBody>
      </p:sp>
      <p:sp>
        <p:nvSpPr>
          <p:cNvPr id="41" name="Shape 39"/>
          <p:cNvSpPr/>
          <p:nvPr/>
        </p:nvSpPr>
        <p:spPr>
          <a:xfrm>
            <a:off x="4344314" y="3337560"/>
            <a:ext cx="3503066" cy="1554480"/>
          </a:xfrm>
          <a:prstGeom prst="roundRect">
            <a:avLst>
              <a:gd name="adj" fmla="val 4118"/>
            </a:avLst>
          </a:prstGeom>
          <a:solidFill>
            <a:srgbClr val="F1E9F6"/>
          </a:solidFill>
          <a:ln w="12700">
            <a:solidFill>
              <a:srgbClr val="DCC3E8"/>
            </a:solidFill>
            <a:prstDash val="solid"/>
          </a:ln>
        </p:spPr>
      </p:sp>
      <p:sp>
        <p:nvSpPr>
          <p:cNvPr id="42" name="Shape 40"/>
          <p:cNvSpPr/>
          <p:nvPr/>
        </p:nvSpPr>
        <p:spPr>
          <a:xfrm>
            <a:off x="4344314" y="3337560"/>
            <a:ext cx="3503066" cy="365760"/>
          </a:xfrm>
          <a:prstGeom prst="roundRect">
            <a:avLst>
              <a:gd name="adj" fmla="val 17500"/>
            </a:avLst>
          </a:prstGeom>
          <a:solidFill>
            <a:srgbClr val="673C78"/>
          </a:solidFill>
          <a:ln/>
        </p:spPr>
      </p:sp>
      <p:sp>
        <p:nvSpPr>
          <p:cNvPr id="43" name="Shape 41"/>
          <p:cNvSpPr/>
          <p:nvPr/>
        </p:nvSpPr>
        <p:spPr>
          <a:xfrm>
            <a:off x="4344314" y="3520440"/>
            <a:ext cx="3503066" cy="182880"/>
          </a:xfrm>
          <a:prstGeom prst="rect">
            <a:avLst/>
          </a:prstGeom>
          <a:solidFill>
            <a:srgbClr val="673C78"/>
          </a:solidFill>
          <a:ln/>
        </p:spPr>
      </p:sp>
      <p:sp>
        <p:nvSpPr>
          <p:cNvPr id="44" name="Shape 42"/>
          <p:cNvSpPr/>
          <p:nvPr/>
        </p:nvSpPr>
        <p:spPr>
          <a:xfrm>
            <a:off x="4435754" y="3401568"/>
            <a:ext cx="237744" cy="237744"/>
          </a:xfrm>
          <a:prstGeom prst="ellipse">
            <a:avLst/>
          </a:prstGeom>
          <a:solidFill>
            <a:srgbClr val="F46A03"/>
          </a:solidFill>
          <a:ln/>
        </p:spPr>
      </p:sp>
      <p:sp>
        <p:nvSpPr>
          <p:cNvPr id="45" name="Text 43"/>
          <p:cNvSpPr txBox="1"/>
          <p:nvPr/>
        </p:nvSpPr>
        <p:spPr>
          <a:xfrm>
            <a:off x="4435754" y="34015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3</a:t>
            </a:r>
            <a:endParaRPr lang="en-US" sz="1050" dirty="0"/>
          </a:p>
        </p:txBody>
      </p:sp>
      <p:sp>
        <p:nvSpPr>
          <p:cNvPr id="46" name="Text 44"/>
          <p:cNvSpPr txBox="1"/>
          <p:nvPr/>
        </p:nvSpPr>
        <p:spPr>
          <a:xfrm>
            <a:off x="4764938" y="3337560"/>
            <a:ext cx="2991002"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Stockage</a:t>
            </a:r>
            <a:endParaRPr lang="en-US" sz="1080" dirty="0"/>
          </a:p>
        </p:txBody>
      </p:sp>
      <p:sp>
        <p:nvSpPr>
          <p:cNvPr id="47" name="Shape 45"/>
          <p:cNvSpPr/>
          <p:nvPr/>
        </p:nvSpPr>
        <p:spPr>
          <a:xfrm>
            <a:off x="4998568" y="3840480"/>
            <a:ext cx="2194560" cy="420624"/>
          </a:xfrm>
          <a:prstGeom prst="roundRect">
            <a:avLst>
              <a:gd name="adj" fmla="val 13043"/>
            </a:avLst>
          </a:prstGeom>
          <a:solidFill>
            <a:srgbClr val="F46A03"/>
          </a:solidFill>
          <a:ln/>
        </p:spPr>
      </p:sp>
      <p:sp>
        <p:nvSpPr>
          <p:cNvPr id="48" name="Text 46"/>
          <p:cNvSpPr txBox="1"/>
          <p:nvPr/>
        </p:nvSpPr>
        <p:spPr>
          <a:xfrm>
            <a:off x="5053432" y="3840480"/>
            <a:ext cx="2084832" cy="420624"/>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PostgreSQL</a:t>
            </a:r>
            <a:endParaRPr lang="en-US" sz="1200" dirty="0"/>
          </a:p>
        </p:txBody>
      </p:sp>
      <p:sp>
        <p:nvSpPr>
          <p:cNvPr id="49" name="Shape 47"/>
          <p:cNvSpPr/>
          <p:nvPr/>
        </p:nvSpPr>
        <p:spPr>
          <a:xfrm>
            <a:off x="4527194" y="4343400"/>
            <a:ext cx="3137306" cy="274320"/>
          </a:xfrm>
          <a:prstGeom prst="roundRect">
            <a:avLst>
              <a:gd name="adj" fmla="val 20000"/>
            </a:avLst>
          </a:prstGeom>
          <a:solidFill>
            <a:srgbClr val="673C78"/>
          </a:solidFill>
          <a:ln/>
        </p:spPr>
      </p:sp>
      <p:sp>
        <p:nvSpPr>
          <p:cNvPr id="50" name="Text 48"/>
          <p:cNvSpPr txBox="1"/>
          <p:nvPr/>
        </p:nvSpPr>
        <p:spPr>
          <a:xfrm>
            <a:off x="4582058" y="4343400"/>
            <a:ext cx="3027578" cy="274320"/>
          </a:xfrm>
          <a:prstGeom prst="rect">
            <a:avLst/>
          </a:prstGeom>
          <a:noFill/>
          <a:ln/>
        </p:spPr>
        <p:txBody>
          <a:bodyPr wrap="square" lIns="0" tIns="0" rIns="0" bIns="0" rtlCol="0" anchor="ctr"/>
          <a:lstStyle/>
          <a:p>
            <a:pPr algn="ctr" indent="0" marL="0">
              <a:lnSpc>
                <a:spcPct val="105000"/>
              </a:lnSpc>
              <a:buNone/>
            </a:pPr>
            <a:r>
              <a:rPr lang="en-US" sz="830" b="1" dirty="0">
                <a:solidFill>
                  <a:srgbClr val="FFFFFF"/>
                </a:solidFill>
                <a:latin typeface="Calibri" pitchFamily="34" charset="0"/>
                <a:ea typeface="Calibri" pitchFamily="34" charset="-122"/>
                <a:cs typeface="Calibri" pitchFamily="34" charset="-120"/>
              </a:rPr>
              <a:t>Schéma transactionnel</a:t>
            </a:r>
            <a:endParaRPr lang="en-US" sz="830" dirty="0"/>
          </a:p>
        </p:txBody>
      </p:sp>
      <p:sp>
        <p:nvSpPr>
          <p:cNvPr id="51" name="Shape 49"/>
          <p:cNvSpPr/>
          <p:nvPr/>
        </p:nvSpPr>
        <p:spPr>
          <a:xfrm>
            <a:off x="4527194" y="4663440"/>
            <a:ext cx="3137306" cy="274320"/>
          </a:xfrm>
          <a:prstGeom prst="roundRect">
            <a:avLst>
              <a:gd name="adj" fmla="val 20000"/>
            </a:avLst>
          </a:prstGeom>
          <a:solidFill>
            <a:srgbClr val="673C78"/>
          </a:solidFill>
          <a:ln/>
        </p:spPr>
      </p:sp>
      <p:sp>
        <p:nvSpPr>
          <p:cNvPr id="52" name="Text 50"/>
          <p:cNvSpPr txBox="1"/>
          <p:nvPr/>
        </p:nvSpPr>
        <p:spPr>
          <a:xfrm>
            <a:off x="4582058" y="4663440"/>
            <a:ext cx="3027578" cy="274320"/>
          </a:xfrm>
          <a:prstGeom prst="rect">
            <a:avLst/>
          </a:prstGeom>
          <a:noFill/>
          <a:ln/>
        </p:spPr>
        <p:txBody>
          <a:bodyPr wrap="square" lIns="0" tIns="0" rIns="0" bIns="0" rtlCol="0" anchor="ctr"/>
          <a:lstStyle/>
          <a:p>
            <a:pPr algn="ctr" indent="0" marL="0">
              <a:lnSpc>
                <a:spcPct val="105000"/>
              </a:lnSpc>
              <a:buNone/>
            </a:pPr>
            <a:r>
              <a:rPr lang="en-US" sz="830" b="1" dirty="0">
                <a:solidFill>
                  <a:srgbClr val="FFFFFF"/>
                </a:solidFill>
                <a:latin typeface="Calibri" pitchFamily="34" charset="0"/>
                <a:ea typeface="Calibri" pitchFamily="34" charset="-122"/>
                <a:cs typeface="Calibri" pitchFamily="34" charset="-120"/>
              </a:rPr>
              <a:t>Entrepôt dwh (étoile)</a:t>
            </a:r>
            <a:endParaRPr lang="en-US" sz="830" dirty="0"/>
          </a:p>
        </p:txBody>
      </p:sp>
      <p:sp>
        <p:nvSpPr>
          <p:cNvPr id="53" name="Shape 51"/>
          <p:cNvSpPr/>
          <p:nvPr/>
        </p:nvSpPr>
        <p:spPr>
          <a:xfrm>
            <a:off x="8121701" y="3337560"/>
            <a:ext cx="3503066" cy="1554480"/>
          </a:xfrm>
          <a:prstGeom prst="roundRect">
            <a:avLst>
              <a:gd name="adj" fmla="val 4118"/>
            </a:avLst>
          </a:prstGeom>
          <a:solidFill>
            <a:srgbClr val="F1E9F6"/>
          </a:solidFill>
          <a:ln w="12700">
            <a:solidFill>
              <a:srgbClr val="DCC3E8"/>
            </a:solidFill>
            <a:prstDash val="solid"/>
          </a:ln>
        </p:spPr>
      </p:sp>
      <p:sp>
        <p:nvSpPr>
          <p:cNvPr id="54" name="Shape 52"/>
          <p:cNvSpPr/>
          <p:nvPr/>
        </p:nvSpPr>
        <p:spPr>
          <a:xfrm>
            <a:off x="8121701" y="3337560"/>
            <a:ext cx="3503066" cy="365760"/>
          </a:xfrm>
          <a:prstGeom prst="roundRect">
            <a:avLst>
              <a:gd name="adj" fmla="val 17500"/>
            </a:avLst>
          </a:prstGeom>
          <a:solidFill>
            <a:srgbClr val="673C78"/>
          </a:solidFill>
          <a:ln/>
        </p:spPr>
      </p:sp>
      <p:sp>
        <p:nvSpPr>
          <p:cNvPr id="55" name="Shape 53"/>
          <p:cNvSpPr/>
          <p:nvPr/>
        </p:nvSpPr>
        <p:spPr>
          <a:xfrm>
            <a:off x="8121701" y="3520440"/>
            <a:ext cx="3503066" cy="182880"/>
          </a:xfrm>
          <a:prstGeom prst="rect">
            <a:avLst/>
          </a:prstGeom>
          <a:solidFill>
            <a:srgbClr val="673C78"/>
          </a:solidFill>
          <a:ln/>
        </p:spPr>
      </p:sp>
      <p:sp>
        <p:nvSpPr>
          <p:cNvPr id="56" name="Shape 54"/>
          <p:cNvSpPr/>
          <p:nvPr/>
        </p:nvSpPr>
        <p:spPr>
          <a:xfrm>
            <a:off x="8213141" y="3401568"/>
            <a:ext cx="237744" cy="237744"/>
          </a:xfrm>
          <a:prstGeom prst="ellipse">
            <a:avLst/>
          </a:prstGeom>
          <a:solidFill>
            <a:srgbClr val="F46A03"/>
          </a:solidFill>
          <a:ln/>
        </p:spPr>
      </p:sp>
      <p:sp>
        <p:nvSpPr>
          <p:cNvPr id="57" name="Text 55"/>
          <p:cNvSpPr txBox="1"/>
          <p:nvPr/>
        </p:nvSpPr>
        <p:spPr>
          <a:xfrm>
            <a:off x="8213141" y="3401568"/>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4</a:t>
            </a:r>
            <a:endParaRPr lang="en-US" sz="1050" dirty="0"/>
          </a:p>
        </p:txBody>
      </p:sp>
      <p:sp>
        <p:nvSpPr>
          <p:cNvPr id="58" name="Text 56"/>
          <p:cNvSpPr txBox="1"/>
          <p:nvPr/>
        </p:nvSpPr>
        <p:spPr>
          <a:xfrm>
            <a:off x="8542325" y="3337560"/>
            <a:ext cx="2991002"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Logique &amp; intelligence</a:t>
            </a:r>
            <a:endParaRPr lang="en-US" sz="1080" dirty="0"/>
          </a:p>
        </p:txBody>
      </p:sp>
      <p:sp>
        <p:nvSpPr>
          <p:cNvPr id="59" name="Shape 57"/>
          <p:cNvSpPr/>
          <p:nvPr/>
        </p:nvSpPr>
        <p:spPr>
          <a:xfrm>
            <a:off x="8213141" y="3840480"/>
            <a:ext cx="1660093" cy="914400"/>
          </a:xfrm>
          <a:prstGeom prst="roundRect">
            <a:avLst>
              <a:gd name="adj" fmla="val 6000"/>
            </a:avLst>
          </a:prstGeom>
          <a:solidFill>
            <a:srgbClr val="673C78"/>
          </a:solidFill>
          <a:ln/>
        </p:spPr>
      </p:sp>
      <p:sp>
        <p:nvSpPr>
          <p:cNvPr id="60" name="Text 58"/>
          <p:cNvSpPr txBox="1"/>
          <p:nvPr/>
        </p:nvSpPr>
        <p:spPr>
          <a:xfrm>
            <a:off x="8268005" y="3840480"/>
            <a:ext cx="1550365" cy="914400"/>
          </a:xfrm>
          <a:prstGeom prst="rect">
            <a:avLst/>
          </a:prstGeom>
          <a:noFill/>
          <a:ln/>
        </p:spPr>
        <p:txBody>
          <a:bodyPr wrap="square" lIns="0" tIns="0" rIns="0" bIns="0" rtlCol="0" anchor="ctr"/>
          <a:lstStyle/>
          <a:p>
            <a:pPr algn="ctr" indent="0" marL="0">
              <a:lnSpc>
                <a:spcPct val="105000"/>
              </a:lnSpc>
              <a:buNone/>
            </a:pPr>
            <a:r>
              <a:rPr lang="en-US" sz="860" b="1" dirty="0">
                <a:solidFill>
                  <a:srgbClr val="FFFFFF"/>
                </a:solidFill>
                <a:latin typeface="Calibri" pitchFamily="34" charset="0"/>
                <a:ea typeface="Calibri" pitchFamily="34" charset="-122"/>
                <a:cs typeface="Calibri" pitchFamily="34" charset="-120"/>
              </a:rPr>
              <a:t>Services métier</a:t>
            </a:r>
            <a:endParaRPr lang="en-US" sz="860" dirty="0"/>
          </a:p>
          <a:p>
            <a:pPr algn="ctr" indent="0" marL="0">
              <a:lnSpc>
                <a:spcPct val="105000"/>
              </a:lnSpc>
              <a:buNone/>
            </a:pPr>
            <a:r>
              <a:rPr lang="en-US" sz="860" b="1" dirty="0">
                <a:solidFill>
                  <a:srgbClr val="FFFFFF"/>
                </a:solidFill>
                <a:latin typeface="Calibri" pitchFamily="34" charset="0"/>
                <a:ea typeface="Calibri" pitchFamily="34" charset="-122"/>
                <a:cs typeface="Calibri" pitchFamily="34" charset="-120"/>
              </a:rPr>
              <a:t>Spring Boot</a:t>
            </a:r>
            <a:endParaRPr lang="en-US" sz="860" dirty="0"/>
          </a:p>
          <a:p>
            <a:pPr algn="ctr" indent="0" marL="0">
              <a:lnSpc>
                <a:spcPct val="105000"/>
              </a:lnSpc>
              <a:buNone/>
            </a:pPr>
            <a:r>
              <a:rPr lang="en-US" sz="860" b="1" dirty="0">
                <a:solidFill>
                  <a:srgbClr val="FFFFFF"/>
                </a:solidFill>
                <a:latin typeface="Calibri" pitchFamily="34" charset="0"/>
                <a:ea typeface="Calibri" pitchFamily="34" charset="-122"/>
                <a:cs typeface="Calibri" pitchFamily="34" charset="-120"/>
              </a:rPr>
              <a:t>(règles, calculs)</a:t>
            </a:r>
            <a:endParaRPr lang="en-US" sz="860" dirty="0"/>
          </a:p>
        </p:txBody>
      </p:sp>
      <p:sp>
        <p:nvSpPr>
          <p:cNvPr id="61" name="Shape 59"/>
          <p:cNvSpPr/>
          <p:nvPr/>
        </p:nvSpPr>
        <p:spPr>
          <a:xfrm>
            <a:off x="9964674" y="3840480"/>
            <a:ext cx="1660093" cy="914400"/>
          </a:xfrm>
          <a:prstGeom prst="roundRect">
            <a:avLst>
              <a:gd name="adj" fmla="val 6000"/>
            </a:avLst>
          </a:prstGeom>
          <a:solidFill>
            <a:srgbClr val="F46A03"/>
          </a:solidFill>
          <a:ln/>
        </p:spPr>
      </p:sp>
      <p:sp>
        <p:nvSpPr>
          <p:cNvPr id="62" name="Text 60"/>
          <p:cNvSpPr txBox="1"/>
          <p:nvPr/>
        </p:nvSpPr>
        <p:spPr>
          <a:xfrm>
            <a:off x="10019538" y="3840480"/>
            <a:ext cx="1550365" cy="914400"/>
          </a:xfrm>
          <a:prstGeom prst="rect">
            <a:avLst/>
          </a:prstGeom>
          <a:noFill/>
          <a:ln/>
        </p:spPr>
        <p:txBody>
          <a:bodyPr wrap="square" lIns="0" tIns="0" rIns="0" bIns="0" rtlCol="0" anchor="ctr"/>
          <a:lstStyle/>
          <a:p>
            <a:pPr algn="ctr" indent="0" marL="0">
              <a:lnSpc>
                <a:spcPct val="105000"/>
              </a:lnSpc>
              <a:buNone/>
            </a:pPr>
            <a:r>
              <a:rPr lang="en-US" sz="860" b="1" dirty="0">
                <a:solidFill>
                  <a:srgbClr val="FFFFFF"/>
                </a:solidFill>
                <a:latin typeface="Calibri" pitchFamily="34" charset="0"/>
                <a:ea typeface="Calibri" pitchFamily="34" charset="-122"/>
                <a:cs typeface="Calibri" pitchFamily="34" charset="-120"/>
              </a:rPr>
              <a:t>GPT-4o +</a:t>
            </a:r>
            <a:endParaRPr lang="en-US" sz="860" dirty="0"/>
          </a:p>
          <a:p>
            <a:pPr algn="ctr" indent="0" marL="0">
              <a:lnSpc>
                <a:spcPct val="105000"/>
              </a:lnSpc>
              <a:buNone/>
            </a:pPr>
            <a:r>
              <a:rPr lang="en-US" sz="860" b="1" dirty="0">
                <a:solidFill>
                  <a:srgbClr val="FFFFFF"/>
                </a:solidFill>
                <a:latin typeface="Calibri" pitchFamily="34" charset="0"/>
                <a:ea typeface="Calibri" pitchFamily="34" charset="-122"/>
                <a:cs typeface="Calibri" pitchFamily="34" charset="-120"/>
              </a:rPr>
              <a:t>RAG hybride</a:t>
            </a:r>
            <a:endParaRPr lang="en-US" sz="860" dirty="0"/>
          </a:p>
          <a:p>
            <a:pPr algn="ctr" indent="0" marL="0">
              <a:lnSpc>
                <a:spcPct val="105000"/>
              </a:lnSpc>
              <a:buNone/>
            </a:pPr>
            <a:r>
              <a:rPr lang="en-US" sz="860" b="1" dirty="0">
                <a:solidFill>
                  <a:srgbClr val="FFFFFF"/>
                </a:solidFill>
                <a:latin typeface="Calibri" pitchFamily="34" charset="0"/>
                <a:ea typeface="Calibri" pitchFamily="34" charset="-122"/>
                <a:cs typeface="Calibri" pitchFamily="34" charset="-120"/>
              </a:rPr>
              <a:t>(LangChain4j)</a:t>
            </a:r>
            <a:endParaRPr lang="en-US" sz="860" dirty="0"/>
          </a:p>
        </p:txBody>
      </p:sp>
      <p:sp>
        <p:nvSpPr>
          <p:cNvPr id="63" name="Text 61"/>
          <p:cNvSpPr txBox="1"/>
          <p:nvPr/>
        </p:nvSpPr>
        <p:spPr>
          <a:xfrm>
            <a:off x="9818370" y="3840480"/>
            <a:ext cx="201168" cy="914400"/>
          </a:xfrm>
          <a:prstGeom prst="rect">
            <a:avLst/>
          </a:prstGeom>
          <a:noFill/>
          <a:ln/>
        </p:spPr>
        <p:txBody>
          <a:bodyPr wrap="square" lIns="0" tIns="0" rIns="0" bIns="0" rtlCol="0" anchor="ctr"/>
          <a:lstStyle/>
          <a:p>
            <a:pPr algn="ctr" indent="0" marL="0">
              <a:buNone/>
            </a:pPr>
            <a:r>
              <a:rPr lang="en-US" sz="1300" b="1" dirty="0">
                <a:solidFill>
                  <a:srgbClr val="767CA0"/>
                </a:solidFill>
                <a:latin typeface="Calibri" pitchFamily="34" charset="0"/>
                <a:ea typeface="Calibri" pitchFamily="34" charset="-122"/>
                <a:cs typeface="Calibri" pitchFamily="34" charset="-120"/>
              </a:rPr>
              <a:t>↔</a:t>
            </a:r>
            <a:endParaRPr lang="en-US" sz="1300" dirty="0"/>
          </a:p>
        </p:txBody>
      </p:sp>
      <p:sp>
        <p:nvSpPr>
          <p:cNvPr id="64" name="Shape 62"/>
          <p:cNvSpPr/>
          <p:nvPr/>
        </p:nvSpPr>
        <p:spPr>
          <a:xfrm>
            <a:off x="2199589" y="3136392"/>
            <a:ext cx="237744" cy="173736"/>
          </a:xfrm>
          <a:prstGeom prst="downArrow">
            <a:avLst/>
          </a:prstGeom>
          <a:solidFill>
            <a:srgbClr val="673C78"/>
          </a:solidFill>
          <a:ln/>
        </p:spPr>
      </p:sp>
      <p:sp>
        <p:nvSpPr>
          <p:cNvPr id="65" name="Shape 63"/>
          <p:cNvSpPr/>
          <p:nvPr/>
        </p:nvSpPr>
        <p:spPr>
          <a:xfrm>
            <a:off x="4106570" y="4014216"/>
            <a:ext cx="201168" cy="201168"/>
          </a:xfrm>
          <a:prstGeom prst="rightArrow">
            <a:avLst/>
          </a:prstGeom>
          <a:solidFill>
            <a:srgbClr val="673C78"/>
          </a:solidFill>
          <a:ln/>
        </p:spPr>
      </p:sp>
      <p:sp>
        <p:nvSpPr>
          <p:cNvPr id="66" name="Shape 64"/>
          <p:cNvSpPr/>
          <p:nvPr/>
        </p:nvSpPr>
        <p:spPr>
          <a:xfrm>
            <a:off x="7874813" y="4014216"/>
            <a:ext cx="219456" cy="201168"/>
          </a:xfrm>
          <a:prstGeom prst="leftRightArrow">
            <a:avLst/>
          </a:prstGeom>
          <a:solidFill>
            <a:srgbClr val="F46A03"/>
          </a:solidFill>
          <a:ln/>
        </p:spPr>
      </p:sp>
      <p:sp>
        <p:nvSpPr>
          <p:cNvPr id="67" name="Shape 65"/>
          <p:cNvSpPr/>
          <p:nvPr/>
        </p:nvSpPr>
        <p:spPr>
          <a:xfrm>
            <a:off x="8942603" y="3136392"/>
            <a:ext cx="201168" cy="173736"/>
          </a:xfrm>
          <a:prstGeom prst="upArrow">
            <a:avLst/>
          </a:prstGeom>
          <a:solidFill>
            <a:srgbClr val="673C78"/>
          </a:solidFill>
          <a:ln/>
        </p:spPr>
      </p:sp>
      <p:sp>
        <p:nvSpPr>
          <p:cNvPr id="68" name="Shape 66"/>
          <p:cNvSpPr/>
          <p:nvPr/>
        </p:nvSpPr>
        <p:spPr>
          <a:xfrm>
            <a:off x="10694137" y="3136392"/>
            <a:ext cx="201168" cy="173736"/>
          </a:xfrm>
          <a:prstGeom prst="upArrow">
            <a:avLst/>
          </a:prstGeom>
          <a:solidFill>
            <a:srgbClr val="F46A03"/>
          </a:solidFill>
          <a:ln/>
        </p:spPr>
      </p:sp>
      <p:sp>
        <p:nvSpPr>
          <p:cNvPr id="69" name="Shape 67"/>
          <p:cNvSpPr/>
          <p:nvPr/>
        </p:nvSpPr>
        <p:spPr>
          <a:xfrm>
            <a:off x="566928" y="5074920"/>
            <a:ext cx="11057839" cy="457200"/>
          </a:xfrm>
          <a:prstGeom prst="roundRect">
            <a:avLst>
              <a:gd name="adj" fmla="val 16000"/>
            </a:avLst>
          </a:prstGeom>
          <a:solidFill>
            <a:srgbClr val="673C78"/>
          </a:solidFill>
          <a:ln/>
        </p:spPr>
      </p:sp>
      <p:sp>
        <p:nvSpPr>
          <p:cNvPr id="70" name="Shape 68"/>
          <p:cNvSpPr/>
          <p:nvPr/>
        </p:nvSpPr>
        <p:spPr>
          <a:xfrm>
            <a:off x="694944" y="5148072"/>
            <a:ext cx="310896" cy="310896"/>
          </a:xfrm>
          <a:prstGeom prst="ellipse">
            <a:avLst/>
          </a:prstGeom>
          <a:solidFill>
            <a:srgbClr val="F46A03"/>
          </a:solidFill>
          <a:ln/>
        </p:spPr>
      </p:sp>
      <p:pic>
        <p:nvPicPr>
          <p:cNvPr id="71" name="Image 0" descr="C:\Users\yosrk\AppData\Local\Temp\claude\c--Users-yosrk-OneDrive-Bureau-RHpfe-Antigone-RH\f59fd8f1-a1b7-4e96-84d6-6d2a4296fa99\scratchpad\pfe-soutenance\icons\key.png">    </p:cNvPr>
          <p:cNvPicPr>
            <a:picLocks noChangeAspect="1"/>
          </p:cNvPicPr>
          <p:nvPr/>
        </p:nvPicPr>
        <p:blipFill>
          <a:blip r:embed="rId1"/>
          <a:stretch>
            <a:fillRect/>
          </a:stretch>
        </p:blipFill>
        <p:spPr>
          <a:xfrm>
            <a:off x="738469" y="5191597"/>
            <a:ext cx="223845" cy="223845"/>
          </a:xfrm>
          <a:prstGeom prst="rect">
            <a:avLst/>
          </a:prstGeom>
        </p:spPr>
      </p:pic>
      <p:sp>
        <p:nvSpPr>
          <p:cNvPr id="72" name="Text 69"/>
          <p:cNvSpPr txBox="1"/>
          <p:nvPr/>
        </p:nvSpPr>
        <p:spPr>
          <a:xfrm>
            <a:off x="1133856" y="5074920"/>
            <a:ext cx="10280599" cy="4572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Sécurité transverse — authentification JWT et permissions granulaires (RBAC) sur l’ensemble des flux, de la source à l’interface.</a:t>
            </a:r>
            <a:endParaRPr lang="en-US" sz="1100" dirty="0"/>
          </a:p>
        </p:txBody>
      </p:sp>
      <p:sp>
        <p:nvSpPr>
          <p:cNvPr id="73" name="Text 70"/>
          <p:cNvSpPr txBox="1"/>
          <p:nvPr/>
        </p:nvSpPr>
        <p:spPr>
          <a:xfrm>
            <a:off x="566928" y="5623560"/>
            <a:ext cx="11057839" cy="274320"/>
          </a:xfrm>
          <a:prstGeom prst="rect">
            <a:avLst/>
          </a:prstGeom>
          <a:noFill/>
          <a:ln/>
        </p:spPr>
        <p:txBody>
          <a:bodyPr wrap="square" lIns="0" tIns="0" rIns="0" bIns="0" rtlCol="0" anchor="ctr"/>
          <a:lstStyle/>
          <a:p>
            <a:pPr indent="0" marL="0">
              <a:buNone/>
            </a:pPr>
            <a:r>
              <a:rPr lang="en-US" sz="1200" b="1" dirty="0">
                <a:solidFill>
                  <a:srgbClr val="141B3C"/>
                </a:solidFill>
                <a:latin typeface="Cambria" pitchFamily="34" charset="0"/>
                <a:ea typeface="Cambria" pitchFamily="34" charset="-122"/>
                <a:cs typeface="Cambria" pitchFamily="34" charset="-120"/>
              </a:rPr>
              <a:t>Architecture globale du système — Antigone 360°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06</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05 · MÉTHODOLOGIE ADOPTÉE</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Une conduite agile, en cinq releases livrables</a:t>
            </a:r>
            <a:endParaRPr lang="en-US" sz="3000" dirty="0"/>
          </a:p>
        </p:txBody>
      </p:sp>
      <p:sp>
        <p:nvSpPr>
          <p:cNvPr id="6" name="Text 4"/>
          <p:cNvSpPr txBox="1"/>
          <p:nvPr/>
        </p:nvSpPr>
        <p:spPr>
          <a:xfrm>
            <a:off x="566928" y="1645920"/>
            <a:ext cx="6492240" cy="1828800"/>
          </a:xfrm>
          <a:prstGeom prst="rect">
            <a:avLst/>
          </a:prstGeom>
          <a:noFill/>
          <a:ln/>
        </p:spPr>
        <p:txBody>
          <a:bodyPr wrap="square" lIns="0" tIns="0" rIns="0" bIns="0" rtlCol="0" anchor="ctr"/>
          <a:lstStyle/>
          <a:p>
            <a:pPr marL="177800" indent="-177800">
              <a:lnSpc>
                <a:spcPct val="128000"/>
              </a:lnSpc>
              <a:spcAft>
                <a:spcPts val="1200"/>
              </a:spcAft>
              <a:buSzPct val="100000"/>
              <a:buChar char="•"/>
            </a:pPr>
            <a:r>
              <a:rPr lang="en-US" sz="1350" dirty="0">
                <a:solidFill>
                  <a:srgbClr val="3A3F5C"/>
                </a:solidFill>
                <a:latin typeface="Calibri" pitchFamily="34" charset="0"/>
                <a:ea typeface="Calibri" pitchFamily="34" charset="-122"/>
                <a:cs typeface="Calibri" pitchFamily="34" charset="-120"/>
              </a:rPr>
              <a:t>Méthode SCRUM plutôt qu’une planification en cascade : garder à tout moment un produit livrable et testable, même en solo.</a:t>
            </a:r>
            <a:endParaRPr lang="en-US" sz="1350" dirty="0"/>
          </a:p>
          <a:p>
            <a:pPr marL="177800" indent="-177800">
              <a:lnSpc>
                <a:spcPct val="128000"/>
              </a:lnSpc>
              <a:spcAft>
                <a:spcPts val="1200"/>
              </a:spcAft>
              <a:buSzPct val="100000"/>
              <a:buChar char="•"/>
            </a:pPr>
            <a:r>
              <a:rPr lang="en-US" sz="1350" dirty="0">
                <a:solidFill>
                  <a:srgbClr val="3A3F5C"/>
                </a:solidFill>
                <a:latin typeface="Calibri" pitchFamily="34" charset="0"/>
                <a:ea typeface="Calibri" pitchFamily="34" charset="-122"/>
                <a:cs typeface="Calibri" pitchFamily="34" charset="-120"/>
              </a:rPr>
              <a:t>Backlog produit : 17 epics issues des besoins fonctionnels, priorisées selon MoSCoW.</a:t>
            </a:r>
            <a:endParaRPr lang="en-US" sz="1350" dirty="0"/>
          </a:p>
          <a:p>
            <a:pPr marL="177800" indent="-177800">
              <a:lnSpc>
                <a:spcPct val="128000"/>
              </a:lnSpc>
              <a:spcAft>
                <a:spcPts val="1200"/>
              </a:spcAft>
              <a:buSzPct val="100000"/>
              <a:buChar char="•"/>
            </a:pPr>
            <a:r>
              <a:rPr lang="en-US" sz="1350" dirty="0">
                <a:solidFill>
                  <a:srgbClr val="3A3F5C"/>
                </a:solidFill>
                <a:latin typeface="Calibri" pitchFamily="34" charset="0"/>
                <a:ea typeface="Calibri" pitchFamily="34" charset="-122"/>
                <a:cs typeface="Calibri" pitchFamily="34" charset="-120"/>
              </a:rPr>
              <a:t>Sprints de deux semaines sur 6 mois, regroupés en cinq releases fonctionnelles.</a:t>
            </a:r>
            <a:endParaRPr lang="en-US" sz="1350" dirty="0"/>
          </a:p>
        </p:txBody>
      </p:sp>
      <p:sp>
        <p:nvSpPr>
          <p:cNvPr id="7" name="Shape 5"/>
          <p:cNvSpPr/>
          <p:nvPr/>
        </p:nvSpPr>
        <p:spPr>
          <a:xfrm>
            <a:off x="7315200" y="1645920"/>
            <a:ext cx="4297680" cy="1874520"/>
          </a:xfrm>
          <a:prstGeom prst="roundRect">
            <a:avLst>
              <a:gd name="adj" fmla="val 3902"/>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8" name="Text 6"/>
          <p:cNvSpPr txBox="1"/>
          <p:nvPr/>
        </p:nvSpPr>
        <p:spPr>
          <a:xfrm>
            <a:off x="7543800" y="1801368"/>
            <a:ext cx="3840480" cy="292608"/>
          </a:xfrm>
          <a:prstGeom prst="rect">
            <a:avLst/>
          </a:prstGeom>
          <a:noFill/>
          <a:ln/>
        </p:spPr>
        <p:txBody>
          <a:bodyPr wrap="square" lIns="0" tIns="0" rIns="0" bIns="0" rtlCol="0" anchor="ctr"/>
          <a:lstStyle/>
          <a:p>
            <a:pPr indent="0" marL="0">
              <a:buNone/>
            </a:pPr>
            <a:r>
              <a:rPr lang="en-US" sz="1250" b="1" dirty="0">
                <a:solidFill>
                  <a:srgbClr val="141B3C"/>
                </a:solidFill>
                <a:latin typeface="Calibri" pitchFamily="34" charset="0"/>
                <a:ea typeface="Calibri" pitchFamily="34" charset="-122"/>
                <a:cs typeface="Calibri" pitchFamily="34" charset="-120"/>
              </a:rPr>
              <a:t>Backlog — 17 epics (MoSCoW)</a:t>
            </a:r>
            <a:endParaRPr lang="en-US" sz="1250" dirty="0"/>
          </a:p>
        </p:txBody>
      </p:sp>
      <p:sp>
        <p:nvSpPr>
          <p:cNvPr id="9" name="Shape 7"/>
          <p:cNvSpPr/>
          <p:nvPr/>
        </p:nvSpPr>
        <p:spPr>
          <a:xfrm>
            <a:off x="7543800" y="2212848"/>
            <a:ext cx="1807285" cy="365760"/>
          </a:xfrm>
          <a:prstGeom prst="rect">
            <a:avLst/>
          </a:prstGeom>
          <a:solidFill>
            <a:srgbClr val="141B3C"/>
          </a:solidFill>
          <a:ln/>
        </p:spPr>
      </p:sp>
      <p:sp>
        <p:nvSpPr>
          <p:cNvPr id="10" name="Shape 8"/>
          <p:cNvSpPr/>
          <p:nvPr/>
        </p:nvSpPr>
        <p:spPr>
          <a:xfrm>
            <a:off x="9351085" y="2212848"/>
            <a:ext cx="1355464" cy="365760"/>
          </a:xfrm>
          <a:prstGeom prst="rect">
            <a:avLst/>
          </a:prstGeom>
          <a:solidFill>
            <a:srgbClr val="17B8A6"/>
          </a:solidFill>
          <a:ln/>
        </p:spPr>
      </p:sp>
      <p:sp>
        <p:nvSpPr>
          <p:cNvPr id="11" name="Shape 9"/>
          <p:cNvSpPr/>
          <p:nvPr/>
        </p:nvSpPr>
        <p:spPr>
          <a:xfrm>
            <a:off x="10706548" y="2212848"/>
            <a:ext cx="677732" cy="365760"/>
          </a:xfrm>
          <a:prstGeom prst="rect">
            <a:avLst/>
          </a:prstGeom>
          <a:solidFill>
            <a:srgbClr val="FF6B4A"/>
          </a:solidFill>
          <a:ln/>
        </p:spPr>
      </p:sp>
      <p:sp>
        <p:nvSpPr>
          <p:cNvPr id="12" name="Shape 10"/>
          <p:cNvSpPr/>
          <p:nvPr/>
        </p:nvSpPr>
        <p:spPr>
          <a:xfrm>
            <a:off x="7543800" y="2779776"/>
            <a:ext cx="128016" cy="128016"/>
          </a:xfrm>
          <a:prstGeom prst="ellipse">
            <a:avLst/>
          </a:prstGeom>
          <a:solidFill>
            <a:srgbClr val="141B3C"/>
          </a:solidFill>
          <a:ln/>
        </p:spPr>
      </p:sp>
      <p:sp>
        <p:nvSpPr>
          <p:cNvPr id="13" name="Text 11"/>
          <p:cNvSpPr txBox="1"/>
          <p:nvPr/>
        </p:nvSpPr>
        <p:spPr>
          <a:xfrm>
            <a:off x="7726680" y="2688336"/>
            <a:ext cx="1234440" cy="292608"/>
          </a:xfrm>
          <a:prstGeom prst="rect">
            <a:avLst/>
          </a:prstGeom>
          <a:noFill/>
          <a:ln/>
        </p:spPr>
        <p:txBody>
          <a:bodyPr wrap="square" lIns="0" tIns="0" rIns="0" bIns="0" rtlCol="0" anchor="ctr"/>
          <a:lstStyle/>
          <a:p>
            <a:pPr indent="0" marL="0">
              <a:buNone/>
            </a:pPr>
            <a:r>
              <a:rPr lang="en-US" sz="1050" dirty="0">
                <a:solidFill>
                  <a:srgbClr val="3A3F5C"/>
                </a:solidFill>
                <a:latin typeface="Calibri" pitchFamily="34" charset="0"/>
                <a:ea typeface="Calibri" pitchFamily="34" charset="-122"/>
                <a:cs typeface="Calibri" pitchFamily="34" charset="-120"/>
              </a:rPr>
              <a:t>Must (8)</a:t>
            </a:r>
            <a:endParaRPr lang="en-US" sz="1050" dirty="0"/>
          </a:p>
        </p:txBody>
      </p:sp>
      <p:sp>
        <p:nvSpPr>
          <p:cNvPr id="14" name="Shape 12"/>
          <p:cNvSpPr/>
          <p:nvPr/>
        </p:nvSpPr>
        <p:spPr>
          <a:xfrm>
            <a:off x="8869680" y="2779776"/>
            <a:ext cx="128016" cy="128016"/>
          </a:xfrm>
          <a:prstGeom prst="ellipse">
            <a:avLst/>
          </a:prstGeom>
          <a:solidFill>
            <a:srgbClr val="17B8A6"/>
          </a:solidFill>
          <a:ln/>
        </p:spPr>
      </p:sp>
      <p:sp>
        <p:nvSpPr>
          <p:cNvPr id="15" name="Text 13"/>
          <p:cNvSpPr txBox="1"/>
          <p:nvPr/>
        </p:nvSpPr>
        <p:spPr>
          <a:xfrm>
            <a:off x="9052560" y="2688336"/>
            <a:ext cx="1234440" cy="292608"/>
          </a:xfrm>
          <a:prstGeom prst="rect">
            <a:avLst/>
          </a:prstGeom>
          <a:noFill/>
          <a:ln/>
        </p:spPr>
        <p:txBody>
          <a:bodyPr wrap="square" lIns="0" tIns="0" rIns="0" bIns="0" rtlCol="0" anchor="ctr"/>
          <a:lstStyle/>
          <a:p>
            <a:pPr indent="0" marL="0">
              <a:buNone/>
            </a:pPr>
            <a:r>
              <a:rPr lang="en-US" sz="1050" dirty="0">
                <a:solidFill>
                  <a:srgbClr val="3A3F5C"/>
                </a:solidFill>
                <a:latin typeface="Calibri" pitchFamily="34" charset="0"/>
                <a:ea typeface="Calibri" pitchFamily="34" charset="-122"/>
                <a:cs typeface="Calibri" pitchFamily="34" charset="-120"/>
              </a:rPr>
              <a:t>Should (6)</a:t>
            </a:r>
            <a:endParaRPr lang="en-US" sz="1050" dirty="0"/>
          </a:p>
        </p:txBody>
      </p:sp>
      <p:sp>
        <p:nvSpPr>
          <p:cNvPr id="16" name="Shape 14"/>
          <p:cNvSpPr/>
          <p:nvPr/>
        </p:nvSpPr>
        <p:spPr>
          <a:xfrm>
            <a:off x="10195560" y="2779776"/>
            <a:ext cx="128016" cy="128016"/>
          </a:xfrm>
          <a:prstGeom prst="ellipse">
            <a:avLst/>
          </a:prstGeom>
          <a:solidFill>
            <a:srgbClr val="FF6B4A"/>
          </a:solidFill>
          <a:ln/>
        </p:spPr>
      </p:sp>
      <p:sp>
        <p:nvSpPr>
          <p:cNvPr id="17" name="Text 15"/>
          <p:cNvSpPr txBox="1"/>
          <p:nvPr/>
        </p:nvSpPr>
        <p:spPr>
          <a:xfrm>
            <a:off x="10378440" y="2688336"/>
            <a:ext cx="1234440" cy="292608"/>
          </a:xfrm>
          <a:prstGeom prst="rect">
            <a:avLst/>
          </a:prstGeom>
          <a:noFill/>
          <a:ln/>
        </p:spPr>
        <p:txBody>
          <a:bodyPr wrap="square" lIns="0" tIns="0" rIns="0" bIns="0" rtlCol="0" anchor="ctr"/>
          <a:lstStyle/>
          <a:p>
            <a:pPr indent="0" marL="0">
              <a:buNone/>
            </a:pPr>
            <a:r>
              <a:rPr lang="en-US" sz="1050" dirty="0">
                <a:solidFill>
                  <a:srgbClr val="3A3F5C"/>
                </a:solidFill>
                <a:latin typeface="Calibri" pitchFamily="34" charset="0"/>
                <a:ea typeface="Calibri" pitchFamily="34" charset="-122"/>
                <a:cs typeface="Calibri" pitchFamily="34" charset="-120"/>
              </a:rPr>
              <a:t>Could (3)</a:t>
            </a:r>
            <a:endParaRPr lang="en-US" sz="1050" dirty="0"/>
          </a:p>
        </p:txBody>
      </p:sp>
      <p:sp>
        <p:nvSpPr>
          <p:cNvPr id="18" name="Text 16"/>
          <p:cNvSpPr txBox="1"/>
          <p:nvPr/>
        </p:nvSpPr>
        <p:spPr>
          <a:xfrm>
            <a:off x="7543800" y="3063240"/>
            <a:ext cx="3840480" cy="411480"/>
          </a:xfrm>
          <a:prstGeom prst="rect">
            <a:avLst/>
          </a:prstGeom>
          <a:noFill/>
          <a:ln/>
        </p:spPr>
        <p:txBody>
          <a:bodyPr wrap="square" lIns="0" tIns="0" rIns="0" bIns="0" rtlCol="0" anchor="ctr"/>
          <a:lstStyle/>
          <a:p>
            <a:pPr indent="0" marL="0">
              <a:lnSpc>
                <a:spcPct val="115000"/>
              </a:lnSpc>
              <a:buNone/>
            </a:pPr>
            <a:r>
              <a:rPr lang="en-US" sz="950" i="1" dirty="0">
                <a:solidFill>
                  <a:srgbClr val="767CA0"/>
                </a:solidFill>
                <a:latin typeface="Calibri" pitchFamily="34" charset="0"/>
                <a:ea typeface="Calibri" pitchFamily="34" charset="-122"/>
                <a:cs typeface="Calibri" pitchFamily="34" charset="-120"/>
              </a:rPr>
              <a:t>Ex. Must : Authentification, congés, pointage, Kanban  ·  Could : paie, CNSS, chatbot</a:t>
            </a:r>
            <a:endParaRPr lang="en-US" sz="950" dirty="0"/>
          </a:p>
        </p:txBody>
      </p:sp>
      <p:sp>
        <p:nvSpPr>
          <p:cNvPr id="19" name="Shape 17"/>
          <p:cNvSpPr/>
          <p:nvPr/>
        </p:nvSpPr>
        <p:spPr>
          <a:xfrm>
            <a:off x="566928" y="4434840"/>
            <a:ext cx="11057839" cy="20117"/>
          </a:xfrm>
          <a:prstGeom prst="rect">
            <a:avLst/>
          </a:prstGeom>
          <a:solidFill>
            <a:srgbClr val="E3E7F3"/>
          </a:solidFill>
          <a:ln/>
        </p:spPr>
      </p:sp>
      <p:sp>
        <p:nvSpPr>
          <p:cNvPr id="20" name="Shape 18"/>
          <p:cNvSpPr/>
          <p:nvPr/>
        </p:nvSpPr>
        <p:spPr>
          <a:xfrm>
            <a:off x="466344" y="4344314"/>
            <a:ext cx="201168" cy="201168"/>
          </a:xfrm>
          <a:prstGeom prst="ellipse">
            <a:avLst/>
          </a:prstGeom>
          <a:solidFill>
            <a:srgbClr val="767CA0"/>
          </a:solidFill>
          <a:ln w="25400">
            <a:solidFill>
              <a:srgbClr val="FFFFFF"/>
            </a:solidFill>
            <a:prstDash val="solid"/>
          </a:ln>
        </p:spPr>
      </p:sp>
      <p:sp>
        <p:nvSpPr>
          <p:cNvPr id="21" name="Text 19"/>
          <p:cNvSpPr txBox="1"/>
          <p:nvPr/>
        </p:nvSpPr>
        <p:spPr>
          <a:xfrm>
            <a:off x="-256032" y="4690872"/>
            <a:ext cx="1645920" cy="292608"/>
          </a:xfrm>
          <a:prstGeom prst="rect">
            <a:avLst/>
          </a:prstGeom>
          <a:noFill/>
          <a:ln/>
        </p:spPr>
        <p:txBody>
          <a:bodyPr wrap="square" lIns="0" tIns="0" rIns="0" bIns="0" rtlCol="0" anchor="ctr"/>
          <a:lstStyle/>
          <a:p>
            <a:pPr algn="ctr" indent="0" marL="0">
              <a:buNone/>
            </a:pPr>
            <a:r>
              <a:rPr lang="en-US" sz="1400" b="1" dirty="0">
                <a:solidFill>
                  <a:srgbClr val="141B3C"/>
                </a:solidFill>
                <a:latin typeface="Cambria" pitchFamily="34" charset="0"/>
                <a:ea typeface="Cambria" pitchFamily="34" charset="-122"/>
                <a:cs typeface="Cambria" pitchFamily="34" charset="-120"/>
              </a:rPr>
              <a:t>Cadrage</a:t>
            </a:r>
            <a:endParaRPr lang="en-US" sz="1400" dirty="0"/>
          </a:p>
        </p:txBody>
      </p:sp>
      <p:sp>
        <p:nvSpPr>
          <p:cNvPr id="22" name="Text 20"/>
          <p:cNvSpPr txBox="1"/>
          <p:nvPr/>
        </p:nvSpPr>
        <p:spPr>
          <a:xfrm>
            <a:off x="-301752" y="5010912"/>
            <a:ext cx="1737360" cy="594360"/>
          </a:xfrm>
          <a:prstGeom prst="rect">
            <a:avLst/>
          </a:prstGeom>
          <a:noFill/>
          <a:ln/>
        </p:spPr>
        <p:txBody>
          <a:bodyPr wrap="square" lIns="0" tIns="0" rIns="0" bIns="0" rtlCol="0" anchor="ctr"/>
          <a:lstStyle/>
          <a:p>
            <a:pPr algn="ctr" indent="0" marL="0">
              <a:lnSpc>
                <a:spcPct val="115000"/>
              </a:lnSpc>
              <a:buNone/>
            </a:pPr>
            <a:r>
              <a:rPr lang="en-US" sz="950" dirty="0">
                <a:solidFill>
                  <a:srgbClr val="767CA0"/>
                </a:solidFill>
                <a:latin typeface="Calibri" pitchFamily="34" charset="0"/>
                <a:ea typeface="Calibri" pitchFamily="34" charset="-122"/>
                <a:cs typeface="Calibri" pitchFamily="34" charset="-120"/>
              </a:rPr>
              <a:t>Sprint 0</a:t>
            </a:r>
            <a:endParaRPr lang="en-US" sz="950" dirty="0"/>
          </a:p>
        </p:txBody>
      </p:sp>
      <p:sp>
        <p:nvSpPr>
          <p:cNvPr id="23" name="Shape 21"/>
          <p:cNvSpPr/>
          <p:nvPr/>
        </p:nvSpPr>
        <p:spPr>
          <a:xfrm>
            <a:off x="2632192" y="4298594"/>
            <a:ext cx="292608" cy="292608"/>
          </a:xfrm>
          <a:prstGeom prst="ellipse">
            <a:avLst/>
          </a:prstGeom>
          <a:solidFill>
            <a:srgbClr val="141B3C"/>
          </a:solidFill>
          <a:ln w="25400">
            <a:solidFill>
              <a:srgbClr val="FFFFFF"/>
            </a:solidFill>
            <a:prstDash val="solid"/>
          </a:ln>
        </p:spPr>
      </p:sp>
      <p:sp>
        <p:nvSpPr>
          <p:cNvPr id="24" name="Text 22"/>
          <p:cNvSpPr txBox="1"/>
          <p:nvPr/>
        </p:nvSpPr>
        <p:spPr>
          <a:xfrm>
            <a:off x="1955536" y="4690872"/>
            <a:ext cx="1645920" cy="292608"/>
          </a:xfrm>
          <a:prstGeom prst="rect">
            <a:avLst/>
          </a:prstGeom>
          <a:noFill/>
          <a:ln/>
        </p:spPr>
        <p:txBody>
          <a:bodyPr wrap="square" lIns="0" tIns="0" rIns="0" bIns="0" rtlCol="0" anchor="ctr"/>
          <a:lstStyle/>
          <a:p>
            <a:pPr algn="ctr" indent="0" marL="0">
              <a:buNone/>
            </a:pPr>
            <a:r>
              <a:rPr lang="en-US" sz="1400" b="1" dirty="0">
                <a:solidFill>
                  <a:srgbClr val="141B3C"/>
                </a:solidFill>
                <a:latin typeface="Cambria" pitchFamily="34" charset="0"/>
                <a:ea typeface="Cambria" pitchFamily="34" charset="-122"/>
                <a:cs typeface="Cambria" pitchFamily="34" charset="-120"/>
              </a:rPr>
              <a:t>R1</a:t>
            </a:r>
            <a:endParaRPr lang="en-US" sz="1400" dirty="0"/>
          </a:p>
        </p:txBody>
      </p:sp>
      <p:sp>
        <p:nvSpPr>
          <p:cNvPr id="25" name="Text 23"/>
          <p:cNvSpPr txBox="1"/>
          <p:nvPr/>
        </p:nvSpPr>
        <p:spPr>
          <a:xfrm>
            <a:off x="1909816" y="5010912"/>
            <a:ext cx="1737360" cy="594360"/>
          </a:xfrm>
          <a:prstGeom prst="rect">
            <a:avLst/>
          </a:prstGeom>
          <a:noFill/>
          <a:ln/>
        </p:spPr>
        <p:txBody>
          <a:bodyPr wrap="square" lIns="0" tIns="0" rIns="0" bIns="0" rtlCol="0" anchor="ctr"/>
          <a:lstStyle/>
          <a:p>
            <a:pPr algn="ctr" indent="0" marL="0">
              <a:lnSpc>
                <a:spcPct val="115000"/>
              </a:lnSpc>
              <a:buNone/>
            </a:pPr>
            <a:r>
              <a:rPr lang="en-US" sz="950" dirty="0">
                <a:solidFill>
                  <a:srgbClr val="767CA0"/>
                </a:solidFill>
                <a:latin typeface="Calibri" pitchFamily="34" charset="0"/>
                <a:ea typeface="Calibri" pitchFamily="34" charset="-122"/>
                <a:cs typeface="Calibri" pitchFamily="34" charset="-120"/>
              </a:rPr>
              <a:t>Fondations &amp; Identités</a:t>
            </a:r>
            <a:endParaRPr lang="en-US" sz="950" dirty="0"/>
          </a:p>
        </p:txBody>
      </p:sp>
      <p:sp>
        <p:nvSpPr>
          <p:cNvPr id="26" name="Shape 24"/>
          <p:cNvSpPr/>
          <p:nvPr/>
        </p:nvSpPr>
        <p:spPr>
          <a:xfrm>
            <a:off x="4843760" y="4298594"/>
            <a:ext cx="292608" cy="292608"/>
          </a:xfrm>
          <a:prstGeom prst="ellipse">
            <a:avLst/>
          </a:prstGeom>
          <a:solidFill>
            <a:srgbClr val="141B3C"/>
          </a:solidFill>
          <a:ln w="25400">
            <a:solidFill>
              <a:srgbClr val="FFFFFF"/>
            </a:solidFill>
            <a:prstDash val="solid"/>
          </a:ln>
        </p:spPr>
      </p:sp>
      <p:sp>
        <p:nvSpPr>
          <p:cNvPr id="27" name="Text 25"/>
          <p:cNvSpPr txBox="1"/>
          <p:nvPr/>
        </p:nvSpPr>
        <p:spPr>
          <a:xfrm>
            <a:off x="4167104" y="4690872"/>
            <a:ext cx="1645920" cy="292608"/>
          </a:xfrm>
          <a:prstGeom prst="rect">
            <a:avLst/>
          </a:prstGeom>
          <a:noFill/>
          <a:ln/>
        </p:spPr>
        <p:txBody>
          <a:bodyPr wrap="square" lIns="0" tIns="0" rIns="0" bIns="0" rtlCol="0" anchor="ctr"/>
          <a:lstStyle/>
          <a:p>
            <a:pPr algn="ctr" indent="0" marL="0">
              <a:buNone/>
            </a:pPr>
            <a:r>
              <a:rPr lang="en-US" sz="1400" b="1" dirty="0">
                <a:solidFill>
                  <a:srgbClr val="141B3C"/>
                </a:solidFill>
                <a:latin typeface="Cambria" pitchFamily="34" charset="0"/>
                <a:ea typeface="Cambria" pitchFamily="34" charset="-122"/>
                <a:cs typeface="Cambria" pitchFamily="34" charset="-120"/>
              </a:rPr>
              <a:t>R2</a:t>
            </a:r>
            <a:endParaRPr lang="en-US" sz="1400" dirty="0"/>
          </a:p>
        </p:txBody>
      </p:sp>
      <p:sp>
        <p:nvSpPr>
          <p:cNvPr id="28" name="Text 26"/>
          <p:cNvSpPr txBox="1"/>
          <p:nvPr/>
        </p:nvSpPr>
        <p:spPr>
          <a:xfrm>
            <a:off x="4121384" y="5010912"/>
            <a:ext cx="1737360" cy="594360"/>
          </a:xfrm>
          <a:prstGeom prst="rect">
            <a:avLst/>
          </a:prstGeom>
          <a:noFill/>
          <a:ln/>
        </p:spPr>
        <p:txBody>
          <a:bodyPr wrap="square" lIns="0" tIns="0" rIns="0" bIns="0" rtlCol="0" anchor="ctr"/>
          <a:lstStyle/>
          <a:p>
            <a:pPr algn="ctr" indent="0" marL="0">
              <a:lnSpc>
                <a:spcPct val="115000"/>
              </a:lnSpc>
              <a:buNone/>
            </a:pPr>
            <a:r>
              <a:rPr lang="en-US" sz="950" dirty="0">
                <a:solidFill>
                  <a:srgbClr val="767CA0"/>
                </a:solidFill>
                <a:latin typeface="Calibri" pitchFamily="34" charset="0"/>
                <a:ea typeface="Calibri" pitchFamily="34" charset="-122"/>
                <a:cs typeface="Calibri" pitchFamily="34" charset="-120"/>
              </a:rPr>
              <a:t>Organisation RH</a:t>
            </a:r>
            <a:endParaRPr lang="en-US" sz="950" dirty="0"/>
          </a:p>
        </p:txBody>
      </p:sp>
      <p:sp>
        <p:nvSpPr>
          <p:cNvPr id="29" name="Shape 27"/>
          <p:cNvSpPr/>
          <p:nvPr/>
        </p:nvSpPr>
        <p:spPr>
          <a:xfrm>
            <a:off x="7055328" y="4298594"/>
            <a:ext cx="292608" cy="292608"/>
          </a:xfrm>
          <a:prstGeom prst="ellipse">
            <a:avLst/>
          </a:prstGeom>
          <a:solidFill>
            <a:srgbClr val="141B3C"/>
          </a:solidFill>
          <a:ln w="25400">
            <a:solidFill>
              <a:srgbClr val="FFFFFF"/>
            </a:solidFill>
            <a:prstDash val="solid"/>
          </a:ln>
        </p:spPr>
      </p:sp>
      <p:sp>
        <p:nvSpPr>
          <p:cNvPr id="30" name="Text 28"/>
          <p:cNvSpPr txBox="1"/>
          <p:nvPr/>
        </p:nvSpPr>
        <p:spPr>
          <a:xfrm>
            <a:off x="6378672" y="4690872"/>
            <a:ext cx="1645920" cy="292608"/>
          </a:xfrm>
          <a:prstGeom prst="rect">
            <a:avLst/>
          </a:prstGeom>
          <a:noFill/>
          <a:ln/>
        </p:spPr>
        <p:txBody>
          <a:bodyPr wrap="square" lIns="0" tIns="0" rIns="0" bIns="0" rtlCol="0" anchor="ctr"/>
          <a:lstStyle/>
          <a:p>
            <a:pPr algn="ctr" indent="0" marL="0">
              <a:buNone/>
            </a:pPr>
            <a:r>
              <a:rPr lang="en-US" sz="1400" b="1" dirty="0">
                <a:solidFill>
                  <a:srgbClr val="141B3C"/>
                </a:solidFill>
                <a:latin typeface="Cambria" pitchFamily="34" charset="0"/>
                <a:ea typeface="Cambria" pitchFamily="34" charset="-122"/>
                <a:cs typeface="Cambria" pitchFamily="34" charset="-120"/>
              </a:rPr>
              <a:t>R3</a:t>
            </a:r>
            <a:endParaRPr lang="en-US" sz="1400" dirty="0"/>
          </a:p>
        </p:txBody>
      </p:sp>
      <p:sp>
        <p:nvSpPr>
          <p:cNvPr id="31" name="Text 29"/>
          <p:cNvSpPr txBox="1"/>
          <p:nvPr/>
        </p:nvSpPr>
        <p:spPr>
          <a:xfrm>
            <a:off x="6332952" y="5010912"/>
            <a:ext cx="1737360" cy="594360"/>
          </a:xfrm>
          <a:prstGeom prst="rect">
            <a:avLst/>
          </a:prstGeom>
          <a:noFill/>
          <a:ln/>
        </p:spPr>
        <p:txBody>
          <a:bodyPr wrap="square" lIns="0" tIns="0" rIns="0" bIns="0" rtlCol="0" anchor="ctr"/>
          <a:lstStyle/>
          <a:p>
            <a:pPr algn="ctr" indent="0" marL="0">
              <a:lnSpc>
                <a:spcPct val="115000"/>
              </a:lnSpc>
              <a:buNone/>
            </a:pPr>
            <a:r>
              <a:rPr lang="en-US" sz="950" dirty="0">
                <a:solidFill>
                  <a:srgbClr val="767CA0"/>
                </a:solidFill>
                <a:latin typeface="Calibri" pitchFamily="34" charset="0"/>
                <a:ea typeface="Calibri" pitchFamily="34" charset="-122"/>
                <a:cs typeface="Calibri" pitchFamily="34" charset="-120"/>
              </a:rPr>
              <a:t>Projets &amp; Plans médias</a:t>
            </a:r>
            <a:endParaRPr lang="en-US" sz="950" dirty="0"/>
          </a:p>
        </p:txBody>
      </p:sp>
      <p:sp>
        <p:nvSpPr>
          <p:cNvPr id="32" name="Shape 30"/>
          <p:cNvSpPr/>
          <p:nvPr/>
        </p:nvSpPr>
        <p:spPr>
          <a:xfrm>
            <a:off x="9266895" y="4298594"/>
            <a:ext cx="292608" cy="292608"/>
          </a:xfrm>
          <a:prstGeom prst="ellipse">
            <a:avLst/>
          </a:prstGeom>
          <a:solidFill>
            <a:srgbClr val="141B3C"/>
          </a:solidFill>
          <a:ln w="25400">
            <a:solidFill>
              <a:srgbClr val="FFFFFF"/>
            </a:solidFill>
            <a:prstDash val="solid"/>
          </a:ln>
        </p:spPr>
      </p:sp>
      <p:sp>
        <p:nvSpPr>
          <p:cNvPr id="33" name="Text 31"/>
          <p:cNvSpPr txBox="1"/>
          <p:nvPr/>
        </p:nvSpPr>
        <p:spPr>
          <a:xfrm>
            <a:off x="8590239" y="4690872"/>
            <a:ext cx="1645920" cy="292608"/>
          </a:xfrm>
          <a:prstGeom prst="rect">
            <a:avLst/>
          </a:prstGeom>
          <a:noFill/>
          <a:ln/>
        </p:spPr>
        <p:txBody>
          <a:bodyPr wrap="square" lIns="0" tIns="0" rIns="0" bIns="0" rtlCol="0" anchor="ctr"/>
          <a:lstStyle/>
          <a:p>
            <a:pPr algn="ctr" indent="0" marL="0">
              <a:buNone/>
            </a:pPr>
            <a:r>
              <a:rPr lang="en-US" sz="1400" b="1" dirty="0">
                <a:solidFill>
                  <a:srgbClr val="141B3C"/>
                </a:solidFill>
                <a:latin typeface="Cambria" pitchFamily="34" charset="0"/>
                <a:ea typeface="Cambria" pitchFamily="34" charset="-122"/>
                <a:cs typeface="Cambria" pitchFamily="34" charset="-120"/>
              </a:rPr>
              <a:t>R4</a:t>
            </a:r>
            <a:endParaRPr lang="en-US" sz="1400" dirty="0"/>
          </a:p>
        </p:txBody>
      </p:sp>
      <p:sp>
        <p:nvSpPr>
          <p:cNvPr id="34" name="Text 32"/>
          <p:cNvSpPr txBox="1"/>
          <p:nvPr/>
        </p:nvSpPr>
        <p:spPr>
          <a:xfrm>
            <a:off x="8544519" y="5010912"/>
            <a:ext cx="1737360" cy="594360"/>
          </a:xfrm>
          <a:prstGeom prst="rect">
            <a:avLst/>
          </a:prstGeom>
          <a:noFill/>
          <a:ln/>
        </p:spPr>
        <p:txBody>
          <a:bodyPr wrap="square" lIns="0" tIns="0" rIns="0" bIns="0" rtlCol="0" anchor="ctr"/>
          <a:lstStyle/>
          <a:p>
            <a:pPr algn="ctr" indent="0" marL="0">
              <a:lnSpc>
                <a:spcPct val="115000"/>
              </a:lnSpc>
              <a:buNone/>
            </a:pPr>
            <a:r>
              <a:rPr lang="en-US" sz="950" dirty="0">
                <a:solidFill>
                  <a:srgbClr val="767CA0"/>
                </a:solidFill>
                <a:latin typeface="Calibri" pitchFamily="34" charset="0"/>
                <a:ea typeface="Calibri" pitchFamily="34" charset="-122"/>
                <a:cs typeface="Calibri" pitchFamily="34" charset="-120"/>
              </a:rPr>
              <a:t>Facturation &amp; Paie</a:t>
            </a:r>
            <a:endParaRPr lang="en-US" sz="950" dirty="0"/>
          </a:p>
        </p:txBody>
      </p:sp>
      <p:sp>
        <p:nvSpPr>
          <p:cNvPr id="35" name="Shape 33"/>
          <p:cNvSpPr/>
          <p:nvPr/>
        </p:nvSpPr>
        <p:spPr>
          <a:xfrm>
            <a:off x="11478463" y="4298594"/>
            <a:ext cx="292608" cy="292608"/>
          </a:xfrm>
          <a:prstGeom prst="ellipse">
            <a:avLst/>
          </a:prstGeom>
          <a:solidFill>
            <a:srgbClr val="17B8A6"/>
          </a:solidFill>
          <a:ln w="25400">
            <a:solidFill>
              <a:srgbClr val="FFFFFF"/>
            </a:solidFill>
            <a:prstDash val="solid"/>
          </a:ln>
        </p:spPr>
      </p:sp>
      <p:sp>
        <p:nvSpPr>
          <p:cNvPr id="36" name="Text 34"/>
          <p:cNvSpPr txBox="1"/>
          <p:nvPr/>
        </p:nvSpPr>
        <p:spPr>
          <a:xfrm>
            <a:off x="10801807" y="4690872"/>
            <a:ext cx="1645920" cy="292608"/>
          </a:xfrm>
          <a:prstGeom prst="rect">
            <a:avLst/>
          </a:prstGeom>
          <a:noFill/>
          <a:ln/>
        </p:spPr>
        <p:txBody>
          <a:bodyPr wrap="square" lIns="0" tIns="0" rIns="0" bIns="0" rtlCol="0" anchor="ctr"/>
          <a:lstStyle/>
          <a:p>
            <a:pPr algn="ctr" indent="0" marL="0">
              <a:buNone/>
            </a:pPr>
            <a:r>
              <a:rPr lang="en-US" sz="1400" b="1" dirty="0">
                <a:solidFill>
                  <a:srgbClr val="141B3C"/>
                </a:solidFill>
                <a:latin typeface="Cambria" pitchFamily="34" charset="0"/>
                <a:ea typeface="Cambria" pitchFamily="34" charset="-122"/>
                <a:cs typeface="Cambria" pitchFamily="34" charset="-120"/>
              </a:rPr>
              <a:t>R5</a:t>
            </a:r>
            <a:endParaRPr lang="en-US" sz="1400" dirty="0"/>
          </a:p>
        </p:txBody>
      </p:sp>
      <p:sp>
        <p:nvSpPr>
          <p:cNvPr id="37" name="Text 35"/>
          <p:cNvSpPr txBox="1"/>
          <p:nvPr/>
        </p:nvSpPr>
        <p:spPr>
          <a:xfrm>
            <a:off x="10756087" y="5010912"/>
            <a:ext cx="1737360" cy="594360"/>
          </a:xfrm>
          <a:prstGeom prst="rect">
            <a:avLst/>
          </a:prstGeom>
          <a:noFill/>
          <a:ln/>
        </p:spPr>
        <p:txBody>
          <a:bodyPr wrap="square" lIns="0" tIns="0" rIns="0" bIns="0" rtlCol="0" anchor="ctr"/>
          <a:lstStyle/>
          <a:p>
            <a:pPr algn="ctr" indent="0" marL="0">
              <a:lnSpc>
                <a:spcPct val="115000"/>
              </a:lnSpc>
              <a:buNone/>
            </a:pPr>
            <a:r>
              <a:rPr lang="en-US" sz="950" dirty="0">
                <a:solidFill>
                  <a:srgbClr val="767CA0"/>
                </a:solidFill>
                <a:latin typeface="Calibri" pitchFamily="34" charset="0"/>
                <a:ea typeface="Calibri" pitchFamily="34" charset="-122"/>
                <a:cs typeface="Calibri" pitchFamily="34" charset="-120"/>
              </a:rPr>
              <a:t>IA &amp; Décisionnel</a:t>
            </a:r>
            <a:endParaRPr lang="en-US" sz="950" dirty="0"/>
          </a:p>
        </p:txBody>
      </p:sp>
      <p:sp>
        <p:nvSpPr>
          <p:cNvPr id="38" name="Text 36"/>
          <p:cNvSpPr txBox="1"/>
          <p:nvPr/>
        </p:nvSpPr>
        <p:spPr>
          <a:xfrm>
            <a:off x="566928" y="5989320"/>
            <a:ext cx="11057839" cy="274320"/>
          </a:xfrm>
          <a:prstGeom prst="rect">
            <a:avLst/>
          </a:prstGeom>
          <a:noFill/>
          <a:ln/>
        </p:spPr>
        <p:txBody>
          <a:bodyPr wrap="square" lIns="0" tIns="0" rIns="0" bIns="0" rtlCol="0" anchor="ctr"/>
          <a:lstStyle/>
          <a:p>
            <a:pPr algn="ctr" indent="0" marL="0">
              <a:buNone/>
            </a:pPr>
            <a:r>
              <a:rPr lang="en-US" sz="1050" i="1" dirty="0">
                <a:solidFill>
                  <a:srgbClr val="767CA0"/>
                </a:solidFill>
                <a:latin typeface="Calibri" pitchFamily="34" charset="0"/>
                <a:ea typeface="Calibri" pitchFamily="34" charset="-122"/>
                <a:cs typeface="Calibri" pitchFamily="34" charset="-120"/>
              </a:rPr>
              <a:t>9 sprints de 2 semaines · février – juillet 2026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07</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06 · SPÉCIFICATION DES BESOINS</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Acteurs du système</a:t>
            </a:r>
            <a:endParaRPr lang="en-US" sz="3000" dirty="0"/>
          </a:p>
        </p:txBody>
      </p:sp>
      <p:sp>
        <p:nvSpPr>
          <p:cNvPr id="6" name="Text 4"/>
          <p:cNvSpPr txBox="1"/>
          <p:nvPr/>
        </p:nvSpPr>
        <p:spPr>
          <a:xfrm>
            <a:off x="566928" y="1600200"/>
            <a:ext cx="6400800" cy="320040"/>
          </a:xfrm>
          <a:prstGeom prst="rect">
            <a:avLst/>
          </a:prstGeom>
          <a:noFill/>
          <a:ln/>
        </p:spPr>
        <p:txBody>
          <a:bodyPr wrap="square" lIns="0" tIns="0" rIns="0" bIns="0" rtlCol="0" anchor="ctr"/>
          <a:lstStyle/>
          <a:p>
            <a:pPr indent="0" marL="0">
              <a:buNone/>
            </a:pPr>
            <a:r>
              <a:rPr lang="en-US" sz="1350" b="1" dirty="0">
                <a:solidFill>
                  <a:srgbClr val="141B3C"/>
                </a:solidFill>
                <a:latin typeface="Calibri" pitchFamily="34" charset="0"/>
                <a:ea typeface="Calibri" pitchFamily="34" charset="-122"/>
                <a:cs typeface="Calibri" pitchFamily="34" charset="-120"/>
              </a:rPr>
              <a:t>Acteurs principaux (humains)</a:t>
            </a:r>
            <a:endParaRPr lang="en-US" sz="1350" dirty="0"/>
          </a:p>
        </p:txBody>
      </p:sp>
      <p:sp>
        <p:nvSpPr>
          <p:cNvPr id="7" name="Shape 5"/>
          <p:cNvSpPr/>
          <p:nvPr/>
        </p:nvSpPr>
        <p:spPr>
          <a:xfrm>
            <a:off x="566928" y="1993392"/>
            <a:ext cx="3564026" cy="1298448"/>
          </a:xfrm>
          <a:prstGeom prst="roundRect">
            <a:avLst>
              <a:gd name="adj" fmla="val 563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8" name="Shape 6"/>
          <p:cNvSpPr/>
          <p:nvPr/>
        </p:nvSpPr>
        <p:spPr>
          <a:xfrm>
            <a:off x="749808" y="2176272"/>
            <a:ext cx="420624" cy="420624"/>
          </a:xfrm>
          <a:prstGeom prst="ellipse">
            <a:avLst/>
          </a:prstGeom>
          <a:solidFill>
            <a:srgbClr val="141B3C"/>
          </a:solidFill>
          <a:ln/>
        </p:spPr>
      </p:sp>
      <p:pic>
        <p:nvPicPr>
          <p:cNvPr id="9" name="Image 0" descr="C:\Users\yosrk\AppData\Local\Temp\claude\c--Users-yosrk-OneDrive-Bureau-RHpfe-Antigone-RH\f59fd8f1-a1b7-4e96-84d6-6d2a4296fa99\scratchpad\pfe-soutenance\icons\userscog.png">    </p:cNvPr>
          <p:cNvPicPr>
            <a:picLocks noChangeAspect="1"/>
          </p:cNvPicPr>
          <p:nvPr/>
        </p:nvPicPr>
        <p:blipFill>
          <a:blip r:embed="rId1"/>
          <a:stretch>
            <a:fillRect/>
          </a:stretch>
        </p:blipFill>
        <p:spPr>
          <a:xfrm>
            <a:off x="808695" y="2235159"/>
            <a:ext cx="302849" cy="302849"/>
          </a:xfrm>
          <a:prstGeom prst="rect">
            <a:avLst/>
          </a:prstGeom>
        </p:spPr>
      </p:pic>
      <p:sp>
        <p:nvSpPr>
          <p:cNvPr id="10" name="Text 7"/>
          <p:cNvSpPr txBox="1"/>
          <p:nvPr/>
        </p:nvSpPr>
        <p:spPr>
          <a:xfrm>
            <a:off x="1280160" y="2148840"/>
            <a:ext cx="2695346" cy="32004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Administrateur</a:t>
            </a:r>
            <a:endParaRPr lang="en-US" sz="1200" dirty="0"/>
          </a:p>
        </p:txBody>
      </p:sp>
      <p:sp>
        <p:nvSpPr>
          <p:cNvPr id="11" name="Text 8"/>
          <p:cNvSpPr txBox="1"/>
          <p:nvPr/>
        </p:nvSpPr>
        <p:spPr>
          <a:xfrm>
            <a:off x="749808" y="2651760"/>
            <a:ext cx="3198266" cy="548640"/>
          </a:xfrm>
          <a:prstGeom prst="rect">
            <a:avLst/>
          </a:prstGeom>
          <a:noFill/>
          <a:ln/>
        </p:spPr>
        <p:txBody>
          <a:bodyPr wrap="square" lIns="0" tIns="0" rIns="0" bIns="0" rtlCol="0" anchor="ctr"/>
          <a:lstStyle/>
          <a:p>
            <a:pPr indent="0" marL="0">
              <a:lnSpc>
                <a:spcPct val="115000"/>
              </a:lnSpc>
              <a:buNone/>
            </a:pPr>
            <a:r>
              <a:rPr lang="en-US" sz="970" dirty="0">
                <a:solidFill>
                  <a:srgbClr val="3A3F5C"/>
                </a:solidFill>
                <a:latin typeface="Calibri" pitchFamily="34" charset="0"/>
                <a:ea typeface="Calibri" pitchFamily="34" charset="-122"/>
                <a:cs typeface="Calibri" pitchFamily="34" charset="-120"/>
              </a:rPr>
              <a:t>Configure, supervise les 4 modules, arbitre en dernier recours</a:t>
            </a:r>
            <a:endParaRPr lang="en-US" sz="970" dirty="0"/>
          </a:p>
        </p:txBody>
      </p:sp>
      <p:sp>
        <p:nvSpPr>
          <p:cNvPr id="12" name="Shape 9"/>
          <p:cNvSpPr/>
          <p:nvPr/>
        </p:nvSpPr>
        <p:spPr>
          <a:xfrm>
            <a:off x="4313834" y="1993392"/>
            <a:ext cx="3564026" cy="1298448"/>
          </a:xfrm>
          <a:prstGeom prst="roundRect">
            <a:avLst>
              <a:gd name="adj" fmla="val 563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3" name="Shape 10"/>
          <p:cNvSpPr/>
          <p:nvPr/>
        </p:nvSpPr>
        <p:spPr>
          <a:xfrm>
            <a:off x="4496714" y="2176272"/>
            <a:ext cx="420624" cy="420624"/>
          </a:xfrm>
          <a:prstGeom prst="ellipse">
            <a:avLst/>
          </a:prstGeom>
          <a:solidFill>
            <a:srgbClr val="141B3C"/>
          </a:solidFill>
          <a:ln/>
        </p:spPr>
      </p:sp>
      <p:pic>
        <p:nvPicPr>
          <p:cNvPr id="14" name="Image 1" descr="C:\Users\yosrk\AppData\Local\Temp\claude\c--Users-yosrk-OneDrive-Bureau-RHpfe-Antigone-RH\f59fd8f1-a1b7-4e96-84d6-6d2a4296fa99\scratchpad\pfe-soutenance\icons\users.png">    </p:cNvPr>
          <p:cNvPicPr>
            <a:picLocks noChangeAspect="1"/>
          </p:cNvPicPr>
          <p:nvPr/>
        </p:nvPicPr>
        <p:blipFill>
          <a:blip r:embed="rId2"/>
          <a:stretch>
            <a:fillRect/>
          </a:stretch>
        </p:blipFill>
        <p:spPr>
          <a:xfrm>
            <a:off x="4555602" y="2235159"/>
            <a:ext cx="302849" cy="302849"/>
          </a:xfrm>
          <a:prstGeom prst="rect">
            <a:avLst/>
          </a:prstGeom>
        </p:spPr>
      </p:pic>
      <p:sp>
        <p:nvSpPr>
          <p:cNvPr id="15" name="Text 11"/>
          <p:cNvSpPr txBox="1"/>
          <p:nvPr/>
        </p:nvSpPr>
        <p:spPr>
          <a:xfrm>
            <a:off x="5027066" y="2148840"/>
            <a:ext cx="2695346" cy="32004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Employé</a:t>
            </a:r>
            <a:endParaRPr lang="en-US" sz="1200" dirty="0"/>
          </a:p>
        </p:txBody>
      </p:sp>
      <p:sp>
        <p:nvSpPr>
          <p:cNvPr id="16" name="Text 12"/>
          <p:cNvSpPr txBox="1"/>
          <p:nvPr/>
        </p:nvSpPr>
        <p:spPr>
          <a:xfrm>
            <a:off x="4496714" y="2651760"/>
            <a:ext cx="3198266" cy="548640"/>
          </a:xfrm>
          <a:prstGeom prst="rect">
            <a:avLst/>
          </a:prstGeom>
          <a:noFill/>
          <a:ln/>
        </p:spPr>
        <p:txBody>
          <a:bodyPr wrap="square" lIns="0" tIns="0" rIns="0" bIns="0" rtlCol="0" anchor="ctr"/>
          <a:lstStyle/>
          <a:p>
            <a:pPr indent="0" marL="0">
              <a:lnSpc>
                <a:spcPct val="115000"/>
              </a:lnSpc>
              <a:buNone/>
            </a:pPr>
            <a:r>
              <a:rPr lang="en-US" sz="970" dirty="0">
                <a:solidFill>
                  <a:srgbClr val="3A3F5C"/>
                </a:solidFill>
                <a:latin typeface="Calibri" pitchFamily="34" charset="0"/>
                <a:ea typeface="Calibri" pitchFamily="34" charset="-122"/>
                <a:cs typeface="Calibri" pitchFamily="34" charset="-120"/>
              </a:rPr>
              <a:t>Dépose ses demandes, pointe ses horaires, suit ses tâches</a:t>
            </a:r>
            <a:endParaRPr lang="en-US" sz="970" dirty="0"/>
          </a:p>
        </p:txBody>
      </p:sp>
      <p:sp>
        <p:nvSpPr>
          <p:cNvPr id="17" name="Shape 13"/>
          <p:cNvSpPr/>
          <p:nvPr/>
        </p:nvSpPr>
        <p:spPr>
          <a:xfrm>
            <a:off x="8060741" y="1993392"/>
            <a:ext cx="3564026" cy="1298448"/>
          </a:xfrm>
          <a:prstGeom prst="roundRect">
            <a:avLst>
              <a:gd name="adj" fmla="val 563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8" name="Shape 14"/>
          <p:cNvSpPr/>
          <p:nvPr/>
        </p:nvSpPr>
        <p:spPr>
          <a:xfrm>
            <a:off x="8243621" y="2176272"/>
            <a:ext cx="420624" cy="420624"/>
          </a:xfrm>
          <a:prstGeom prst="ellipse">
            <a:avLst/>
          </a:prstGeom>
          <a:solidFill>
            <a:srgbClr val="141B3C"/>
          </a:solidFill>
          <a:ln/>
        </p:spPr>
      </p:sp>
      <p:pic>
        <p:nvPicPr>
          <p:cNvPr id="19" name="Image 2" descr="C:\Users\yosrk\AppData\Local\Temp\claude\c--Users-yosrk-OneDrive-Bureau-RHpfe-Antigone-RH\f59fd8f1-a1b7-4e96-84d6-6d2a4296fa99\scratchpad\pfe-soutenance\icons\check.png">    </p:cNvPr>
          <p:cNvPicPr>
            <a:picLocks noChangeAspect="1"/>
          </p:cNvPicPr>
          <p:nvPr/>
        </p:nvPicPr>
        <p:blipFill>
          <a:blip r:embed="rId3"/>
          <a:stretch>
            <a:fillRect/>
          </a:stretch>
        </p:blipFill>
        <p:spPr>
          <a:xfrm>
            <a:off x="8302508" y="2235159"/>
            <a:ext cx="302849" cy="302849"/>
          </a:xfrm>
          <a:prstGeom prst="rect">
            <a:avLst/>
          </a:prstGeom>
        </p:spPr>
      </p:pic>
      <p:sp>
        <p:nvSpPr>
          <p:cNvPr id="20" name="Text 15"/>
          <p:cNvSpPr txBox="1"/>
          <p:nvPr/>
        </p:nvSpPr>
        <p:spPr>
          <a:xfrm>
            <a:off x="8773973" y="2148840"/>
            <a:ext cx="2695346" cy="32004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Responsable / Validateur</a:t>
            </a:r>
            <a:endParaRPr lang="en-US" sz="1200" dirty="0"/>
          </a:p>
        </p:txBody>
      </p:sp>
      <p:sp>
        <p:nvSpPr>
          <p:cNvPr id="21" name="Text 16"/>
          <p:cNvSpPr txBox="1"/>
          <p:nvPr/>
        </p:nvSpPr>
        <p:spPr>
          <a:xfrm>
            <a:off x="8243621" y="2651760"/>
            <a:ext cx="3198266" cy="548640"/>
          </a:xfrm>
          <a:prstGeom prst="rect">
            <a:avLst/>
          </a:prstGeom>
          <a:noFill/>
          <a:ln/>
        </p:spPr>
        <p:txBody>
          <a:bodyPr wrap="square" lIns="0" tIns="0" rIns="0" bIns="0" rtlCol="0" anchor="ctr"/>
          <a:lstStyle/>
          <a:p>
            <a:pPr indent="0" marL="0">
              <a:lnSpc>
                <a:spcPct val="115000"/>
              </a:lnSpc>
              <a:buNone/>
            </a:pPr>
            <a:r>
              <a:rPr lang="en-US" sz="970" dirty="0">
                <a:solidFill>
                  <a:srgbClr val="3A3F5C"/>
                </a:solidFill>
                <a:latin typeface="Calibri" pitchFamily="34" charset="0"/>
                <a:ea typeface="Calibri" pitchFamily="34" charset="-122"/>
                <a:cs typeface="Calibri" pitchFamily="34" charset="-120"/>
              </a:rPr>
              <a:t>Intervient dans le circuit d’approbation des demandes</a:t>
            </a:r>
            <a:endParaRPr lang="en-US" sz="970" dirty="0"/>
          </a:p>
        </p:txBody>
      </p:sp>
      <p:sp>
        <p:nvSpPr>
          <p:cNvPr id="22" name="Shape 17"/>
          <p:cNvSpPr/>
          <p:nvPr/>
        </p:nvSpPr>
        <p:spPr>
          <a:xfrm>
            <a:off x="566928" y="3438144"/>
            <a:ext cx="3564026" cy="1298448"/>
          </a:xfrm>
          <a:prstGeom prst="roundRect">
            <a:avLst>
              <a:gd name="adj" fmla="val 563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3" name="Shape 18"/>
          <p:cNvSpPr/>
          <p:nvPr/>
        </p:nvSpPr>
        <p:spPr>
          <a:xfrm>
            <a:off x="749808" y="3621024"/>
            <a:ext cx="420624" cy="420624"/>
          </a:xfrm>
          <a:prstGeom prst="ellipse">
            <a:avLst/>
          </a:prstGeom>
          <a:solidFill>
            <a:srgbClr val="141B3C"/>
          </a:solidFill>
          <a:ln/>
        </p:spPr>
      </p:sp>
      <p:pic>
        <p:nvPicPr>
          <p:cNvPr id="24" name="Image 3" descr="C:\Users\yosrk\AppData\Local\Temp\claude\c--Users-yosrk-OneDrive-Bureau-RHpfe-Antigone-RH\f59fd8f1-a1b7-4e96-84d6-6d2a4296fa99\scratchpad\pfe-soutenance\icons\briefcase.png">    </p:cNvPr>
          <p:cNvPicPr>
            <a:picLocks noChangeAspect="1"/>
          </p:cNvPicPr>
          <p:nvPr/>
        </p:nvPicPr>
        <p:blipFill>
          <a:blip r:embed="rId4"/>
          <a:stretch>
            <a:fillRect/>
          </a:stretch>
        </p:blipFill>
        <p:spPr>
          <a:xfrm>
            <a:off x="808695" y="3679911"/>
            <a:ext cx="302849" cy="302849"/>
          </a:xfrm>
          <a:prstGeom prst="rect">
            <a:avLst/>
          </a:prstGeom>
        </p:spPr>
      </p:pic>
      <p:sp>
        <p:nvSpPr>
          <p:cNvPr id="25" name="Text 19"/>
          <p:cNvSpPr txBox="1"/>
          <p:nvPr/>
        </p:nvSpPr>
        <p:spPr>
          <a:xfrm>
            <a:off x="1280160" y="3593592"/>
            <a:ext cx="2695346" cy="32004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Chef de projet</a:t>
            </a:r>
            <a:endParaRPr lang="en-US" sz="1200" dirty="0"/>
          </a:p>
        </p:txBody>
      </p:sp>
      <p:sp>
        <p:nvSpPr>
          <p:cNvPr id="26" name="Text 20"/>
          <p:cNvSpPr txBox="1"/>
          <p:nvPr/>
        </p:nvSpPr>
        <p:spPr>
          <a:xfrm>
            <a:off x="749808" y="4096512"/>
            <a:ext cx="3198266" cy="548640"/>
          </a:xfrm>
          <a:prstGeom prst="rect">
            <a:avLst/>
          </a:prstGeom>
          <a:noFill/>
          <a:ln/>
        </p:spPr>
        <p:txBody>
          <a:bodyPr wrap="square" lIns="0" tIns="0" rIns="0" bIns="0" rtlCol="0" anchor="ctr"/>
          <a:lstStyle/>
          <a:p>
            <a:pPr indent="0" marL="0">
              <a:lnSpc>
                <a:spcPct val="115000"/>
              </a:lnSpc>
              <a:buNone/>
            </a:pPr>
            <a:r>
              <a:rPr lang="en-US" sz="970" dirty="0">
                <a:solidFill>
                  <a:srgbClr val="3A3F5C"/>
                </a:solidFill>
                <a:latin typeface="Calibri" pitchFamily="34" charset="0"/>
                <a:ea typeface="Calibri" pitchFamily="34" charset="-122"/>
                <a:cs typeface="Calibri" pitchFamily="34" charset="-120"/>
              </a:rPr>
              <a:t>Pilote projets, équipes, tâches et plans médias</a:t>
            </a:r>
            <a:endParaRPr lang="en-US" sz="970" dirty="0"/>
          </a:p>
        </p:txBody>
      </p:sp>
      <p:sp>
        <p:nvSpPr>
          <p:cNvPr id="27" name="Shape 21"/>
          <p:cNvSpPr/>
          <p:nvPr/>
        </p:nvSpPr>
        <p:spPr>
          <a:xfrm>
            <a:off x="4313834" y="3438144"/>
            <a:ext cx="3564026" cy="1298448"/>
          </a:xfrm>
          <a:prstGeom prst="roundRect">
            <a:avLst>
              <a:gd name="adj" fmla="val 563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8" name="Shape 22"/>
          <p:cNvSpPr/>
          <p:nvPr/>
        </p:nvSpPr>
        <p:spPr>
          <a:xfrm>
            <a:off x="4496714" y="3621024"/>
            <a:ext cx="420624" cy="420624"/>
          </a:xfrm>
          <a:prstGeom prst="ellipse">
            <a:avLst/>
          </a:prstGeom>
          <a:solidFill>
            <a:srgbClr val="141B3C"/>
          </a:solidFill>
          <a:ln/>
        </p:spPr>
      </p:sp>
      <p:pic>
        <p:nvPicPr>
          <p:cNvPr id="29" name="Image 4" descr="C:\Users\yosrk\AppData\Local\Temp\claude\c--Users-yosrk-OneDrive-Bureau-RHpfe-Antigone-RH\f59fd8f1-a1b7-4e96-84d6-6d2a4296fa99\scratchpad\pfe-soutenance\icons\invoice.png">    </p:cNvPr>
          <p:cNvPicPr>
            <a:picLocks noChangeAspect="1"/>
          </p:cNvPicPr>
          <p:nvPr/>
        </p:nvPicPr>
        <p:blipFill>
          <a:blip r:embed="rId5"/>
          <a:stretch>
            <a:fillRect/>
          </a:stretch>
        </p:blipFill>
        <p:spPr>
          <a:xfrm>
            <a:off x="4555602" y="3679911"/>
            <a:ext cx="302849" cy="302849"/>
          </a:xfrm>
          <a:prstGeom prst="rect">
            <a:avLst/>
          </a:prstGeom>
        </p:spPr>
      </p:pic>
      <p:sp>
        <p:nvSpPr>
          <p:cNvPr id="30" name="Text 23"/>
          <p:cNvSpPr txBox="1"/>
          <p:nvPr/>
        </p:nvSpPr>
        <p:spPr>
          <a:xfrm>
            <a:off x="5027066" y="3593592"/>
            <a:ext cx="2695346" cy="32004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Responsable Finance</a:t>
            </a:r>
            <a:endParaRPr lang="en-US" sz="1200" dirty="0"/>
          </a:p>
        </p:txBody>
      </p:sp>
      <p:sp>
        <p:nvSpPr>
          <p:cNvPr id="31" name="Text 24"/>
          <p:cNvSpPr txBox="1"/>
          <p:nvPr/>
        </p:nvSpPr>
        <p:spPr>
          <a:xfrm>
            <a:off x="4496714" y="4096512"/>
            <a:ext cx="3198266" cy="548640"/>
          </a:xfrm>
          <a:prstGeom prst="rect">
            <a:avLst/>
          </a:prstGeom>
          <a:noFill/>
          <a:ln/>
        </p:spPr>
        <p:txBody>
          <a:bodyPr wrap="square" lIns="0" tIns="0" rIns="0" bIns="0" rtlCol="0" anchor="ctr"/>
          <a:lstStyle/>
          <a:p>
            <a:pPr indent="0" marL="0">
              <a:lnSpc>
                <a:spcPct val="115000"/>
              </a:lnSpc>
              <a:buNone/>
            </a:pPr>
            <a:r>
              <a:rPr lang="en-US" sz="970" dirty="0">
                <a:solidFill>
                  <a:srgbClr val="3A3F5C"/>
                </a:solidFill>
                <a:latin typeface="Calibri" pitchFamily="34" charset="0"/>
                <a:ea typeface="Calibri" pitchFamily="34" charset="-122"/>
                <a:cs typeface="Calibri" pitchFamily="34" charset="-120"/>
              </a:rPr>
              <a:t>Facturation, charges, paie, déclarations CNSS/TVA</a:t>
            </a:r>
            <a:endParaRPr lang="en-US" sz="970" dirty="0"/>
          </a:p>
        </p:txBody>
      </p:sp>
      <p:sp>
        <p:nvSpPr>
          <p:cNvPr id="32" name="Shape 25"/>
          <p:cNvSpPr/>
          <p:nvPr/>
        </p:nvSpPr>
        <p:spPr>
          <a:xfrm>
            <a:off x="8060741" y="3438144"/>
            <a:ext cx="3564026" cy="1298448"/>
          </a:xfrm>
          <a:prstGeom prst="roundRect">
            <a:avLst>
              <a:gd name="adj" fmla="val 563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3" name="Shape 26"/>
          <p:cNvSpPr/>
          <p:nvPr/>
        </p:nvSpPr>
        <p:spPr>
          <a:xfrm>
            <a:off x="8243621" y="3621024"/>
            <a:ext cx="420624" cy="420624"/>
          </a:xfrm>
          <a:prstGeom prst="ellipse">
            <a:avLst/>
          </a:prstGeom>
          <a:solidFill>
            <a:srgbClr val="141B3C"/>
          </a:solidFill>
          <a:ln/>
        </p:spPr>
      </p:sp>
      <p:pic>
        <p:nvPicPr>
          <p:cNvPr id="34" name="Image 5" descr="C:\Users\yosrk\AppData\Local\Temp\claude\c--Users-yosrk-OneDrive-Bureau-RHpfe-Antigone-RH\f59fd8f1-a1b7-4e96-84d6-6d2a4296fa99\scratchpad\pfe-soutenance\icons\building.png">    </p:cNvPr>
          <p:cNvPicPr>
            <a:picLocks noChangeAspect="1"/>
          </p:cNvPicPr>
          <p:nvPr/>
        </p:nvPicPr>
        <p:blipFill>
          <a:blip r:embed="rId6"/>
          <a:stretch>
            <a:fillRect/>
          </a:stretch>
        </p:blipFill>
        <p:spPr>
          <a:xfrm>
            <a:off x="8302508" y="3679911"/>
            <a:ext cx="302849" cy="302849"/>
          </a:xfrm>
          <a:prstGeom prst="rect">
            <a:avLst/>
          </a:prstGeom>
        </p:spPr>
      </p:pic>
      <p:sp>
        <p:nvSpPr>
          <p:cNvPr id="35" name="Text 27"/>
          <p:cNvSpPr txBox="1"/>
          <p:nvPr/>
        </p:nvSpPr>
        <p:spPr>
          <a:xfrm>
            <a:off x="8773973" y="3593592"/>
            <a:ext cx="2695346" cy="32004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Client</a:t>
            </a:r>
            <a:endParaRPr lang="en-US" sz="1200" dirty="0"/>
          </a:p>
        </p:txBody>
      </p:sp>
      <p:sp>
        <p:nvSpPr>
          <p:cNvPr id="36" name="Text 28"/>
          <p:cNvSpPr txBox="1"/>
          <p:nvPr/>
        </p:nvSpPr>
        <p:spPr>
          <a:xfrm>
            <a:off x="8243621" y="4096512"/>
            <a:ext cx="3198266" cy="548640"/>
          </a:xfrm>
          <a:prstGeom prst="rect">
            <a:avLst/>
          </a:prstGeom>
          <a:noFill/>
          <a:ln/>
        </p:spPr>
        <p:txBody>
          <a:bodyPr wrap="square" lIns="0" tIns="0" rIns="0" bIns="0" rtlCol="0" anchor="ctr"/>
          <a:lstStyle/>
          <a:p>
            <a:pPr indent="0" marL="0">
              <a:lnSpc>
                <a:spcPct val="115000"/>
              </a:lnSpc>
              <a:buNone/>
            </a:pPr>
            <a:r>
              <a:rPr lang="en-US" sz="970" dirty="0">
                <a:solidFill>
                  <a:srgbClr val="3A3F5C"/>
                </a:solidFill>
                <a:latin typeface="Calibri" pitchFamily="34" charset="0"/>
                <a:ea typeface="Calibri" pitchFamily="34" charset="-122"/>
                <a:cs typeface="Calibri" pitchFamily="34" charset="-120"/>
              </a:rPr>
              <a:t>Suit ses projets, ses plans médias et ses livrables</a:t>
            </a:r>
            <a:endParaRPr lang="en-US" sz="970" dirty="0"/>
          </a:p>
        </p:txBody>
      </p:sp>
      <p:sp>
        <p:nvSpPr>
          <p:cNvPr id="37" name="Text 29"/>
          <p:cNvSpPr txBox="1"/>
          <p:nvPr/>
        </p:nvSpPr>
        <p:spPr>
          <a:xfrm>
            <a:off x="566928" y="4956048"/>
            <a:ext cx="7315200" cy="292608"/>
          </a:xfrm>
          <a:prstGeom prst="rect">
            <a:avLst/>
          </a:prstGeom>
          <a:noFill/>
          <a:ln/>
        </p:spPr>
        <p:txBody>
          <a:bodyPr wrap="square" lIns="0" tIns="0" rIns="0" bIns="0" rtlCol="0" anchor="ctr"/>
          <a:lstStyle/>
          <a:p>
            <a:pPr indent="0" marL="0">
              <a:buNone/>
            </a:pPr>
            <a:r>
              <a:rPr lang="en-US" sz="1350" b="1" dirty="0">
                <a:solidFill>
                  <a:srgbClr val="141B3C"/>
                </a:solidFill>
                <a:latin typeface="Calibri" pitchFamily="34" charset="0"/>
                <a:ea typeface="Calibri" pitchFamily="34" charset="-122"/>
                <a:cs typeface="Calibri" pitchFamily="34" charset="-120"/>
              </a:rPr>
              <a:t>Acteurs secondaires (systèmes externes)</a:t>
            </a:r>
            <a:endParaRPr lang="en-US" sz="1350" dirty="0"/>
          </a:p>
        </p:txBody>
      </p:sp>
      <p:sp>
        <p:nvSpPr>
          <p:cNvPr id="38" name="Shape 30"/>
          <p:cNvSpPr/>
          <p:nvPr/>
        </p:nvSpPr>
        <p:spPr>
          <a:xfrm>
            <a:off x="566928" y="5321808"/>
            <a:ext cx="262730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76200" dist="25400" dir="5400000">
              <a:srgbClr val="141B3C">
                <a:alpha val="10000"/>
              </a:srgbClr>
            </a:outerShdw>
          </a:effectLst>
        </p:spPr>
      </p:sp>
      <p:sp>
        <p:nvSpPr>
          <p:cNvPr id="39" name="Shape 31"/>
          <p:cNvSpPr/>
          <p:nvPr/>
        </p:nvSpPr>
        <p:spPr>
          <a:xfrm>
            <a:off x="731520" y="5486400"/>
            <a:ext cx="384048" cy="384048"/>
          </a:xfrm>
          <a:prstGeom prst="ellipse">
            <a:avLst/>
          </a:prstGeom>
          <a:solidFill>
            <a:srgbClr val="17B8A6"/>
          </a:solidFill>
          <a:ln/>
        </p:spPr>
      </p:sp>
      <p:pic>
        <p:nvPicPr>
          <p:cNvPr id="40" name="Image 6" descr="C:\Users\yosrk\AppData\Local\Temp\claude\c--Users-yosrk-OneDrive-Bureau-RHpfe-Antigone-RH\f59fd8f1-a1b7-4e96-84d6-6d2a4296fa99\scratchpad\pfe-soutenance\icons\clock.png">    </p:cNvPr>
          <p:cNvPicPr>
            <a:picLocks noChangeAspect="1"/>
          </p:cNvPicPr>
          <p:nvPr/>
        </p:nvPicPr>
        <p:blipFill>
          <a:blip r:embed="rId7"/>
          <a:stretch>
            <a:fillRect/>
          </a:stretch>
        </p:blipFill>
        <p:spPr>
          <a:xfrm>
            <a:off x="785287" y="5540167"/>
            <a:ext cx="276515" cy="276515"/>
          </a:xfrm>
          <a:prstGeom prst="rect">
            <a:avLst/>
          </a:prstGeom>
        </p:spPr>
      </p:pic>
      <p:sp>
        <p:nvSpPr>
          <p:cNvPr id="41" name="Text 32"/>
          <p:cNvSpPr txBox="1"/>
          <p:nvPr/>
        </p:nvSpPr>
        <p:spPr>
          <a:xfrm>
            <a:off x="1207008" y="5449824"/>
            <a:ext cx="185006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Agent de présence</a:t>
            </a:r>
            <a:endParaRPr lang="en-US" sz="1050" dirty="0"/>
          </a:p>
        </p:txBody>
      </p:sp>
      <p:sp>
        <p:nvSpPr>
          <p:cNvPr id="42" name="Text 33"/>
          <p:cNvSpPr txBox="1"/>
          <p:nvPr/>
        </p:nvSpPr>
        <p:spPr>
          <a:xfrm>
            <a:off x="1207008" y="5733288"/>
            <a:ext cx="1850060" cy="457200"/>
          </a:xfrm>
          <a:prstGeom prst="rect">
            <a:avLst/>
          </a:prstGeom>
          <a:noFill/>
          <a:ln/>
        </p:spPr>
        <p:txBody>
          <a:bodyPr wrap="square" lIns="0" tIns="0" rIns="0" bIns="0" rtlCol="0" anchor="ctr"/>
          <a:lstStyle/>
          <a:p>
            <a:pPr indent="0" marL="0">
              <a:lnSpc>
                <a:spcPct val="110000"/>
              </a:lnSpc>
              <a:buNone/>
            </a:pPr>
            <a:r>
              <a:rPr lang="en-US" sz="870" dirty="0">
                <a:solidFill>
                  <a:srgbClr val="B9C6EE"/>
                </a:solidFill>
                <a:latin typeface="Calibri" pitchFamily="34" charset="0"/>
                <a:ea typeface="Calibri" pitchFamily="34" charset="-122"/>
                <a:cs typeface="Calibri" pitchFamily="34" charset="-120"/>
              </a:rPr>
              <a:t>Recoupe le pointage (heartbeat)</a:t>
            </a:r>
            <a:endParaRPr lang="en-US" sz="870" dirty="0"/>
          </a:p>
        </p:txBody>
      </p:sp>
      <p:sp>
        <p:nvSpPr>
          <p:cNvPr id="43" name="Shape 34"/>
          <p:cNvSpPr/>
          <p:nvPr/>
        </p:nvSpPr>
        <p:spPr>
          <a:xfrm>
            <a:off x="3377108" y="5321808"/>
            <a:ext cx="262730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76200" dist="25400" dir="5400000">
              <a:srgbClr val="141B3C">
                <a:alpha val="10000"/>
              </a:srgbClr>
            </a:outerShdw>
          </a:effectLst>
        </p:spPr>
      </p:sp>
      <p:sp>
        <p:nvSpPr>
          <p:cNvPr id="44" name="Shape 35"/>
          <p:cNvSpPr/>
          <p:nvPr/>
        </p:nvSpPr>
        <p:spPr>
          <a:xfrm>
            <a:off x="3541700" y="5486400"/>
            <a:ext cx="384048" cy="384048"/>
          </a:xfrm>
          <a:prstGeom prst="ellipse">
            <a:avLst/>
          </a:prstGeom>
          <a:solidFill>
            <a:srgbClr val="17B8A6"/>
          </a:solidFill>
          <a:ln/>
        </p:spPr>
      </p:sp>
      <p:pic>
        <p:nvPicPr>
          <p:cNvPr id="45" name="Image 7" descr="C:\Users\yosrk\AppData\Local\Temp\claude\c--Users-yosrk-OneDrive-Bureau-RHpfe-Antigone-RH\f59fd8f1-a1b7-4e96-84d6-6d2a4296fa99\scratchpad\pfe-soutenance\icons\bell.png">    </p:cNvPr>
          <p:cNvPicPr>
            <a:picLocks noChangeAspect="1"/>
          </p:cNvPicPr>
          <p:nvPr/>
        </p:nvPicPr>
        <p:blipFill>
          <a:blip r:embed="rId8"/>
          <a:stretch>
            <a:fillRect/>
          </a:stretch>
        </p:blipFill>
        <p:spPr>
          <a:xfrm>
            <a:off x="3595467" y="5540167"/>
            <a:ext cx="276515" cy="276515"/>
          </a:xfrm>
          <a:prstGeom prst="rect">
            <a:avLst/>
          </a:prstGeom>
        </p:spPr>
      </p:pic>
      <p:sp>
        <p:nvSpPr>
          <p:cNvPr id="46" name="Text 36"/>
          <p:cNvSpPr txBox="1"/>
          <p:nvPr/>
        </p:nvSpPr>
        <p:spPr>
          <a:xfrm>
            <a:off x="4017188" y="5449824"/>
            <a:ext cx="185006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Brevo</a:t>
            </a:r>
            <a:endParaRPr lang="en-US" sz="1050" dirty="0"/>
          </a:p>
        </p:txBody>
      </p:sp>
      <p:sp>
        <p:nvSpPr>
          <p:cNvPr id="47" name="Text 37"/>
          <p:cNvSpPr txBox="1"/>
          <p:nvPr/>
        </p:nvSpPr>
        <p:spPr>
          <a:xfrm>
            <a:off x="4017188" y="5733288"/>
            <a:ext cx="1850060" cy="457200"/>
          </a:xfrm>
          <a:prstGeom prst="rect">
            <a:avLst/>
          </a:prstGeom>
          <a:noFill/>
          <a:ln/>
        </p:spPr>
        <p:txBody>
          <a:bodyPr wrap="square" lIns="0" tIns="0" rIns="0" bIns="0" rtlCol="0" anchor="ctr"/>
          <a:lstStyle/>
          <a:p>
            <a:pPr indent="0" marL="0">
              <a:lnSpc>
                <a:spcPct val="110000"/>
              </a:lnSpc>
              <a:buNone/>
            </a:pPr>
            <a:r>
              <a:rPr lang="en-US" sz="870" dirty="0">
                <a:solidFill>
                  <a:srgbClr val="B9C6EE"/>
                </a:solidFill>
                <a:latin typeface="Calibri" pitchFamily="34" charset="0"/>
                <a:ea typeface="Calibri" pitchFamily="34" charset="-122"/>
                <a:cs typeface="Calibri" pitchFamily="34" charset="-120"/>
              </a:rPr>
              <a:t>E-mails transactionnels</a:t>
            </a:r>
            <a:endParaRPr lang="en-US" sz="870" dirty="0"/>
          </a:p>
        </p:txBody>
      </p:sp>
      <p:sp>
        <p:nvSpPr>
          <p:cNvPr id="48" name="Shape 38"/>
          <p:cNvSpPr/>
          <p:nvPr/>
        </p:nvSpPr>
        <p:spPr>
          <a:xfrm>
            <a:off x="6187288" y="5321808"/>
            <a:ext cx="262730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76200" dist="25400" dir="5400000">
              <a:srgbClr val="141B3C">
                <a:alpha val="10000"/>
              </a:srgbClr>
            </a:outerShdw>
          </a:effectLst>
        </p:spPr>
      </p:sp>
      <p:sp>
        <p:nvSpPr>
          <p:cNvPr id="49" name="Shape 39"/>
          <p:cNvSpPr/>
          <p:nvPr/>
        </p:nvSpPr>
        <p:spPr>
          <a:xfrm>
            <a:off x="6351880" y="5486400"/>
            <a:ext cx="384048" cy="384048"/>
          </a:xfrm>
          <a:prstGeom prst="ellipse">
            <a:avLst/>
          </a:prstGeom>
          <a:solidFill>
            <a:srgbClr val="17B8A6"/>
          </a:solidFill>
          <a:ln/>
        </p:spPr>
      </p:sp>
      <p:pic>
        <p:nvPicPr>
          <p:cNvPr id="50" name="Image 8" descr="C:\Users\yosrk\AppData\Local\Temp\claude\c--Users-yosrk-OneDrive-Bureau-RHpfe-Antigone-RH\f59fd8f1-a1b7-4e96-84d6-6d2a4296fa99\scratchpad\pfe-soutenance\icons\cloud.png">    </p:cNvPr>
          <p:cNvPicPr>
            <a:picLocks noChangeAspect="1"/>
          </p:cNvPicPr>
          <p:nvPr/>
        </p:nvPicPr>
        <p:blipFill>
          <a:blip r:embed="rId9"/>
          <a:stretch>
            <a:fillRect/>
          </a:stretch>
        </p:blipFill>
        <p:spPr>
          <a:xfrm>
            <a:off x="6405646" y="5540167"/>
            <a:ext cx="276515" cy="276515"/>
          </a:xfrm>
          <a:prstGeom prst="rect">
            <a:avLst/>
          </a:prstGeom>
        </p:spPr>
      </p:pic>
      <p:sp>
        <p:nvSpPr>
          <p:cNvPr id="51" name="Text 40"/>
          <p:cNvSpPr txBox="1"/>
          <p:nvPr/>
        </p:nvSpPr>
        <p:spPr>
          <a:xfrm>
            <a:off x="6827368" y="5449824"/>
            <a:ext cx="185006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Google Drive</a:t>
            </a:r>
            <a:endParaRPr lang="en-US" sz="1050" dirty="0"/>
          </a:p>
        </p:txBody>
      </p:sp>
      <p:sp>
        <p:nvSpPr>
          <p:cNvPr id="52" name="Text 41"/>
          <p:cNvSpPr txBox="1"/>
          <p:nvPr/>
        </p:nvSpPr>
        <p:spPr>
          <a:xfrm>
            <a:off x="6827368" y="5733288"/>
            <a:ext cx="1850060" cy="457200"/>
          </a:xfrm>
          <a:prstGeom prst="rect">
            <a:avLst/>
          </a:prstGeom>
          <a:noFill/>
          <a:ln/>
        </p:spPr>
        <p:txBody>
          <a:bodyPr wrap="square" lIns="0" tIns="0" rIns="0" bIns="0" rtlCol="0" anchor="ctr"/>
          <a:lstStyle/>
          <a:p>
            <a:pPr indent="0" marL="0">
              <a:lnSpc>
                <a:spcPct val="110000"/>
              </a:lnSpc>
              <a:buNone/>
            </a:pPr>
            <a:r>
              <a:rPr lang="en-US" sz="870" dirty="0">
                <a:solidFill>
                  <a:srgbClr val="B9C6EE"/>
                </a:solidFill>
                <a:latin typeface="Calibri" pitchFamily="34" charset="0"/>
                <a:ea typeface="Calibri" pitchFamily="34" charset="-122"/>
                <a:cs typeface="Calibri" pitchFamily="34" charset="-120"/>
              </a:rPr>
              <a:t>Livrables &amp; justificatifs</a:t>
            </a:r>
            <a:endParaRPr lang="en-US" sz="870" dirty="0"/>
          </a:p>
        </p:txBody>
      </p:sp>
      <p:sp>
        <p:nvSpPr>
          <p:cNvPr id="53" name="Shape 42"/>
          <p:cNvSpPr/>
          <p:nvPr/>
        </p:nvSpPr>
        <p:spPr>
          <a:xfrm>
            <a:off x="8997467" y="5321808"/>
            <a:ext cx="2627300" cy="914400"/>
          </a:xfrm>
          <a:prstGeom prst="roundRect">
            <a:avLst>
              <a:gd name="adj" fmla="val 8000"/>
            </a:avLst>
          </a:prstGeom>
          <a:solidFill>
            <a:srgbClr val="1E2761"/>
          </a:solidFill>
          <a:ln w="12700">
            <a:solidFill>
              <a:srgbClr val="1E2761"/>
            </a:solidFill>
            <a:prstDash val="solid"/>
          </a:ln>
          <a:effectLst>
            <a:outerShdw sx="100000" sy="100000" kx="0" ky="0" algn="bl" rotWithShape="0" blurRad="76200" dist="25400" dir="5400000">
              <a:srgbClr val="141B3C">
                <a:alpha val="10000"/>
              </a:srgbClr>
            </a:outerShdw>
          </a:effectLst>
        </p:spPr>
      </p:sp>
      <p:sp>
        <p:nvSpPr>
          <p:cNvPr id="54" name="Shape 43"/>
          <p:cNvSpPr/>
          <p:nvPr/>
        </p:nvSpPr>
        <p:spPr>
          <a:xfrm>
            <a:off x="9162059" y="5486400"/>
            <a:ext cx="384048" cy="384048"/>
          </a:xfrm>
          <a:prstGeom prst="ellipse">
            <a:avLst/>
          </a:prstGeom>
          <a:solidFill>
            <a:srgbClr val="17B8A6"/>
          </a:solidFill>
          <a:ln/>
        </p:spPr>
      </p:sp>
      <p:pic>
        <p:nvPicPr>
          <p:cNvPr id="55" name="Image 9" descr="C:\Users\yosrk\AppData\Local\Temp\claude\c--Users-yosrk-OneDrive-Bureau-RHpfe-Antigone-RH\f59fd8f1-a1b7-4e96-84d6-6d2a4296fa99\scratchpad\pfe-soutenance\icons\robot.png">    </p:cNvPr>
          <p:cNvPicPr>
            <a:picLocks noChangeAspect="1"/>
          </p:cNvPicPr>
          <p:nvPr/>
        </p:nvPicPr>
        <p:blipFill>
          <a:blip r:embed="rId10"/>
          <a:stretch>
            <a:fillRect/>
          </a:stretch>
        </p:blipFill>
        <p:spPr>
          <a:xfrm>
            <a:off x="9215826" y="5540167"/>
            <a:ext cx="276515" cy="276515"/>
          </a:xfrm>
          <a:prstGeom prst="rect">
            <a:avLst/>
          </a:prstGeom>
        </p:spPr>
      </p:pic>
      <p:sp>
        <p:nvSpPr>
          <p:cNvPr id="56" name="Text 44"/>
          <p:cNvSpPr txBox="1"/>
          <p:nvPr/>
        </p:nvSpPr>
        <p:spPr>
          <a:xfrm>
            <a:off x="9637547" y="5449824"/>
            <a:ext cx="1850060" cy="29260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Assistant IA</a:t>
            </a:r>
            <a:endParaRPr lang="en-US" sz="1050" dirty="0"/>
          </a:p>
        </p:txBody>
      </p:sp>
      <p:sp>
        <p:nvSpPr>
          <p:cNvPr id="57" name="Text 45"/>
          <p:cNvSpPr txBox="1"/>
          <p:nvPr/>
        </p:nvSpPr>
        <p:spPr>
          <a:xfrm>
            <a:off x="9637547" y="5733288"/>
            <a:ext cx="1850060" cy="457200"/>
          </a:xfrm>
          <a:prstGeom prst="rect">
            <a:avLst/>
          </a:prstGeom>
          <a:noFill/>
          <a:ln/>
        </p:spPr>
        <p:txBody>
          <a:bodyPr wrap="square" lIns="0" tIns="0" rIns="0" bIns="0" rtlCol="0" anchor="ctr"/>
          <a:lstStyle/>
          <a:p>
            <a:pPr indent="0" marL="0">
              <a:lnSpc>
                <a:spcPct val="110000"/>
              </a:lnSpc>
              <a:buNone/>
            </a:pPr>
            <a:r>
              <a:rPr lang="en-US" sz="870" dirty="0">
                <a:solidFill>
                  <a:srgbClr val="B9C6EE"/>
                </a:solidFill>
                <a:latin typeface="Calibri" pitchFamily="34" charset="0"/>
                <a:ea typeface="Calibri" pitchFamily="34" charset="-122"/>
                <a:cs typeface="Calibri" pitchFamily="34" charset="-120"/>
              </a:rPr>
              <a:t>Réponses en langage naturel</a:t>
            </a:r>
            <a:endParaRPr lang="en-US" sz="8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08</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06 · SPÉCIFICATION DES BESOINS</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Besoins fonctionnels — vue par module</a:t>
            </a:r>
            <a:endParaRPr lang="en-US" sz="3000" dirty="0"/>
          </a:p>
        </p:txBody>
      </p:sp>
      <p:sp>
        <p:nvSpPr>
          <p:cNvPr id="6" name="Shape 4"/>
          <p:cNvSpPr/>
          <p:nvPr/>
        </p:nvSpPr>
        <p:spPr>
          <a:xfrm>
            <a:off x="566928" y="1691640"/>
            <a:ext cx="3564026" cy="2212848"/>
          </a:xfrm>
          <a:prstGeom prst="roundRect">
            <a:avLst>
              <a:gd name="adj" fmla="val 3306"/>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768096" y="1892808"/>
            <a:ext cx="457200" cy="457200"/>
          </a:xfrm>
          <a:prstGeom prst="ellipse">
            <a:avLst/>
          </a:prstGeom>
          <a:solidFill>
            <a:srgbClr val="141B3C"/>
          </a:solidFill>
          <a:ln/>
        </p:spPr>
      </p:sp>
      <p:pic>
        <p:nvPicPr>
          <p:cNvPr id="8" name="Image 0" descr="C:\Users\yosrk\AppData\Local\Temp\claude\c--Users-yosrk-OneDrive-Bureau-RHpfe-Antigone-RH\f59fd8f1-a1b7-4e96-84d6-6d2a4296fa99\scratchpad\pfe-soutenance\icons\key.png">    </p:cNvPr>
          <p:cNvPicPr>
            <a:picLocks noChangeAspect="1"/>
          </p:cNvPicPr>
          <p:nvPr/>
        </p:nvPicPr>
        <p:blipFill>
          <a:blip r:embed="rId1"/>
          <a:stretch>
            <a:fillRect/>
          </a:stretch>
        </p:blipFill>
        <p:spPr>
          <a:xfrm>
            <a:off x="832104" y="1956816"/>
            <a:ext cx="329184" cy="329184"/>
          </a:xfrm>
          <a:prstGeom prst="rect">
            <a:avLst/>
          </a:prstGeom>
        </p:spPr>
      </p:pic>
      <p:sp>
        <p:nvSpPr>
          <p:cNvPr id="9" name="Text 6"/>
          <p:cNvSpPr txBox="1"/>
          <p:nvPr/>
        </p:nvSpPr>
        <p:spPr>
          <a:xfrm>
            <a:off x="1353312" y="1938528"/>
            <a:ext cx="2603906" cy="457200"/>
          </a:xfrm>
          <a:prstGeom prst="rect">
            <a:avLst/>
          </a:prstGeom>
          <a:noFill/>
          <a:ln/>
        </p:spPr>
        <p:txBody>
          <a:bodyPr wrap="square" lIns="0" tIns="0" rIns="0" bIns="0" rtlCol="0" anchor="ctr"/>
          <a:lstStyle/>
          <a:p>
            <a:pPr indent="0" marL="0">
              <a:buNone/>
            </a:pPr>
            <a:r>
              <a:rPr lang="en-US" sz="1250" b="1" dirty="0">
                <a:solidFill>
                  <a:srgbClr val="141B3C"/>
                </a:solidFill>
                <a:latin typeface="Calibri" pitchFamily="34" charset="0"/>
                <a:ea typeface="Calibri" pitchFamily="34" charset="-122"/>
                <a:cs typeface="Calibri" pitchFamily="34" charset="-120"/>
              </a:rPr>
              <a:t>Authentification &amp; Admin</a:t>
            </a:r>
            <a:endParaRPr lang="en-US" sz="1250" dirty="0"/>
          </a:p>
        </p:txBody>
      </p:sp>
      <p:sp>
        <p:nvSpPr>
          <p:cNvPr id="10" name="Text 7"/>
          <p:cNvSpPr txBox="1"/>
          <p:nvPr/>
        </p:nvSpPr>
        <p:spPr>
          <a:xfrm>
            <a:off x="786384" y="2560320"/>
            <a:ext cx="3152546" cy="1234440"/>
          </a:xfrm>
          <a:prstGeom prst="rect">
            <a:avLst/>
          </a:prstGeom>
          <a:noFill/>
          <a:ln/>
        </p:spPr>
        <p:txBody>
          <a:bodyPr wrap="square" lIns="0" tIns="0" rIns="0" bIns="0" rtlCol="0" anchor="ctr"/>
          <a:lstStyle/>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Connexion sécurisée (JWT)</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Rôles &amp; permissions (RBAC)</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Gestion des comptes utilisateurs</a:t>
            </a:r>
            <a:endParaRPr lang="en-US" sz="1000" dirty="0"/>
          </a:p>
        </p:txBody>
      </p:sp>
      <p:sp>
        <p:nvSpPr>
          <p:cNvPr id="11" name="Shape 8"/>
          <p:cNvSpPr/>
          <p:nvPr/>
        </p:nvSpPr>
        <p:spPr>
          <a:xfrm>
            <a:off x="4313834" y="1691640"/>
            <a:ext cx="3564026" cy="2212848"/>
          </a:xfrm>
          <a:prstGeom prst="roundRect">
            <a:avLst>
              <a:gd name="adj" fmla="val 3306"/>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9"/>
          <p:cNvSpPr/>
          <p:nvPr/>
        </p:nvSpPr>
        <p:spPr>
          <a:xfrm>
            <a:off x="4515002" y="1892808"/>
            <a:ext cx="457200" cy="457200"/>
          </a:xfrm>
          <a:prstGeom prst="ellipse">
            <a:avLst/>
          </a:prstGeom>
          <a:solidFill>
            <a:srgbClr val="17B8A6"/>
          </a:solidFill>
          <a:ln/>
        </p:spPr>
      </p:sp>
      <p:pic>
        <p:nvPicPr>
          <p:cNvPr id="13" name="Image 1" descr="C:\Users\yosrk\AppData\Local\Temp\claude\c--Users-yosrk-OneDrive-Bureau-RHpfe-Antigone-RH\f59fd8f1-a1b7-4e96-84d6-6d2a4296fa99\scratchpad\pfe-soutenance\icons\calendar.png">    </p:cNvPr>
          <p:cNvPicPr>
            <a:picLocks noChangeAspect="1"/>
          </p:cNvPicPr>
          <p:nvPr/>
        </p:nvPicPr>
        <p:blipFill>
          <a:blip r:embed="rId2"/>
          <a:stretch>
            <a:fillRect/>
          </a:stretch>
        </p:blipFill>
        <p:spPr>
          <a:xfrm>
            <a:off x="4579010" y="1956816"/>
            <a:ext cx="329184" cy="329184"/>
          </a:xfrm>
          <a:prstGeom prst="rect">
            <a:avLst/>
          </a:prstGeom>
        </p:spPr>
      </p:pic>
      <p:sp>
        <p:nvSpPr>
          <p:cNvPr id="14" name="Text 10"/>
          <p:cNvSpPr txBox="1"/>
          <p:nvPr/>
        </p:nvSpPr>
        <p:spPr>
          <a:xfrm>
            <a:off x="5100218" y="1938528"/>
            <a:ext cx="2603906" cy="457200"/>
          </a:xfrm>
          <a:prstGeom prst="rect">
            <a:avLst/>
          </a:prstGeom>
          <a:noFill/>
          <a:ln/>
        </p:spPr>
        <p:txBody>
          <a:bodyPr wrap="square" lIns="0" tIns="0" rIns="0" bIns="0" rtlCol="0" anchor="ctr"/>
          <a:lstStyle/>
          <a:p>
            <a:pPr indent="0" marL="0">
              <a:buNone/>
            </a:pPr>
            <a:r>
              <a:rPr lang="en-US" sz="1250" b="1" dirty="0">
                <a:solidFill>
                  <a:srgbClr val="141B3C"/>
                </a:solidFill>
                <a:latin typeface="Calibri" pitchFamily="34" charset="0"/>
                <a:ea typeface="Calibri" pitchFamily="34" charset="-122"/>
                <a:cs typeface="Calibri" pitchFamily="34" charset="-120"/>
              </a:rPr>
              <a:t>Ressources Humaines</a:t>
            </a:r>
            <a:endParaRPr lang="en-US" sz="1250" dirty="0"/>
          </a:p>
        </p:txBody>
      </p:sp>
      <p:sp>
        <p:nvSpPr>
          <p:cNvPr id="15" name="Text 11"/>
          <p:cNvSpPr txBox="1"/>
          <p:nvPr/>
        </p:nvSpPr>
        <p:spPr>
          <a:xfrm>
            <a:off x="4533290" y="2560320"/>
            <a:ext cx="3152546" cy="1234440"/>
          </a:xfrm>
          <a:prstGeom prst="rect">
            <a:avLst/>
          </a:prstGeom>
          <a:noFill/>
          <a:ln/>
        </p:spPr>
        <p:txBody>
          <a:bodyPr wrap="square" lIns="0" tIns="0" rIns="0" bIns="0" rtlCol="0" anchor="ctr"/>
          <a:lstStyle/>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12 types de demandes de congé</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Pointage &amp; agent de présence</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Circuit de validation multi-niveaux</a:t>
            </a:r>
            <a:endParaRPr lang="en-US" sz="1000" dirty="0"/>
          </a:p>
        </p:txBody>
      </p:sp>
      <p:sp>
        <p:nvSpPr>
          <p:cNvPr id="16" name="Shape 12"/>
          <p:cNvSpPr/>
          <p:nvPr/>
        </p:nvSpPr>
        <p:spPr>
          <a:xfrm>
            <a:off x="8060741" y="1691640"/>
            <a:ext cx="3564026" cy="2212848"/>
          </a:xfrm>
          <a:prstGeom prst="roundRect">
            <a:avLst>
              <a:gd name="adj" fmla="val 3306"/>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7" name="Shape 13"/>
          <p:cNvSpPr/>
          <p:nvPr/>
        </p:nvSpPr>
        <p:spPr>
          <a:xfrm>
            <a:off x="8261909" y="1892808"/>
            <a:ext cx="457200" cy="457200"/>
          </a:xfrm>
          <a:prstGeom prst="ellipse">
            <a:avLst/>
          </a:prstGeom>
          <a:solidFill>
            <a:srgbClr val="FF6B4A"/>
          </a:solidFill>
          <a:ln/>
        </p:spPr>
      </p:sp>
      <p:pic>
        <p:nvPicPr>
          <p:cNvPr id="18" name="Image 2" descr="C:\Users\yosrk\AppData\Local\Temp\claude\c--Users-yosrk-OneDrive-Bureau-RHpfe-Antigone-RH\f59fd8f1-a1b7-4e96-84d6-6d2a4296fa99\scratchpad\pfe-soutenance\icons\briefcase.png">    </p:cNvPr>
          <p:cNvPicPr>
            <a:picLocks noChangeAspect="1"/>
          </p:cNvPicPr>
          <p:nvPr/>
        </p:nvPicPr>
        <p:blipFill>
          <a:blip r:embed="rId3"/>
          <a:stretch>
            <a:fillRect/>
          </a:stretch>
        </p:blipFill>
        <p:spPr>
          <a:xfrm>
            <a:off x="8325917" y="1956816"/>
            <a:ext cx="329184" cy="329184"/>
          </a:xfrm>
          <a:prstGeom prst="rect">
            <a:avLst/>
          </a:prstGeom>
        </p:spPr>
      </p:pic>
      <p:sp>
        <p:nvSpPr>
          <p:cNvPr id="19" name="Text 14"/>
          <p:cNvSpPr txBox="1"/>
          <p:nvPr/>
        </p:nvSpPr>
        <p:spPr>
          <a:xfrm>
            <a:off x="8847125" y="1938528"/>
            <a:ext cx="2603906" cy="457200"/>
          </a:xfrm>
          <a:prstGeom prst="rect">
            <a:avLst/>
          </a:prstGeom>
          <a:noFill/>
          <a:ln/>
        </p:spPr>
        <p:txBody>
          <a:bodyPr wrap="square" lIns="0" tIns="0" rIns="0" bIns="0" rtlCol="0" anchor="ctr"/>
          <a:lstStyle/>
          <a:p>
            <a:pPr indent="0" marL="0">
              <a:buNone/>
            </a:pPr>
            <a:r>
              <a:rPr lang="en-US" sz="1250" b="1" dirty="0">
                <a:solidFill>
                  <a:srgbClr val="141B3C"/>
                </a:solidFill>
                <a:latin typeface="Calibri" pitchFamily="34" charset="0"/>
                <a:ea typeface="Calibri" pitchFamily="34" charset="-122"/>
                <a:cs typeface="Calibri" pitchFamily="34" charset="-120"/>
              </a:rPr>
              <a:t>Projets &amp; Plans médias</a:t>
            </a:r>
            <a:endParaRPr lang="en-US" sz="1250" dirty="0"/>
          </a:p>
        </p:txBody>
      </p:sp>
      <p:sp>
        <p:nvSpPr>
          <p:cNvPr id="20" name="Text 15"/>
          <p:cNvSpPr txBox="1"/>
          <p:nvPr/>
        </p:nvSpPr>
        <p:spPr>
          <a:xfrm>
            <a:off x="8280197" y="2560320"/>
            <a:ext cx="3152546" cy="1234440"/>
          </a:xfrm>
          <a:prstGeom prst="rect">
            <a:avLst/>
          </a:prstGeom>
          <a:noFill/>
          <a:ln/>
        </p:spPr>
        <p:txBody>
          <a:bodyPr wrap="square" lIns="0" tIns="0" rIns="0" bIns="0" rtlCol="0" anchor="ctr"/>
          <a:lstStyle/>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Projets, équipes, tâches Kanban</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Plan média &amp; double validation</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Réservation de créneaux de tournage</a:t>
            </a:r>
            <a:endParaRPr lang="en-US" sz="1000" dirty="0"/>
          </a:p>
        </p:txBody>
      </p:sp>
      <p:sp>
        <p:nvSpPr>
          <p:cNvPr id="21" name="Shape 16"/>
          <p:cNvSpPr/>
          <p:nvPr/>
        </p:nvSpPr>
        <p:spPr>
          <a:xfrm>
            <a:off x="566928" y="4069080"/>
            <a:ext cx="3564026" cy="2212848"/>
          </a:xfrm>
          <a:prstGeom prst="roundRect">
            <a:avLst>
              <a:gd name="adj" fmla="val 3306"/>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2" name="Shape 17"/>
          <p:cNvSpPr/>
          <p:nvPr/>
        </p:nvSpPr>
        <p:spPr>
          <a:xfrm>
            <a:off x="768096" y="4270248"/>
            <a:ext cx="457200" cy="457200"/>
          </a:xfrm>
          <a:prstGeom prst="ellipse">
            <a:avLst/>
          </a:prstGeom>
          <a:solidFill>
            <a:srgbClr val="17B8A6"/>
          </a:solidFill>
          <a:ln/>
        </p:spPr>
      </p:sp>
      <p:pic>
        <p:nvPicPr>
          <p:cNvPr id="23" name="Image 3" descr="C:\Users\yosrk\AppData\Local\Temp\claude\c--Users-yosrk-OneDrive-Bureau-RHpfe-Antigone-RH\f59fd8f1-a1b7-4e96-84d6-6d2a4296fa99\scratchpad\pfe-soutenance\icons\building.png">    </p:cNvPr>
          <p:cNvPicPr>
            <a:picLocks noChangeAspect="1"/>
          </p:cNvPicPr>
          <p:nvPr/>
        </p:nvPicPr>
        <p:blipFill>
          <a:blip r:embed="rId4"/>
          <a:stretch>
            <a:fillRect/>
          </a:stretch>
        </p:blipFill>
        <p:spPr>
          <a:xfrm>
            <a:off x="832104" y="4334256"/>
            <a:ext cx="329184" cy="329184"/>
          </a:xfrm>
          <a:prstGeom prst="rect">
            <a:avLst/>
          </a:prstGeom>
        </p:spPr>
      </p:pic>
      <p:sp>
        <p:nvSpPr>
          <p:cNvPr id="24" name="Text 18"/>
          <p:cNvSpPr txBox="1"/>
          <p:nvPr/>
        </p:nvSpPr>
        <p:spPr>
          <a:xfrm>
            <a:off x="1353312" y="4315968"/>
            <a:ext cx="2603906" cy="457200"/>
          </a:xfrm>
          <a:prstGeom prst="rect">
            <a:avLst/>
          </a:prstGeom>
          <a:noFill/>
          <a:ln/>
        </p:spPr>
        <p:txBody>
          <a:bodyPr wrap="square" lIns="0" tIns="0" rIns="0" bIns="0" rtlCol="0" anchor="ctr"/>
          <a:lstStyle/>
          <a:p>
            <a:pPr indent="0" marL="0">
              <a:buNone/>
            </a:pPr>
            <a:r>
              <a:rPr lang="en-US" sz="1250" b="1" dirty="0">
                <a:solidFill>
                  <a:srgbClr val="141B3C"/>
                </a:solidFill>
                <a:latin typeface="Calibri" pitchFamily="34" charset="0"/>
                <a:ea typeface="Calibri" pitchFamily="34" charset="-122"/>
                <a:cs typeface="Calibri" pitchFamily="34" charset="-120"/>
              </a:rPr>
              <a:t>Portail Client</a:t>
            </a:r>
            <a:endParaRPr lang="en-US" sz="1250" dirty="0"/>
          </a:p>
        </p:txBody>
      </p:sp>
      <p:sp>
        <p:nvSpPr>
          <p:cNvPr id="25" name="Text 19"/>
          <p:cNvSpPr txBox="1"/>
          <p:nvPr/>
        </p:nvSpPr>
        <p:spPr>
          <a:xfrm>
            <a:off x="786384" y="4937760"/>
            <a:ext cx="3152546" cy="1234440"/>
          </a:xfrm>
          <a:prstGeom prst="rect">
            <a:avLst/>
          </a:prstGeom>
          <a:noFill/>
          <a:ln/>
        </p:spPr>
        <p:txBody>
          <a:bodyPr wrap="square" lIns="0" tIns="0" rIns="0" bIns="0" rtlCol="0" anchor="ctr"/>
          <a:lstStyle/>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Accès dédié, distinct des comptes internes</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Suivi de projets &amp; plans médias</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Espace Drive de livrables</a:t>
            </a:r>
            <a:endParaRPr lang="en-US" sz="1000" dirty="0"/>
          </a:p>
        </p:txBody>
      </p:sp>
      <p:sp>
        <p:nvSpPr>
          <p:cNvPr id="26" name="Shape 20"/>
          <p:cNvSpPr/>
          <p:nvPr/>
        </p:nvSpPr>
        <p:spPr>
          <a:xfrm>
            <a:off x="4313834" y="4069080"/>
            <a:ext cx="3564026" cy="2212848"/>
          </a:xfrm>
          <a:prstGeom prst="roundRect">
            <a:avLst>
              <a:gd name="adj" fmla="val 3306"/>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7" name="Shape 21"/>
          <p:cNvSpPr/>
          <p:nvPr/>
        </p:nvSpPr>
        <p:spPr>
          <a:xfrm>
            <a:off x="4515002" y="4270248"/>
            <a:ext cx="457200" cy="457200"/>
          </a:xfrm>
          <a:prstGeom prst="ellipse">
            <a:avLst/>
          </a:prstGeom>
          <a:solidFill>
            <a:srgbClr val="FF6B4A"/>
          </a:solidFill>
          <a:ln/>
        </p:spPr>
      </p:sp>
      <p:pic>
        <p:nvPicPr>
          <p:cNvPr id="28" name="Image 4" descr="C:\Users\yosrk\AppData\Local\Temp\claude\c--Users-yosrk-OneDrive-Bureau-RHpfe-Antigone-RH\f59fd8f1-a1b7-4e96-84d6-6d2a4296fa99\scratchpad\pfe-soutenance\icons\invoice.png">    </p:cNvPr>
          <p:cNvPicPr>
            <a:picLocks noChangeAspect="1"/>
          </p:cNvPicPr>
          <p:nvPr/>
        </p:nvPicPr>
        <p:blipFill>
          <a:blip r:embed="rId5"/>
          <a:stretch>
            <a:fillRect/>
          </a:stretch>
        </p:blipFill>
        <p:spPr>
          <a:xfrm>
            <a:off x="4579010" y="4334256"/>
            <a:ext cx="329184" cy="329184"/>
          </a:xfrm>
          <a:prstGeom prst="rect">
            <a:avLst/>
          </a:prstGeom>
        </p:spPr>
      </p:pic>
      <p:sp>
        <p:nvSpPr>
          <p:cNvPr id="29" name="Text 22"/>
          <p:cNvSpPr txBox="1"/>
          <p:nvPr/>
        </p:nvSpPr>
        <p:spPr>
          <a:xfrm>
            <a:off x="5100218" y="4315968"/>
            <a:ext cx="2603906" cy="457200"/>
          </a:xfrm>
          <a:prstGeom prst="rect">
            <a:avLst/>
          </a:prstGeom>
          <a:noFill/>
          <a:ln/>
        </p:spPr>
        <p:txBody>
          <a:bodyPr wrap="square" lIns="0" tIns="0" rIns="0" bIns="0" rtlCol="0" anchor="ctr"/>
          <a:lstStyle/>
          <a:p>
            <a:pPr indent="0" marL="0">
              <a:buNone/>
            </a:pPr>
            <a:r>
              <a:rPr lang="en-US" sz="1250" b="1" dirty="0">
                <a:solidFill>
                  <a:srgbClr val="141B3C"/>
                </a:solidFill>
                <a:latin typeface="Calibri" pitchFamily="34" charset="0"/>
                <a:ea typeface="Calibri" pitchFamily="34" charset="-122"/>
                <a:cs typeface="Calibri" pitchFamily="34" charset="-120"/>
              </a:rPr>
              <a:t>Finance</a:t>
            </a:r>
            <a:endParaRPr lang="en-US" sz="1250" dirty="0"/>
          </a:p>
        </p:txBody>
      </p:sp>
      <p:sp>
        <p:nvSpPr>
          <p:cNvPr id="30" name="Text 23"/>
          <p:cNvSpPr txBox="1"/>
          <p:nvPr/>
        </p:nvSpPr>
        <p:spPr>
          <a:xfrm>
            <a:off x="4533290" y="4937760"/>
            <a:ext cx="3152546" cy="1234440"/>
          </a:xfrm>
          <a:prstGeom prst="rect">
            <a:avLst/>
          </a:prstGeom>
          <a:noFill/>
          <a:ln/>
        </p:spPr>
        <p:txBody>
          <a:bodyPr wrap="square" lIns="0" tIns="0" rIns="0" bIns="0" rtlCol="0" anchor="ctr"/>
          <a:lstStyle/>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Facturation &amp; devis, encaissements</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Charges, dettes, relances</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Paie tunisienne, CNSS, TVA</a:t>
            </a:r>
            <a:endParaRPr lang="en-US" sz="1000" dirty="0"/>
          </a:p>
        </p:txBody>
      </p:sp>
      <p:sp>
        <p:nvSpPr>
          <p:cNvPr id="31" name="Shape 24"/>
          <p:cNvSpPr/>
          <p:nvPr/>
        </p:nvSpPr>
        <p:spPr>
          <a:xfrm>
            <a:off x="8060741" y="4069080"/>
            <a:ext cx="3564026" cy="2212848"/>
          </a:xfrm>
          <a:prstGeom prst="roundRect">
            <a:avLst>
              <a:gd name="adj" fmla="val 3306"/>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2" name="Shape 25"/>
          <p:cNvSpPr/>
          <p:nvPr/>
        </p:nvSpPr>
        <p:spPr>
          <a:xfrm>
            <a:off x="8261909" y="4270248"/>
            <a:ext cx="457200" cy="457200"/>
          </a:xfrm>
          <a:prstGeom prst="ellipse">
            <a:avLst/>
          </a:prstGeom>
          <a:solidFill>
            <a:srgbClr val="141B3C"/>
          </a:solidFill>
          <a:ln/>
        </p:spPr>
      </p:sp>
      <p:pic>
        <p:nvPicPr>
          <p:cNvPr id="33" name="Image 5" descr="C:\Users\yosrk\AppData\Local\Temp\claude\c--Users-yosrk-OneDrive-Bureau-RHpfe-Antigone-RH\f59fd8f1-a1b7-4e96-84d6-6d2a4296fa99\scratchpad\pfe-soutenance\icons\listcheck.png">    </p:cNvPr>
          <p:cNvPicPr>
            <a:picLocks noChangeAspect="1"/>
          </p:cNvPicPr>
          <p:nvPr/>
        </p:nvPicPr>
        <p:blipFill>
          <a:blip r:embed="rId6"/>
          <a:stretch>
            <a:fillRect/>
          </a:stretch>
        </p:blipFill>
        <p:spPr>
          <a:xfrm>
            <a:off x="8325917" y="4334256"/>
            <a:ext cx="329184" cy="329184"/>
          </a:xfrm>
          <a:prstGeom prst="rect">
            <a:avLst/>
          </a:prstGeom>
        </p:spPr>
      </p:pic>
      <p:sp>
        <p:nvSpPr>
          <p:cNvPr id="34" name="Text 26"/>
          <p:cNvSpPr txBox="1"/>
          <p:nvPr/>
        </p:nvSpPr>
        <p:spPr>
          <a:xfrm>
            <a:off x="8847125" y="4315968"/>
            <a:ext cx="2603906" cy="457200"/>
          </a:xfrm>
          <a:prstGeom prst="rect">
            <a:avLst/>
          </a:prstGeom>
          <a:noFill/>
          <a:ln/>
        </p:spPr>
        <p:txBody>
          <a:bodyPr wrap="square" lIns="0" tIns="0" rIns="0" bIns="0" rtlCol="0" anchor="ctr"/>
          <a:lstStyle/>
          <a:p>
            <a:pPr indent="0" marL="0">
              <a:buNone/>
            </a:pPr>
            <a:r>
              <a:rPr lang="en-US" sz="1250" b="1" dirty="0">
                <a:solidFill>
                  <a:srgbClr val="141B3C"/>
                </a:solidFill>
                <a:latin typeface="Calibri" pitchFamily="34" charset="0"/>
                <a:ea typeface="Calibri" pitchFamily="34" charset="-122"/>
                <a:cs typeface="Calibri" pitchFamily="34" charset="-120"/>
              </a:rPr>
              <a:t>Transverse</a:t>
            </a:r>
            <a:endParaRPr lang="en-US" sz="1250" dirty="0"/>
          </a:p>
        </p:txBody>
      </p:sp>
      <p:sp>
        <p:nvSpPr>
          <p:cNvPr id="35" name="Text 27"/>
          <p:cNvSpPr txBox="1"/>
          <p:nvPr/>
        </p:nvSpPr>
        <p:spPr>
          <a:xfrm>
            <a:off x="8280197" y="4937760"/>
            <a:ext cx="3152546" cy="1234440"/>
          </a:xfrm>
          <a:prstGeom prst="rect">
            <a:avLst/>
          </a:prstGeom>
          <a:noFill/>
          <a:ln/>
        </p:spPr>
        <p:txBody>
          <a:bodyPr wrap="square" lIns="0" tIns="0" rIns="0" bIns="0" rtlCol="0" anchor="ctr"/>
          <a:lstStyle/>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Référentiels paramétrables</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Tableaux de bord par rôle</a:t>
            </a:r>
            <a:endParaRPr lang="en-US" sz="1000" dirty="0"/>
          </a:p>
          <a:p>
            <a:pPr marL="177800" indent="-177800">
              <a:lnSpc>
                <a:spcPct val="118000"/>
              </a:lnSpc>
              <a:spcAft>
                <a:spcPts val="600"/>
              </a:spcAft>
              <a:buSzPct val="100000"/>
              <a:buChar char="•"/>
            </a:pPr>
            <a:r>
              <a:rPr lang="en-US" sz="1000" dirty="0">
                <a:solidFill>
                  <a:srgbClr val="3A3F5C"/>
                </a:solidFill>
                <a:latin typeface="Calibri" pitchFamily="34" charset="0"/>
                <a:ea typeface="Calibri" pitchFamily="34" charset="-122"/>
                <a:cs typeface="Calibri" pitchFamily="34" charset="-120"/>
              </a:rPr>
              <a:t>Assistant conversationnel (chatbot)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09</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06 · SPÉCIFICATION DES BESOINS</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Diagramme de cas d’utilisation — vue synthétique</a:t>
            </a:r>
            <a:endParaRPr lang="en-US" sz="3000" dirty="0"/>
          </a:p>
        </p:txBody>
      </p:sp>
      <p:sp>
        <p:nvSpPr>
          <p:cNvPr id="6" name="Shape 4"/>
          <p:cNvSpPr/>
          <p:nvPr/>
        </p:nvSpPr>
        <p:spPr>
          <a:xfrm>
            <a:off x="566928" y="1796796"/>
            <a:ext cx="512064" cy="512064"/>
          </a:xfrm>
          <a:prstGeom prst="ellipse">
            <a:avLst/>
          </a:prstGeom>
          <a:solidFill>
            <a:srgbClr val="141B3C"/>
          </a:solidFill>
          <a:ln/>
        </p:spPr>
      </p:sp>
      <p:pic>
        <p:nvPicPr>
          <p:cNvPr id="7" name="Image 0" descr="C:\Users\yosrk\AppData\Local\Temp\claude\c--Users-yosrk-OneDrive-Bureau-RHpfe-Antigone-RH\f59fd8f1-a1b7-4e96-84d6-6d2a4296fa99\scratchpad\pfe-soutenance\icons\users.png">    </p:cNvPr>
          <p:cNvPicPr>
            <a:picLocks noChangeAspect="1"/>
          </p:cNvPicPr>
          <p:nvPr/>
        </p:nvPicPr>
        <p:blipFill>
          <a:blip r:embed="rId1"/>
          <a:stretch>
            <a:fillRect/>
          </a:stretch>
        </p:blipFill>
        <p:spPr>
          <a:xfrm>
            <a:off x="638617" y="1868485"/>
            <a:ext cx="368686" cy="368686"/>
          </a:xfrm>
          <a:prstGeom prst="rect">
            <a:avLst/>
          </a:prstGeom>
        </p:spPr>
      </p:pic>
      <p:sp>
        <p:nvSpPr>
          <p:cNvPr id="8" name="Text 5"/>
          <p:cNvSpPr txBox="1"/>
          <p:nvPr/>
        </p:nvSpPr>
        <p:spPr>
          <a:xfrm>
            <a:off x="246888" y="2327148"/>
            <a:ext cx="1737360" cy="274320"/>
          </a:xfrm>
          <a:prstGeom prst="rect">
            <a:avLst/>
          </a:prstGeom>
          <a:noFill/>
          <a:ln/>
        </p:spPr>
        <p:txBody>
          <a:bodyPr wrap="square" lIns="0" tIns="0" rIns="0" bIns="0" rtlCol="0" anchor="ctr"/>
          <a:lstStyle/>
          <a:p>
            <a:pPr algn="ctr" indent="0" marL="0">
              <a:buNone/>
            </a:pPr>
            <a:r>
              <a:rPr lang="en-US" sz="1000" b="1" dirty="0">
                <a:solidFill>
                  <a:srgbClr val="141B3C"/>
                </a:solidFill>
                <a:latin typeface="Calibri" pitchFamily="34" charset="0"/>
                <a:ea typeface="Calibri" pitchFamily="34" charset="-122"/>
                <a:cs typeface="Calibri" pitchFamily="34" charset="-120"/>
              </a:rPr>
              <a:t>Employé</a:t>
            </a:r>
            <a:endParaRPr lang="en-US" sz="1000" dirty="0"/>
          </a:p>
        </p:txBody>
      </p:sp>
      <p:sp>
        <p:nvSpPr>
          <p:cNvPr id="9" name="Text 6"/>
          <p:cNvSpPr txBox="1"/>
          <p:nvPr/>
        </p:nvSpPr>
        <p:spPr>
          <a:xfrm>
            <a:off x="2167128" y="1778508"/>
            <a:ext cx="502920" cy="548640"/>
          </a:xfrm>
          <a:prstGeom prst="rect">
            <a:avLst/>
          </a:prstGeom>
          <a:noFill/>
          <a:ln/>
        </p:spPr>
        <p:txBody>
          <a:bodyPr wrap="square" lIns="0" tIns="0" rIns="0" bIns="0" rtlCol="0" anchor="ctr"/>
          <a:lstStyle/>
          <a:p>
            <a:pPr algn="ctr" indent="0" marL="0">
              <a:buNone/>
            </a:pPr>
            <a:r>
              <a:rPr lang="en-US" sz="2600" dirty="0">
                <a:solidFill>
                  <a:srgbClr val="E3E7F3"/>
                </a:solidFill>
                <a:latin typeface="Calibri" pitchFamily="34" charset="0"/>
                <a:ea typeface="Calibri" pitchFamily="34" charset="-122"/>
                <a:cs typeface="Calibri" pitchFamily="34" charset="-120"/>
              </a:rPr>
              <a:t>→</a:t>
            </a:r>
            <a:endParaRPr lang="en-US" sz="2600" dirty="0"/>
          </a:p>
        </p:txBody>
      </p:sp>
      <p:sp>
        <p:nvSpPr>
          <p:cNvPr id="10" name="Shape 7"/>
          <p:cNvSpPr/>
          <p:nvPr/>
        </p:nvSpPr>
        <p:spPr>
          <a:xfrm>
            <a:off x="2852928" y="1572768"/>
            <a:ext cx="8771839" cy="960120"/>
          </a:xfrm>
          <a:prstGeom prst="roundRect">
            <a:avLst>
              <a:gd name="adj" fmla="val 761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1" name="Shape 8"/>
          <p:cNvSpPr/>
          <p:nvPr/>
        </p:nvSpPr>
        <p:spPr>
          <a:xfrm>
            <a:off x="2852928" y="1572768"/>
            <a:ext cx="82296" cy="960120"/>
          </a:xfrm>
          <a:prstGeom prst="rect">
            <a:avLst/>
          </a:prstGeom>
          <a:solidFill>
            <a:srgbClr val="17B8A6"/>
          </a:solidFill>
          <a:ln/>
        </p:spPr>
      </p:sp>
      <p:sp>
        <p:nvSpPr>
          <p:cNvPr id="12" name="Text 9"/>
          <p:cNvSpPr txBox="1"/>
          <p:nvPr/>
        </p:nvSpPr>
        <p:spPr>
          <a:xfrm>
            <a:off x="3127248" y="1664208"/>
            <a:ext cx="8314639" cy="27432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Module RH</a:t>
            </a:r>
            <a:endParaRPr lang="en-US" sz="1200" dirty="0"/>
          </a:p>
        </p:txBody>
      </p:sp>
      <p:sp>
        <p:nvSpPr>
          <p:cNvPr id="13" name="Shape 10"/>
          <p:cNvSpPr/>
          <p:nvPr/>
        </p:nvSpPr>
        <p:spPr>
          <a:xfrm>
            <a:off x="3127248" y="2075688"/>
            <a:ext cx="1570939" cy="384048"/>
          </a:xfrm>
          <a:prstGeom prst="roundRect">
            <a:avLst>
              <a:gd name="adj" fmla="val 50000"/>
            </a:avLst>
          </a:prstGeom>
          <a:solidFill>
            <a:srgbClr val="FFFFFF"/>
          </a:solidFill>
          <a:ln w="12700">
            <a:solidFill>
              <a:srgbClr val="E3E7F3"/>
            </a:solidFill>
            <a:prstDash val="solid"/>
          </a:ln>
        </p:spPr>
      </p:sp>
      <p:sp>
        <p:nvSpPr>
          <p:cNvPr id="14" name="Text 11"/>
          <p:cNvSpPr txBox="1"/>
          <p:nvPr/>
        </p:nvSpPr>
        <p:spPr>
          <a:xfrm>
            <a:off x="3127248" y="2075688"/>
            <a:ext cx="1570939"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Déposer une demande</a:t>
            </a:r>
            <a:endParaRPr lang="en-US" sz="900" dirty="0"/>
          </a:p>
        </p:txBody>
      </p:sp>
      <p:sp>
        <p:nvSpPr>
          <p:cNvPr id="15" name="Shape 12"/>
          <p:cNvSpPr/>
          <p:nvPr/>
        </p:nvSpPr>
        <p:spPr>
          <a:xfrm>
            <a:off x="4807915" y="2075688"/>
            <a:ext cx="1720901" cy="384048"/>
          </a:xfrm>
          <a:prstGeom prst="roundRect">
            <a:avLst>
              <a:gd name="adj" fmla="val 50000"/>
            </a:avLst>
          </a:prstGeom>
          <a:solidFill>
            <a:srgbClr val="FFFFFF"/>
          </a:solidFill>
          <a:ln w="12700">
            <a:solidFill>
              <a:srgbClr val="E3E7F3"/>
            </a:solidFill>
            <a:prstDash val="solid"/>
          </a:ln>
        </p:spPr>
      </p:sp>
      <p:sp>
        <p:nvSpPr>
          <p:cNvPr id="16" name="Text 13"/>
          <p:cNvSpPr txBox="1"/>
          <p:nvPr/>
        </p:nvSpPr>
        <p:spPr>
          <a:xfrm>
            <a:off x="4807915" y="2075688"/>
            <a:ext cx="1720901"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Pointer entrée/sortie</a:t>
            </a:r>
            <a:endParaRPr lang="en-US" sz="900" dirty="0"/>
          </a:p>
        </p:txBody>
      </p:sp>
      <p:sp>
        <p:nvSpPr>
          <p:cNvPr id="17" name="Shape 14"/>
          <p:cNvSpPr/>
          <p:nvPr/>
        </p:nvSpPr>
        <p:spPr>
          <a:xfrm>
            <a:off x="6638544" y="2075688"/>
            <a:ext cx="1945843" cy="384048"/>
          </a:xfrm>
          <a:prstGeom prst="roundRect">
            <a:avLst>
              <a:gd name="adj" fmla="val 50000"/>
            </a:avLst>
          </a:prstGeom>
          <a:solidFill>
            <a:srgbClr val="FFFFFF"/>
          </a:solidFill>
          <a:ln w="12700">
            <a:solidFill>
              <a:srgbClr val="E3E7F3"/>
            </a:solidFill>
            <a:prstDash val="solid"/>
          </a:ln>
        </p:spPr>
      </p:sp>
      <p:sp>
        <p:nvSpPr>
          <p:cNvPr id="18" name="Text 15"/>
          <p:cNvSpPr txBox="1"/>
          <p:nvPr/>
        </p:nvSpPr>
        <p:spPr>
          <a:xfrm>
            <a:off x="6638544" y="2075688"/>
            <a:ext cx="1945843"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Consulter son calendrier</a:t>
            </a:r>
            <a:endParaRPr lang="en-US" sz="900" dirty="0"/>
          </a:p>
        </p:txBody>
      </p:sp>
      <p:sp>
        <p:nvSpPr>
          <p:cNvPr id="19" name="Shape 16"/>
          <p:cNvSpPr/>
          <p:nvPr/>
        </p:nvSpPr>
        <p:spPr>
          <a:xfrm>
            <a:off x="886968" y="2670048"/>
            <a:ext cx="365760" cy="365760"/>
          </a:xfrm>
          <a:prstGeom prst="ellipse">
            <a:avLst/>
          </a:prstGeom>
          <a:solidFill>
            <a:srgbClr val="141B3C"/>
          </a:solidFill>
          <a:ln/>
        </p:spPr>
      </p:sp>
      <p:pic>
        <p:nvPicPr>
          <p:cNvPr id="20" name="Image 1" descr="C:\Users\yosrk\AppData\Local\Temp\claude\c--Users-yosrk-OneDrive-Bureau-RHpfe-Antigone-RH\f59fd8f1-a1b7-4e96-84d6-6d2a4296fa99\scratchpad\pfe-soutenance\icons\briefcase.png">    </p:cNvPr>
          <p:cNvPicPr>
            <a:picLocks noChangeAspect="1"/>
          </p:cNvPicPr>
          <p:nvPr/>
        </p:nvPicPr>
        <p:blipFill>
          <a:blip r:embed="rId2"/>
          <a:stretch>
            <a:fillRect/>
          </a:stretch>
        </p:blipFill>
        <p:spPr>
          <a:xfrm>
            <a:off x="938174" y="2721254"/>
            <a:ext cx="263347" cy="263347"/>
          </a:xfrm>
          <a:prstGeom prst="rect">
            <a:avLst/>
          </a:prstGeom>
        </p:spPr>
      </p:pic>
      <p:sp>
        <p:nvSpPr>
          <p:cNvPr id="21" name="Text 17"/>
          <p:cNvSpPr txBox="1"/>
          <p:nvPr/>
        </p:nvSpPr>
        <p:spPr>
          <a:xfrm>
            <a:off x="1316736" y="2715768"/>
            <a:ext cx="1463040" cy="320040"/>
          </a:xfrm>
          <a:prstGeom prst="rect">
            <a:avLst/>
          </a:prstGeom>
          <a:noFill/>
          <a:ln/>
        </p:spPr>
        <p:txBody>
          <a:bodyPr wrap="square" lIns="0" tIns="0" rIns="0" bIns="0" rtlCol="0" anchor="ctr"/>
          <a:lstStyle/>
          <a:p>
            <a:pPr indent="0" marL="0">
              <a:buNone/>
            </a:pPr>
            <a:r>
              <a:rPr lang="en-US" sz="950" b="1" dirty="0">
                <a:solidFill>
                  <a:srgbClr val="141B3C"/>
                </a:solidFill>
                <a:latin typeface="Calibri" pitchFamily="34" charset="0"/>
                <a:ea typeface="Calibri" pitchFamily="34" charset="-122"/>
                <a:cs typeface="Calibri" pitchFamily="34" charset="-120"/>
              </a:rPr>
              <a:t>Chef de projet</a:t>
            </a:r>
            <a:endParaRPr lang="en-US" sz="950" dirty="0"/>
          </a:p>
        </p:txBody>
      </p:sp>
      <p:sp>
        <p:nvSpPr>
          <p:cNvPr id="22" name="Shape 18"/>
          <p:cNvSpPr/>
          <p:nvPr/>
        </p:nvSpPr>
        <p:spPr>
          <a:xfrm>
            <a:off x="886968" y="3150108"/>
            <a:ext cx="365760" cy="365760"/>
          </a:xfrm>
          <a:prstGeom prst="ellipse">
            <a:avLst/>
          </a:prstGeom>
          <a:solidFill>
            <a:srgbClr val="141B3C"/>
          </a:solidFill>
          <a:ln/>
        </p:spPr>
      </p:sp>
      <p:pic>
        <p:nvPicPr>
          <p:cNvPr id="23" name="Image 2" descr="C:\Users\yosrk\AppData\Local\Temp\claude\c--Users-yosrk-OneDrive-Bureau-RHpfe-Antigone-RH\f59fd8f1-a1b7-4e96-84d6-6d2a4296fa99\scratchpad\pfe-soutenance\icons\building.png">    </p:cNvPr>
          <p:cNvPicPr>
            <a:picLocks noChangeAspect="1"/>
          </p:cNvPicPr>
          <p:nvPr/>
        </p:nvPicPr>
        <p:blipFill>
          <a:blip r:embed="rId3"/>
          <a:stretch>
            <a:fillRect/>
          </a:stretch>
        </p:blipFill>
        <p:spPr>
          <a:xfrm>
            <a:off x="938174" y="3201314"/>
            <a:ext cx="263347" cy="263347"/>
          </a:xfrm>
          <a:prstGeom prst="rect">
            <a:avLst/>
          </a:prstGeom>
        </p:spPr>
      </p:pic>
      <p:sp>
        <p:nvSpPr>
          <p:cNvPr id="24" name="Text 19"/>
          <p:cNvSpPr txBox="1"/>
          <p:nvPr/>
        </p:nvSpPr>
        <p:spPr>
          <a:xfrm>
            <a:off x="1316736" y="3195828"/>
            <a:ext cx="1463040" cy="320040"/>
          </a:xfrm>
          <a:prstGeom prst="rect">
            <a:avLst/>
          </a:prstGeom>
          <a:noFill/>
          <a:ln/>
        </p:spPr>
        <p:txBody>
          <a:bodyPr wrap="square" lIns="0" tIns="0" rIns="0" bIns="0" rtlCol="0" anchor="ctr"/>
          <a:lstStyle/>
          <a:p>
            <a:pPr indent="0" marL="0">
              <a:buNone/>
            </a:pPr>
            <a:r>
              <a:rPr lang="en-US" sz="950" b="1" dirty="0">
                <a:solidFill>
                  <a:srgbClr val="141B3C"/>
                </a:solidFill>
                <a:latin typeface="Calibri" pitchFamily="34" charset="0"/>
                <a:ea typeface="Calibri" pitchFamily="34" charset="-122"/>
                <a:cs typeface="Calibri" pitchFamily="34" charset="-120"/>
              </a:rPr>
              <a:t>Client</a:t>
            </a:r>
            <a:endParaRPr lang="en-US" sz="950" dirty="0"/>
          </a:p>
        </p:txBody>
      </p:sp>
      <p:sp>
        <p:nvSpPr>
          <p:cNvPr id="25" name="Text 20"/>
          <p:cNvSpPr txBox="1"/>
          <p:nvPr/>
        </p:nvSpPr>
        <p:spPr>
          <a:xfrm>
            <a:off x="2167128" y="2830068"/>
            <a:ext cx="502920" cy="548640"/>
          </a:xfrm>
          <a:prstGeom prst="rect">
            <a:avLst/>
          </a:prstGeom>
          <a:noFill/>
          <a:ln/>
        </p:spPr>
        <p:txBody>
          <a:bodyPr wrap="square" lIns="0" tIns="0" rIns="0" bIns="0" rtlCol="0" anchor="ctr"/>
          <a:lstStyle/>
          <a:p>
            <a:pPr algn="ctr" indent="0" marL="0">
              <a:buNone/>
            </a:pPr>
            <a:r>
              <a:rPr lang="en-US" sz="2600" dirty="0">
                <a:solidFill>
                  <a:srgbClr val="E3E7F3"/>
                </a:solidFill>
                <a:latin typeface="Calibri" pitchFamily="34" charset="0"/>
                <a:ea typeface="Calibri" pitchFamily="34" charset="-122"/>
                <a:cs typeface="Calibri" pitchFamily="34" charset="-120"/>
              </a:rPr>
              <a:t>→</a:t>
            </a:r>
            <a:endParaRPr lang="en-US" sz="2600" dirty="0"/>
          </a:p>
        </p:txBody>
      </p:sp>
      <p:sp>
        <p:nvSpPr>
          <p:cNvPr id="26" name="Shape 21"/>
          <p:cNvSpPr/>
          <p:nvPr/>
        </p:nvSpPr>
        <p:spPr>
          <a:xfrm>
            <a:off x="2852928" y="2624328"/>
            <a:ext cx="8771839" cy="960120"/>
          </a:xfrm>
          <a:prstGeom prst="roundRect">
            <a:avLst>
              <a:gd name="adj" fmla="val 761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7" name="Shape 22"/>
          <p:cNvSpPr/>
          <p:nvPr/>
        </p:nvSpPr>
        <p:spPr>
          <a:xfrm>
            <a:off x="2852928" y="2624328"/>
            <a:ext cx="82296" cy="960120"/>
          </a:xfrm>
          <a:prstGeom prst="rect">
            <a:avLst/>
          </a:prstGeom>
          <a:solidFill>
            <a:srgbClr val="FF6B4A"/>
          </a:solidFill>
          <a:ln/>
        </p:spPr>
      </p:sp>
      <p:sp>
        <p:nvSpPr>
          <p:cNvPr id="28" name="Text 23"/>
          <p:cNvSpPr txBox="1"/>
          <p:nvPr/>
        </p:nvSpPr>
        <p:spPr>
          <a:xfrm>
            <a:off x="3127248" y="2715768"/>
            <a:ext cx="8314639" cy="27432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Module Projets &amp; Plans médias</a:t>
            </a:r>
            <a:endParaRPr lang="en-US" sz="1200" dirty="0"/>
          </a:p>
        </p:txBody>
      </p:sp>
      <p:sp>
        <p:nvSpPr>
          <p:cNvPr id="29" name="Shape 24"/>
          <p:cNvSpPr/>
          <p:nvPr/>
        </p:nvSpPr>
        <p:spPr>
          <a:xfrm>
            <a:off x="3127248" y="3127248"/>
            <a:ext cx="1945843" cy="384048"/>
          </a:xfrm>
          <a:prstGeom prst="roundRect">
            <a:avLst>
              <a:gd name="adj" fmla="val 50000"/>
            </a:avLst>
          </a:prstGeom>
          <a:solidFill>
            <a:srgbClr val="FFFFFF"/>
          </a:solidFill>
          <a:ln w="12700">
            <a:solidFill>
              <a:srgbClr val="E3E7F3"/>
            </a:solidFill>
            <a:prstDash val="solid"/>
          </a:ln>
        </p:spPr>
      </p:sp>
      <p:sp>
        <p:nvSpPr>
          <p:cNvPr id="30" name="Text 25"/>
          <p:cNvSpPr txBox="1"/>
          <p:nvPr/>
        </p:nvSpPr>
        <p:spPr>
          <a:xfrm>
            <a:off x="3127248" y="3127248"/>
            <a:ext cx="1945843"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Créer / suivre un projet</a:t>
            </a:r>
            <a:endParaRPr lang="en-US" sz="900" dirty="0"/>
          </a:p>
        </p:txBody>
      </p:sp>
      <p:sp>
        <p:nvSpPr>
          <p:cNvPr id="31" name="Shape 26"/>
          <p:cNvSpPr/>
          <p:nvPr/>
        </p:nvSpPr>
        <p:spPr>
          <a:xfrm>
            <a:off x="5182819" y="3127248"/>
            <a:ext cx="1420978" cy="384048"/>
          </a:xfrm>
          <a:prstGeom prst="roundRect">
            <a:avLst>
              <a:gd name="adj" fmla="val 50000"/>
            </a:avLst>
          </a:prstGeom>
          <a:solidFill>
            <a:srgbClr val="FFFFFF"/>
          </a:solidFill>
          <a:ln w="12700">
            <a:solidFill>
              <a:srgbClr val="E3E7F3"/>
            </a:solidFill>
            <a:prstDash val="solid"/>
          </a:ln>
        </p:spPr>
      </p:sp>
      <p:sp>
        <p:nvSpPr>
          <p:cNvPr id="32" name="Text 27"/>
          <p:cNvSpPr txBox="1"/>
          <p:nvPr/>
        </p:nvSpPr>
        <p:spPr>
          <a:xfrm>
            <a:off x="5182819" y="3127248"/>
            <a:ext cx="1420978"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Kanban des tâches</a:t>
            </a:r>
            <a:endParaRPr lang="en-US" sz="900" dirty="0"/>
          </a:p>
        </p:txBody>
      </p:sp>
      <p:sp>
        <p:nvSpPr>
          <p:cNvPr id="33" name="Shape 28"/>
          <p:cNvSpPr/>
          <p:nvPr/>
        </p:nvSpPr>
        <p:spPr>
          <a:xfrm>
            <a:off x="6713525" y="3127248"/>
            <a:ext cx="1945843" cy="384048"/>
          </a:xfrm>
          <a:prstGeom prst="roundRect">
            <a:avLst>
              <a:gd name="adj" fmla="val 50000"/>
            </a:avLst>
          </a:prstGeom>
          <a:solidFill>
            <a:srgbClr val="FFFFFF"/>
          </a:solidFill>
          <a:ln w="12700">
            <a:solidFill>
              <a:srgbClr val="E3E7F3"/>
            </a:solidFill>
            <a:prstDash val="solid"/>
          </a:ln>
        </p:spPr>
      </p:sp>
      <p:sp>
        <p:nvSpPr>
          <p:cNvPr id="34" name="Text 29"/>
          <p:cNvSpPr txBox="1"/>
          <p:nvPr/>
        </p:nvSpPr>
        <p:spPr>
          <a:xfrm>
            <a:off x="6713525" y="3127248"/>
            <a:ext cx="1945843"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Construire un plan média</a:t>
            </a:r>
            <a:endParaRPr lang="en-US" sz="900" dirty="0"/>
          </a:p>
        </p:txBody>
      </p:sp>
      <p:sp>
        <p:nvSpPr>
          <p:cNvPr id="35" name="Shape 30"/>
          <p:cNvSpPr/>
          <p:nvPr/>
        </p:nvSpPr>
        <p:spPr>
          <a:xfrm>
            <a:off x="8769096" y="3127248"/>
            <a:ext cx="821131" cy="384048"/>
          </a:xfrm>
          <a:prstGeom prst="roundRect">
            <a:avLst>
              <a:gd name="adj" fmla="val 50000"/>
            </a:avLst>
          </a:prstGeom>
          <a:solidFill>
            <a:srgbClr val="FFFFFF"/>
          </a:solidFill>
          <a:ln w="12700">
            <a:solidFill>
              <a:srgbClr val="E3E7F3"/>
            </a:solidFill>
            <a:prstDash val="solid"/>
          </a:ln>
        </p:spPr>
      </p:sp>
      <p:sp>
        <p:nvSpPr>
          <p:cNvPr id="36" name="Text 31"/>
          <p:cNvSpPr txBox="1"/>
          <p:nvPr/>
        </p:nvSpPr>
        <p:spPr>
          <a:xfrm>
            <a:off x="8769096" y="3127248"/>
            <a:ext cx="821131"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Commenter</a:t>
            </a:r>
            <a:endParaRPr lang="en-US" sz="900" dirty="0"/>
          </a:p>
        </p:txBody>
      </p:sp>
      <p:sp>
        <p:nvSpPr>
          <p:cNvPr id="37" name="Shape 32"/>
          <p:cNvSpPr/>
          <p:nvPr/>
        </p:nvSpPr>
        <p:spPr>
          <a:xfrm>
            <a:off x="566928" y="3899916"/>
            <a:ext cx="512064" cy="512064"/>
          </a:xfrm>
          <a:prstGeom prst="ellipse">
            <a:avLst/>
          </a:prstGeom>
          <a:solidFill>
            <a:srgbClr val="141B3C"/>
          </a:solidFill>
          <a:ln/>
        </p:spPr>
      </p:sp>
      <p:pic>
        <p:nvPicPr>
          <p:cNvPr id="38" name="Image 3" descr="C:\Users\yosrk\AppData\Local\Temp\claude\c--Users-yosrk-OneDrive-Bureau-RHpfe-Antigone-RH\f59fd8f1-a1b7-4e96-84d6-6d2a4296fa99\scratchpad\pfe-soutenance\icons\invoice.png">    </p:cNvPr>
          <p:cNvPicPr>
            <a:picLocks noChangeAspect="1"/>
          </p:cNvPicPr>
          <p:nvPr/>
        </p:nvPicPr>
        <p:blipFill>
          <a:blip r:embed="rId4"/>
          <a:stretch>
            <a:fillRect/>
          </a:stretch>
        </p:blipFill>
        <p:spPr>
          <a:xfrm>
            <a:off x="638617" y="3971605"/>
            <a:ext cx="368686" cy="368686"/>
          </a:xfrm>
          <a:prstGeom prst="rect">
            <a:avLst/>
          </a:prstGeom>
        </p:spPr>
      </p:pic>
      <p:sp>
        <p:nvSpPr>
          <p:cNvPr id="39" name="Text 33"/>
          <p:cNvSpPr txBox="1"/>
          <p:nvPr/>
        </p:nvSpPr>
        <p:spPr>
          <a:xfrm>
            <a:off x="246888" y="4430268"/>
            <a:ext cx="1737360" cy="274320"/>
          </a:xfrm>
          <a:prstGeom prst="rect">
            <a:avLst/>
          </a:prstGeom>
          <a:noFill/>
          <a:ln/>
        </p:spPr>
        <p:txBody>
          <a:bodyPr wrap="square" lIns="0" tIns="0" rIns="0" bIns="0" rtlCol="0" anchor="ctr"/>
          <a:lstStyle/>
          <a:p>
            <a:pPr algn="ctr" indent="0" marL="0">
              <a:buNone/>
            </a:pPr>
            <a:r>
              <a:rPr lang="en-US" sz="1000" b="1" dirty="0">
                <a:solidFill>
                  <a:srgbClr val="141B3C"/>
                </a:solidFill>
                <a:latin typeface="Calibri" pitchFamily="34" charset="0"/>
                <a:ea typeface="Calibri" pitchFamily="34" charset="-122"/>
                <a:cs typeface="Calibri" pitchFamily="34" charset="-120"/>
              </a:rPr>
              <a:t>Resp. Finance</a:t>
            </a:r>
            <a:endParaRPr lang="en-US" sz="1000" dirty="0"/>
          </a:p>
        </p:txBody>
      </p:sp>
      <p:sp>
        <p:nvSpPr>
          <p:cNvPr id="40" name="Text 34"/>
          <p:cNvSpPr txBox="1"/>
          <p:nvPr/>
        </p:nvSpPr>
        <p:spPr>
          <a:xfrm>
            <a:off x="2167128" y="3881628"/>
            <a:ext cx="502920" cy="548640"/>
          </a:xfrm>
          <a:prstGeom prst="rect">
            <a:avLst/>
          </a:prstGeom>
          <a:noFill/>
          <a:ln/>
        </p:spPr>
        <p:txBody>
          <a:bodyPr wrap="square" lIns="0" tIns="0" rIns="0" bIns="0" rtlCol="0" anchor="ctr"/>
          <a:lstStyle/>
          <a:p>
            <a:pPr algn="ctr" indent="0" marL="0">
              <a:buNone/>
            </a:pPr>
            <a:r>
              <a:rPr lang="en-US" sz="2600" dirty="0">
                <a:solidFill>
                  <a:srgbClr val="E3E7F3"/>
                </a:solidFill>
                <a:latin typeface="Calibri" pitchFamily="34" charset="0"/>
                <a:ea typeface="Calibri" pitchFamily="34" charset="-122"/>
                <a:cs typeface="Calibri" pitchFamily="34" charset="-120"/>
              </a:rPr>
              <a:t>→</a:t>
            </a:r>
            <a:endParaRPr lang="en-US" sz="2600" dirty="0"/>
          </a:p>
        </p:txBody>
      </p:sp>
      <p:sp>
        <p:nvSpPr>
          <p:cNvPr id="41" name="Shape 35"/>
          <p:cNvSpPr/>
          <p:nvPr/>
        </p:nvSpPr>
        <p:spPr>
          <a:xfrm>
            <a:off x="2852928" y="3675888"/>
            <a:ext cx="8771839" cy="960120"/>
          </a:xfrm>
          <a:prstGeom prst="roundRect">
            <a:avLst>
              <a:gd name="adj" fmla="val 761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42" name="Shape 36"/>
          <p:cNvSpPr/>
          <p:nvPr/>
        </p:nvSpPr>
        <p:spPr>
          <a:xfrm>
            <a:off x="2852928" y="3675888"/>
            <a:ext cx="82296" cy="960120"/>
          </a:xfrm>
          <a:prstGeom prst="rect">
            <a:avLst/>
          </a:prstGeom>
          <a:solidFill>
            <a:srgbClr val="141B3C"/>
          </a:solidFill>
          <a:ln/>
        </p:spPr>
      </p:sp>
      <p:sp>
        <p:nvSpPr>
          <p:cNvPr id="43" name="Text 37"/>
          <p:cNvSpPr txBox="1"/>
          <p:nvPr/>
        </p:nvSpPr>
        <p:spPr>
          <a:xfrm>
            <a:off x="3127248" y="3767328"/>
            <a:ext cx="8314639" cy="27432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Module Finance</a:t>
            </a:r>
            <a:endParaRPr lang="en-US" sz="1200" dirty="0"/>
          </a:p>
        </p:txBody>
      </p:sp>
      <p:sp>
        <p:nvSpPr>
          <p:cNvPr id="44" name="Shape 38"/>
          <p:cNvSpPr/>
          <p:nvPr/>
        </p:nvSpPr>
        <p:spPr>
          <a:xfrm>
            <a:off x="3127248" y="4178808"/>
            <a:ext cx="1570939" cy="384048"/>
          </a:xfrm>
          <a:prstGeom prst="roundRect">
            <a:avLst>
              <a:gd name="adj" fmla="val 50000"/>
            </a:avLst>
          </a:prstGeom>
          <a:solidFill>
            <a:srgbClr val="FFFFFF"/>
          </a:solidFill>
          <a:ln w="12700">
            <a:solidFill>
              <a:srgbClr val="E3E7F3"/>
            </a:solidFill>
            <a:prstDash val="solid"/>
          </a:ln>
        </p:spPr>
      </p:sp>
      <p:sp>
        <p:nvSpPr>
          <p:cNvPr id="45" name="Text 39"/>
          <p:cNvSpPr txBox="1"/>
          <p:nvPr/>
        </p:nvSpPr>
        <p:spPr>
          <a:xfrm>
            <a:off x="3127248" y="4178808"/>
            <a:ext cx="1570939"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Émettre une facture</a:t>
            </a:r>
            <a:endParaRPr lang="en-US" sz="900" dirty="0"/>
          </a:p>
        </p:txBody>
      </p:sp>
      <p:sp>
        <p:nvSpPr>
          <p:cNvPr id="46" name="Shape 40"/>
          <p:cNvSpPr/>
          <p:nvPr/>
        </p:nvSpPr>
        <p:spPr>
          <a:xfrm>
            <a:off x="4807915" y="4178808"/>
            <a:ext cx="1870862" cy="384048"/>
          </a:xfrm>
          <a:prstGeom prst="roundRect">
            <a:avLst>
              <a:gd name="adj" fmla="val 50000"/>
            </a:avLst>
          </a:prstGeom>
          <a:solidFill>
            <a:srgbClr val="FFFFFF"/>
          </a:solidFill>
          <a:ln w="12700">
            <a:solidFill>
              <a:srgbClr val="E3E7F3"/>
            </a:solidFill>
            <a:prstDash val="solid"/>
          </a:ln>
        </p:spPr>
      </p:sp>
      <p:sp>
        <p:nvSpPr>
          <p:cNvPr id="47" name="Text 41"/>
          <p:cNvSpPr txBox="1"/>
          <p:nvPr/>
        </p:nvSpPr>
        <p:spPr>
          <a:xfrm>
            <a:off x="4807915" y="4178808"/>
            <a:ext cx="1870862"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Suivre charges &amp; dettes</a:t>
            </a:r>
            <a:endParaRPr lang="en-US" sz="900" dirty="0"/>
          </a:p>
        </p:txBody>
      </p:sp>
      <p:sp>
        <p:nvSpPr>
          <p:cNvPr id="48" name="Shape 42"/>
          <p:cNvSpPr/>
          <p:nvPr/>
        </p:nvSpPr>
        <p:spPr>
          <a:xfrm>
            <a:off x="6788506" y="4178808"/>
            <a:ext cx="2170786" cy="384048"/>
          </a:xfrm>
          <a:prstGeom prst="roundRect">
            <a:avLst>
              <a:gd name="adj" fmla="val 50000"/>
            </a:avLst>
          </a:prstGeom>
          <a:solidFill>
            <a:srgbClr val="FFFFFF"/>
          </a:solidFill>
          <a:ln w="12700">
            <a:solidFill>
              <a:srgbClr val="E3E7F3"/>
            </a:solidFill>
            <a:prstDash val="solid"/>
          </a:ln>
        </p:spPr>
      </p:sp>
      <p:sp>
        <p:nvSpPr>
          <p:cNvPr id="49" name="Text 43"/>
          <p:cNvSpPr txBox="1"/>
          <p:nvPr/>
        </p:nvSpPr>
        <p:spPr>
          <a:xfrm>
            <a:off x="6788506" y="4178808"/>
            <a:ext cx="2170786"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Générer un bulletin de paie</a:t>
            </a:r>
            <a:endParaRPr lang="en-US" sz="900" dirty="0"/>
          </a:p>
        </p:txBody>
      </p:sp>
      <p:sp>
        <p:nvSpPr>
          <p:cNvPr id="50" name="Shape 44"/>
          <p:cNvSpPr/>
          <p:nvPr/>
        </p:nvSpPr>
        <p:spPr>
          <a:xfrm>
            <a:off x="566928" y="4951476"/>
            <a:ext cx="512064" cy="512064"/>
          </a:xfrm>
          <a:prstGeom prst="ellipse">
            <a:avLst/>
          </a:prstGeom>
          <a:solidFill>
            <a:srgbClr val="141B3C"/>
          </a:solidFill>
          <a:ln/>
        </p:spPr>
      </p:sp>
      <p:pic>
        <p:nvPicPr>
          <p:cNvPr id="51" name="Image 4" descr="C:\Users\yosrk\AppData\Local\Temp\claude\c--Users-yosrk-OneDrive-Bureau-RHpfe-Antigone-RH\f59fd8f1-a1b7-4e96-84d6-6d2a4296fa99\scratchpad\pfe-soutenance\icons\userscog.png">    </p:cNvPr>
          <p:cNvPicPr>
            <a:picLocks noChangeAspect="1"/>
          </p:cNvPicPr>
          <p:nvPr/>
        </p:nvPicPr>
        <p:blipFill>
          <a:blip r:embed="rId5"/>
          <a:stretch>
            <a:fillRect/>
          </a:stretch>
        </p:blipFill>
        <p:spPr>
          <a:xfrm>
            <a:off x="638617" y="5023165"/>
            <a:ext cx="368686" cy="368686"/>
          </a:xfrm>
          <a:prstGeom prst="rect">
            <a:avLst/>
          </a:prstGeom>
        </p:spPr>
      </p:pic>
      <p:sp>
        <p:nvSpPr>
          <p:cNvPr id="52" name="Text 45"/>
          <p:cNvSpPr txBox="1"/>
          <p:nvPr/>
        </p:nvSpPr>
        <p:spPr>
          <a:xfrm>
            <a:off x="246888" y="5481828"/>
            <a:ext cx="1737360" cy="274320"/>
          </a:xfrm>
          <a:prstGeom prst="rect">
            <a:avLst/>
          </a:prstGeom>
          <a:noFill/>
          <a:ln/>
        </p:spPr>
        <p:txBody>
          <a:bodyPr wrap="square" lIns="0" tIns="0" rIns="0" bIns="0" rtlCol="0" anchor="ctr"/>
          <a:lstStyle/>
          <a:p>
            <a:pPr algn="ctr" indent="0" marL="0">
              <a:buNone/>
            </a:pPr>
            <a:r>
              <a:rPr lang="en-US" sz="1000" b="1" dirty="0">
                <a:solidFill>
                  <a:srgbClr val="141B3C"/>
                </a:solidFill>
                <a:latin typeface="Calibri" pitchFamily="34" charset="0"/>
                <a:ea typeface="Calibri" pitchFamily="34" charset="-122"/>
                <a:cs typeface="Calibri" pitchFamily="34" charset="-120"/>
              </a:rPr>
              <a:t>Administrateur</a:t>
            </a:r>
            <a:endParaRPr lang="en-US" sz="1000" dirty="0"/>
          </a:p>
        </p:txBody>
      </p:sp>
      <p:sp>
        <p:nvSpPr>
          <p:cNvPr id="53" name="Text 46"/>
          <p:cNvSpPr txBox="1"/>
          <p:nvPr/>
        </p:nvSpPr>
        <p:spPr>
          <a:xfrm>
            <a:off x="2167128" y="4933188"/>
            <a:ext cx="502920" cy="548640"/>
          </a:xfrm>
          <a:prstGeom prst="rect">
            <a:avLst/>
          </a:prstGeom>
          <a:noFill/>
          <a:ln/>
        </p:spPr>
        <p:txBody>
          <a:bodyPr wrap="square" lIns="0" tIns="0" rIns="0" bIns="0" rtlCol="0" anchor="ctr"/>
          <a:lstStyle/>
          <a:p>
            <a:pPr algn="ctr" indent="0" marL="0">
              <a:buNone/>
            </a:pPr>
            <a:r>
              <a:rPr lang="en-US" sz="2600" dirty="0">
                <a:solidFill>
                  <a:srgbClr val="E3E7F3"/>
                </a:solidFill>
                <a:latin typeface="Calibri" pitchFamily="34" charset="0"/>
                <a:ea typeface="Calibri" pitchFamily="34" charset="-122"/>
                <a:cs typeface="Calibri" pitchFamily="34" charset="-120"/>
              </a:rPr>
              <a:t>→</a:t>
            </a:r>
            <a:endParaRPr lang="en-US" sz="2600" dirty="0"/>
          </a:p>
        </p:txBody>
      </p:sp>
      <p:sp>
        <p:nvSpPr>
          <p:cNvPr id="54" name="Shape 47"/>
          <p:cNvSpPr/>
          <p:nvPr/>
        </p:nvSpPr>
        <p:spPr>
          <a:xfrm>
            <a:off x="2852928" y="4727448"/>
            <a:ext cx="8771839" cy="960120"/>
          </a:xfrm>
          <a:prstGeom prst="roundRect">
            <a:avLst>
              <a:gd name="adj" fmla="val 761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55" name="Shape 48"/>
          <p:cNvSpPr/>
          <p:nvPr/>
        </p:nvSpPr>
        <p:spPr>
          <a:xfrm>
            <a:off x="2852928" y="4727448"/>
            <a:ext cx="82296" cy="960120"/>
          </a:xfrm>
          <a:prstGeom prst="rect">
            <a:avLst/>
          </a:prstGeom>
          <a:solidFill>
            <a:srgbClr val="1E2761"/>
          </a:solidFill>
          <a:ln/>
        </p:spPr>
      </p:sp>
      <p:sp>
        <p:nvSpPr>
          <p:cNvPr id="56" name="Text 49"/>
          <p:cNvSpPr txBox="1"/>
          <p:nvPr/>
        </p:nvSpPr>
        <p:spPr>
          <a:xfrm>
            <a:off x="3127248" y="4818888"/>
            <a:ext cx="8314639" cy="27432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Administration (transverse)</a:t>
            </a:r>
            <a:endParaRPr lang="en-US" sz="1200" dirty="0"/>
          </a:p>
        </p:txBody>
      </p:sp>
      <p:sp>
        <p:nvSpPr>
          <p:cNvPr id="57" name="Shape 50"/>
          <p:cNvSpPr/>
          <p:nvPr/>
        </p:nvSpPr>
        <p:spPr>
          <a:xfrm>
            <a:off x="3127248" y="5230368"/>
            <a:ext cx="1720901" cy="384048"/>
          </a:xfrm>
          <a:prstGeom prst="roundRect">
            <a:avLst>
              <a:gd name="adj" fmla="val 50000"/>
            </a:avLst>
          </a:prstGeom>
          <a:solidFill>
            <a:srgbClr val="FFFFFF"/>
          </a:solidFill>
          <a:ln w="12700">
            <a:solidFill>
              <a:srgbClr val="E3E7F3"/>
            </a:solidFill>
            <a:prstDash val="solid"/>
          </a:ln>
        </p:spPr>
      </p:sp>
      <p:sp>
        <p:nvSpPr>
          <p:cNvPr id="58" name="Text 51"/>
          <p:cNvSpPr txBox="1"/>
          <p:nvPr/>
        </p:nvSpPr>
        <p:spPr>
          <a:xfrm>
            <a:off x="3127248" y="5230368"/>
            <a:ext cx="1720901"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Gérer comptes &amp; rôles</a:t>
            </a:r>
            <a:endParaRPr lang="en-US" sz="900" dirty="0"/>
          </a:p>
        </p:txBody>
      </p:sp>
      <p:sp>
        <p:nvSpPr>
          <p:cNvPr id="59" name="Shape 52"/>
          <p:cNvSpPr/>
          <p:nvPr/>
        </p:nvSpPr>
        <p:spPr>
          <a:xfrm>
            <a:off x="4957877" y="5230368"/>
            <a:ext cx="2170786" cy="384048"/>
          </a:xfrm>
          <a:prstGeom prst="roundRect">
            <a:avLst>
              <a:gd name="adj" fmla="val 50000"/>
            </a:avLst>
          </a:prstGeom>
          <a:solidFill>
            <a:srgbClr val="FFFFFF"/>
          </a:solidFill>
          <a:ln w="12700">
            <a:solidFill>
              <a:srgbClr val="E3E7F3"/>
            </a:solidFill>
            <a:prstDash val="solid"/>
          </a:ln>
        </p:spPr>
      </p:sp>
      <p:sp>
        <p:nvSpPr>
          <p:cNvPr id="60" name="Text 53"/>
          <p:cNvSpPr txBox="1"/>
          <p:nvPr/>
        </p:nvSpPr>
        <p:spPr>
          <a:xfrm>
            <a:off x="4957877" y="5230368"/>
            <a:ext cx="2170786"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Paramétrer les référentiels</a:t>
            </a:r>
            <a:endParaRPr lang="en-US" sz="900" dirty="0"/>
          </a:p>
        </p:txBody>
      </p:sp>
      <p:sp>
        <p:nvSpPr>
          <p:cNvPr id="61" name="Shape 54"/>
          <p:cNvSpPr/>
          <p:nvPr/>
        </p:nvSpPr>
        <p:spPr>
          <a:xfrm>
            <a:off x="7238390" y="5230368"/>
            <a:ext cx="1945843" cy="384048"/>
          </a:xfrm>
          <a:prstGeom prst="roundRect">
            <a:avLst>
              <a:gd name="adj" fmla="val 50000"/>
            </a:avLst>
          </a:prstGeom>
          <a:solidFill>
            <a:srgbClr val="FFFFFF"/>
          </a:solidFill>
          <a:ln w="12700">
            <a:solidFill>
              <a:srgbClr val="E3E7F3"/>
            </a:solidFill>
            <a:prstDash val="solid"/>
          </a:ln>
        </p:spPr>
      </p:sp>
      <p:sp>
        <p:nvSpPr>
          <p:cNvPr id="62" name="Text 55"/>
          <p:cNvSpPr txBox="1"/>
          <p:nvPr/>
        </p:nvSpPr>
        <p:spPr>
          <a:xfrm>
            <a:off x="7238390" y="5230368"/>
            <a:ext cx="1945843" cy="384048"/>
          </a:xfrm>
          <a:prstGeom prst="rect">
            <a:avLst/>
          </a:prstGeom>
          <a:noFill/>
          <a:ln/>
        </p:spPr>
        <p:txBody>
          <a:bodyPr wrap="square" lIns="0" tIns="0" rIns="0" bIns="0" rtlCol="0" anchor="ctr"/>
          <a:lstStyle/>
          <a:p>
            <a:pPr algn="ctr" indent="0" marL="0">
              <a:buNone/>
            </a:pPr>
            <a:r>
              <a:rPr lang="en-US" sz="900" dirty="0">
                <a:solidFill>
                  <a:srgbClr val="3A3F5C"/>
                </a:solidFill>
                <a:latin typeface="Calibri" pitchFamily="34" charset="0"/>
                <a:ea typeface="Calibri" pitchFamily="34" charset="-122"/>
                <a:cs typeface="Calibri" pitchFamily="34" charset="-120"/>
              </a:rPr>
              <a:t>Superviser les 4 modules</a:t>
            </a:r>
            <a:endParaRPr lang="en-US" sz="900" dirty="0"/>
          </a:p>
        </p:txBody>
      </p:sp>
      <p:sp>
        <p:nvSpPr>
          <p:cNvPr id="63" name="Text 56"/>
          <p:cNvSpPr txBox="1"/>
          <p:nvPr/>
        </p:nvSpPr>
        <p:spPr>
          <a:xfrm>
            <a:off x="566928" y="5824728"/>
            <a:ext cx="11057839" cy="320040"/>
          </a:xfrm>
          <a:prstGeom prst="rect">
            <a:avLst/>
          </a:prstGeom>
          <a:noFill/>
          <a:ln/>
        </p:spPr>
        <p:txBody>
          <a:bodyPr wrap="square" lIns="0" tIns="0" rIns="0" bIns="0" rtlCol="0" anchor="ctr"/>
          <a:lstStyle/>
          <a:p>
            <a:pPr indent="0" marL="0">
              <a:buNone/>
            </a:pPr>
            <a:r>
              <a:rPr lang="en-US" sz="1000" i="1" dirty="0">
                <a:solidFill>
                  <a:srgbClr val="767CA0"/>
                </a:solidFill>
                <a:latin typeface="Calibri" pitchFamily="34" charset="0"/>
                <a:ea typeface="Calibri" pitchFamily="34" charset="-122"/>
                <a:cs typeface="Calibri" pitchFamily="34" charset="-120"/>
              </a:rPr>
              <a:t>Vue volontairement synthétique — le catalogue complet des cas d’utilisation dépasse ce qu’un diagramme unique peut représenter lisiblement.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10</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06 · SPÉCIFICATION DES BESOINS</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Besoins non fonctionnels — ISO/IEC 25010</a:t>
            </a:r>
            <a:endParaRPr lang="en-US" sz="3000" dirty="0"/>
          </a:p>
        </p:txBody>
      </p:sp>
      <p:sp>
        <p:nvSpPr>
          <p:cNvPr id="6" name="Shape 4"/>
          <p:cNvSpPr/>
          <p:nvPr/>
        </p:nvSpPr>
        <p:spPr>
          <a:xfrm>
            <a:off x="566928" y="1783080"/>
            <a:ext cx="2634158" cy="1783080"/>
          </a:xfrm>
          <a:prstGeom prst="roundRect">
            <a:avLst>
              <a:gd name="adj" fmla="val 410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1632547" y="1984248"/>
            <a:ext cx="502920" cy="502920"/>
          </a:xfrm>
          <a:prstGeom prst="ellipse">
            <a:avLst/>
          </a:prstGeom>
          <a:solidFill>
            <a:srgbClr val="141B3C"/>
          </a:solidFill>
          <a:ln/>
        </p:spPr>
      </p:sp>
      <p:pic>
        <p:nvPicPr>
          <p:cNvPr id="8" name="Image 0" descr="C:\Users\yosrk\AppData\Local\Temp\claude\c--Users-yosrk-OneDrive-Bureau-RHpfe-Antigone-RH\f59fd8f1-a1b7-4e96-84d6-6d2a4296fa99\scratchpad\pfe-soutenance\icons\shield.png">    </p:cNvPr>
          <p:cNvPicPr>
            <a:picLocks noChangeAspect="1"/>
          </p:cNvPicPr>
          <p:nvPr/>
        </p:nvPicPr>
        <p:blipFill>
          <a:blip r:embed="rId1"/>
          <a:stretch>
            <a:fillRect/>
          </a:stretch>
        </p:blipFill>
        <p:spPr>
          <a:xfrm>
            <a:off x="1702956" y="2054657"/>
            <a:ext cx="362102" cy="362102"/>
          </a:xfrm>
          <a:prstGeom prst="rect">
            <a:avLst/>
          </a:prstGeom>
        </p:spPr>
      </p:pic>
      <p:sp>
        <p:nvSpPr>
          <p:cNvPr id="9" name="Text 6"/>
          <p:cNvSpPr txBox="1"/>
          <p:nvPr/>
        </p:nvSpPr>
        <p:spPr>
          <a:xfrm>
            <a:off x="676656" y="2651760"/>
            <a:ext cx="2414702" cy="274320"/>
          </a:xfrm>
          <a:prstGeom prst="rect">
            <a:avLst/>
          </a:prstGeom>
          <a:noFill/>
          <a:ln/>
        </p:spPr>
        <p:txBody>
          <a:bodyPr wrap="square" lIns="0" tIns="0" rIns="0" bIns="0" rtlCol="0" anchor="ctr"/>
          <a:lstStyle/>
          <a:p>
            <a:pPr algn="ctr" indent="0" marL="0">
              <a:buNone/>
            </a:pPr>
            <a:r>
              <a:rPr lang="en-US" sz="1200" b="1" dirty="0">
                <a:solidFill>
                  <a:srgbClr val="141B3C"/>
                </a:solidFill>
                <a:latin typeface="Calibri" pitchFamily="34" charset="0"/>
                <a:ea typeface="Calibri" pitchFamily="34" charset="-122"/>
                <a:cs typeface="Calibri" pitchFamily="34" charset="-120"/>
              </a:rPr>
              <a:t>Sécurité</a:t>
            </a:r>
            <a:endParaRPr lang="en-US" sz="1200" dirty="0"/>
          </a:p>
        </p:txBody>
      </p:sp>
      <p:sp>
        <p:nvSpPr>
          <p:cNvPr id="10" name="Text 7"/>
          <p:cNvSpPr txBox="1"/>
          <p:nvPr/>
        </p:nvSpPr>
        <p:spPr>
          <a:xfrm>
            <a:off x="694944" y="2953512"/>
            <a:ext cx="2378126" cy="566928"/>
          </a:xfrm>
          <a:prstGeom prst="rect">
            <a:avLst/>
          </a:prstGeom>
          <a:noFill/>
          <a:ln/>
        </p:spPr>
        <p:txBody>
          <a:bodyPr wrap="square" lIns="0" tIns="0" rIns="0" bIns="0" rtlCol="0" anchor="ctr"/>
          <a:lstStyle/>
          <a:p>
            <a:pPr algn="ctr" indent="0" marL="0">
              <a:lnSpc>
                <a:spcPct val="115000"/>
              </a:lnSpc>
              <a:buNone/>
            </a:pPr>
            <a:r>
              <a:rPr lang="en-US" sz="920" dirty="0">
                <a:solidFill>
                  <a:srgbClr val="3A3F5C"/>
                </a:solidFill>
                <a:latin typeface="Calibri" pitchFamily="34" charset="0"/>
                <a:ea typeface="Calibri" pitchFamily="34" charset="-122"/>
                <a:cs typeface="Calibri" pitchFamily="34" charset="-120"/>
              </a:rPr>
              <a:t>JWT, BCrypt, RBAC granulaire, traçabilité complète des décisions</a:t>
            </a:r>
            <a:endParaRPr lang="en-US" sz="920" dirty="0"/>
          </a:p>
        </p:txBody>
      </p:sp>
      <p:sp>
        <p:nvSpPr>
          <p:cNvPr id="11" name="Shape 8"/>
          <p:cNvSpPr/>
          <p:nvPr/>
        </p:nvSpPr>
        <p:spPr>
          <a:xfrm>
            <a:off x="3374822" y="1783080"/>
            <a:ext cx="2634158" cy="1783080"/>
          </a:xfrm>
          <a:prstGeom prst="roundRect">
            <a:avLst>
              <a:gd name="adj" fmla="val 410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9"/>
          <p:cNvSpPr/>
          <p:nvPr/>
        </p:nvSpPr>
        <p:spPr>
          <a:xfrm>
            <a:off x="4440441" y="1984248"/>
            <a:ext cx="502920" cy="502920"/>
          </a:xfrm>
          <a:prstGeom prst="ellipse">
            <a:avLst/>
          </a:prstGeom>
          <a:solidFill>
            <a:srgbClr val="141B3C"/>
          </a:solidFill>
          <a:ln/>
        </p:spPr>
      </p:sp>
      <p:pic>
        <p:nvPicPr>
          <p:cNvPr id="13" name="Image 1" descr="C:\Users\yosrk\AppData\Local\Temp\claude\c--Users-yosrk-OneDrive-Bureau-RHpfe-Antigone-RH\f59fd8f1-a1b7-4e96-84d6-6d2a4296fa99\scratchpad\pfe-soutenance\icons\check.png">    </p:cNvPr>
          <p:cNvPicPr>
            <a:picLocks noChangeAspect="1"/>
          </p:cNvPicPr>
          <p:nvPr/>
        </p:nvPicPr>
        <p:blipFill>
          <a:blip r:embed="rId2"/>
          <a:stretch>
            <a:fillRect/>
          </a:stretch>
        </p:blipFill>
        <p:spPr>
          <a:xfrm>
            <a:off x="4510850" y="2054657"/>
            <a:ext cx="362102" cy="362102"/>
          </a:xfrm>
          <a:prstGeom prst="rect">
            <a:avLst/>
          </a:prstGeom>
        </p:spPr>
      </p:pic>
      <p:sp>
        <p:nvSpPr>
          <p:cNvPr id="14" name="Text 10"/>
          <p:cNvSpPr txBox="1"/>
          <p:nvPr/>
        </p:nvSpPr>
        <p:spPr>
          <a:xfrm>
            <a:off x="3484550" y="2651760"/>
            <a:ext cx="2414702" cy="274320"/>
          </a:xfrm>
          <a:prstGeom prst="rect">
            <a:avLst/>
          </a:prstGeom>
          <a:noFill/>
          <a:ln/>
        </p:spPr>
        <p:txBody>
          <a:bodyPr wrap="square" lIns="0" tIns="0" rIns="0" bIns="0" rtlCol="0" anchor="ctr"/>
          <a:lstStyle/>
          <a:p>
            <a:pPr algn="ctr" indent="0" marL="0">
              <a:buNone/>
            </a:pPr>
            <a:r>
              <a:rPr lang="en-US" sz="1200" b="1" dirty="0">
                <a:solidFill>
                  <a:srgbClr val="141B3C"/>
                </a:solidFill>
                <a:latin typeface="Calibri" pitchFamily="34" charset="0"/>
                <a:ea typeface="Calibri" pitchFamily="34" charset="-122"/>
                <a:cs typeface="Calibri" pitchFamily="34" charset="-120"/>
              </a:rPr>
              <a:t>Fiabilité</a:t>
            </a:r>
            <a:endParaRPr lang="en-US" sz="1200" dirty="0"/>
          </a:p>
        </p:txBody>
      </p:sp>
      <p:sp>
        <p:nvSpPr>
          <p:cNvPr id="15" name="Text 11"/>
          <p:cNvSpPr txBox="1"/>
          <p:nvPr/>
        </p:nvSpPr>
        <p:spPr>
          <a:xfrm>
            <a:off x="3502838" y="2953512"/>
            <a:ext cx="2378126" cy="566928"/>
          </a:xfrm>
          <a:prstGeom prst="rect">
            <a:avLst/>
          </a:prstGeom>
          <a:noFill/>
          <a:ln/>
        </p:spPr>
        <p:txBody>
          <a:bodyPr wrap="square" lIns="0" tIns="0" rIns="0" bIns="0" rtlCol="0" anchor="ctr"/>
          <a:lstStyle/>
          <a:p>
            <a:pPr algn="ctr" indent="0" marL="0">
              <a:lnSpc>
                <a:spcPct val="115000"/>
              </a:lnSpc>
              <a:buNone/>
            </a:pPr>
            <a:r>
              <a:rPr lang="en-US" sz="920" dirty="0">
                <a:solidFill>
                  <a:srgbClr val="3A3F5C"/>
                </a:solidFill>
                <a:latin typeface="Calibri" pitchFamily="34" charset="0"/>
                <a:ea typeface="Calibri" pitchFamily="34" charset="-122"/>
                <a:cs typeface="Calibri" pitchFamily="34" charset="-120"/>
              </a:rPr>
              <a:t>Aucune demande ne se perd ; chaque statut est historisé</a:t>
            </a:r>
            <a:endParaRPr lang="en-US" sz="920" dirty="0"/>
          </a:p>
        </p:txBody>
      </p:sp>
      <p:sp>
        <p:nvSpPr>
          <p:cNvPr id="16" name="Shape 12"/>
          <p:cNvSpPr/>
          <p:nvPr/>
        </p:nvSpPr>
        <p:spPr>
          <a:xfrm>
            <a:off x="6182716" y="1783080"/>
            <a:ext cx="2634158" cy="1783080"/>
          </a:xfrm>
          <a:prstGeom prst="roundRect">
            <a:avLst>
              <a:gd name="adj" fmla="val 410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7" name="Shape 13"/>
          <p:cNvSpPr/>
          <p:nvPr/>
        </p:nvSpPr>
        <p:spPr>
          <a:xfrm>
            <a:off x="7248335" y="1984248"/>
            <a:ext cx="502920" cy="502920"/>
          </a:xfrm>
          <a:prstGeom prst="ellipse">
            <a:avLst/>
          </a:prstGeom>
          <a:solidFill>
            <a:srgbClr val="141B3C"/>
          </a:solidFill>
          <a:ln/>
        </p:spPr>
      </p:sp>
      <p:pic>
        <p:nvPicPr>
          <p:cNvPr id="18" name="Image 2" descr="C:\Users\yosrk\AppData\Local\Temp\claude\c--Users-yosrk-OneDrive-Bureau-RHpfe-Antigone-RH\f59fd8f1-a1b7-4e96-84d6-6d2a4296fa99\scratchpad\pfe-soutenance\icons\bolt.png">    </p:cNvPr>
          <p:cNvPicPr>
            <a:picLocks noChangeAspect="1"/>
          </p:cNvPicPr>
          <p:nvPr/>
        </p:nvPicPr>
        <p:blipFill>
          <a:blip r:embed="rId3"/>
          <a:stretch>
            <a:fillRect/>
          </a:stretch>
        </p:blipFill>
        <p:spPr>
          <a:xfrm>
            <a:off x="7318743" y="2054657"/>
            <a:ext cx="362102" cy="362102"/>
          </a:xfrm>
          <a:prstGeom prst="rect">
            <a:avLst/>
          </a:prstGeom>
        </p:spPr>
      </p:pic>
      <p:sp>
        <p:nvSpPr>
          <p:cNvPr id="19" name="Text 14"/>
          <p:cNvSpPr txBox="1"/>
          <p:nvPr/>
        </p:nvSpPr>
        <p:spPr>
          <a:xfrm>
            <a:off x="6292444" y="2651760"/>
            <a:ext cx="2414702" cy="274320"/>
          </a:xfrm>
          <a:prstGeom prst="rect">
            <a:avLst/>
          </a:prstGeom>
          <a:noFill/>
          <a:ln/>
        </p:spPr>
        <p:txBody>
          <a:bodyPr wrap="square" lIns="0" tIns="0" rIns="0" bIns="0" rtlCol="0" anchor="ctr"/>
          <a:lstStyle/>
          <a:p>
            <a:pPr algn="ctr" indent="0" marL="0">
              <a:buNone/>
            </a:pPr>
            <a:r>
              <a:rPr lang="en-US" sz="1200" b="1" dirty="0">
                <a:solidFill>
                  <a:srgbClr val="141B3C"/>
                </a:solidFill>
                <a:latin typeface="Calibri" pitchFamily="34" charset="0"/>
                <a:ea typeface="Calibri" pitchFamily="34" charset="-122"/>
                <a:cs typeface="Calibri" pitchFamily="34" charset="-120"/>
              </a:rPr>
              <a:t>Performance</a:t>
            </a:r>
            <a:endParaRPr lang="en-US" sz="1200" dirty="0"/>
          </a:p>
        </p:txBody>
      </p:sp>
      <p:sp>
        <p:nvSpPr>
          <p:cNvPr id="20" name="Text 15"/>
          <p:cNvSpPr txBox="1"/>
          <p:nvPr/>
        </p:nvSpPr>
        <p:spPr>
          <a:xfrm>
            <a:off x="6310732" y="2953512"/>
            <a:ext cx="2378126" cy="566928"/>
          </a:xfrm>
          <a:prstGeom prst="rect">
            <a:avLst/>
          </a:prstGeom>
          <a:noFill/>
          <a:ln/>
        </p:spPr>
        <p:txBody>
          <a:bodyPr wrap="square" lIns="0" tIns="0" rIns="0" bIns="0" rtlCol="0" anchor="ctr"/>
          <a:lstStyle/>
          <a:p>
            <a:pPr algn="ctr" indent="0" marL="0">
              <a:lnSpc>
                <a:spcPct val="115000"/>
              </a:lnSpc>
              <a:buNone/>
            </a:pPr>
            <a:r>
              <a:rPr lang="en-US" sz="920" dirty="0">
                <a:solidFill>
                  <a:srgbClr val="3A3F5C"/>
                </a:solidFill>
                <a:latin typeface="Calibri" pitchFamily="34" charset="0"/>
                <a:ea typeface="Calibri" pitchFamily="34" charset="-122"/>
                <a:cs typeface="Calibri" pitchFamily="34" charset="-120"/>
              </a:rPr>
              <a:t>Listes fluides à volume croissant ; calculs sensibles côté serveur</a:t>
            </a:r>
            <a:endParaRPr lang="en-US" sz="920" dirty="0"/>
          </a:p>
        </p:txBody>
      </p:sp>
      <p:sp>
        <p:nvSpPr>
          <p:cNvPr id="21" name="Shape 16"/>
          <p:cNvSpPr/>
          <p:nvPr/>
        </p:nvSpPr>
        <p:spPr>
          <a:xfrm>
            <a:off x="8990609" y="1783080"/>
            <a:ext cx="2634158" cy="1783080"/>
          </a:xfrm>
          <a:prstGeom prst="roundRect">
            <a:avLst>
              <a:gd name="adj" fmla="val 410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2" name="Shape 17"/>
          <p:cNvSpPr/>
          <p:nvPr/>
        </p:nvSpPr>
        <p:spPr>
          <a:xfrm>
            <a:off x="10056228" y="1984248"/>
            <a:ext cx="502920" cy="502920"/>
          </a:xfrm>
          <a:prstGeom prst="ellipse">
            <a:avLst/>
          </a:prstGeom>
          <a:solidFill>
            <a:srgbClr val="141B3C"/>
          </a:solidFill>
          <a:ln/>
        </p:spPr>
      </p:sp>
      <p:pic>
        <p:nvPicPr>
          <p:cNvPr id="23" name="Image 3" descr="C:\Users\yosrk\AppData\Local\Temp\claude\c--Users-yosrk-OneDrive-Bureau-RHpfe-Antigone-RH\f59fd8f1-a1b7-4e96-84d6-6d2a4296fa99\scratchpad\pfe-soutenance\icons\users.png">    </p:cNvPr>
          <p:cNvPicPr>
            <a:picLocks noChangeAspect="1"/>
          </p:cNvPicPr>
          <p:nvPr/>
        </p:nvPicPr>
        <p:blipFill>
          <a:blip r:embed="rId4"/>
          <a:stretch>
            <a:fillRect/>
          </a:stretch>
        </p:blipFill>
        <p:spPr>
          <a:xfrm>
            <a:off x="10126637" y="2054657"/>
            <a:ext cx="362102" cy="362102"/>
          </a:xfrm>
          <a:prstGeom prst="rect">
            <a:avLst/>
          </a:prstGeom>
        </p:spPr>
      </p:pic>
      <p:sp>
        <p:nvSpPr>
          <p:cNvPr id="24" name="Text 18"/>
          <p:cNvSpPr txBox="1"/>
          <p:nvPr/>
        </p:nvSpPr>
        <p:spPr>
          <a:xfrm>
            <a:off x="9100337" y="2651760"/>
            <a:ext cx="2414702" cy="274320"/>
          </a:xfrm>
          <a:prstGeom prst="rect">
            <a:avLst/>
          </a:prstGeom>
          <a:noFill/>
          <a:ln/>
        </p:spPr>
        <p:txBody>
          <a:bodyPr wrap="square" lIns="0" tIns="0" rIns="0" bIns="0" rtlCol="0" anchor="ctr"/>
          <a:lstStyle/>
          <a:p>
            <a:pPr algn="ctr" indent="0" marL="0">
              <a:buNone/>
            </a:pPr>
            <a:r>
              <a:rPr lang="en-US" sz="1200" b="1" dirty="0">
                <a:solidFill>
                  <a:srgbClr val="141B3C"/>
                </a:solidFill>
                <a:latin typeface="Calibri" pitchFamily="34" charset="0"/>
                <a:ea typeface="Calibri" pitchFamily="34" charset="-122"/>
                <a:cs typeface="Calibri" pitchFamily="34" charset="-120"/>
              </a:rPr>
              <a:t>Utilisabilité</a:t>
            </a:r>
            <a:endParaRPr lang="en-US" sz="1200" dirty="0"/>
          </a:p>
        </p:txBody>
      </p:sp>
      <p:sp>
        <p:nvSpPr>
          <p:cNvPr id="25" name="Text 19"/>
          <p:cNvSpPr txBox="1"/>
          <p:nvPr/>
        </p:nvSpPr>
        <p:spPr>
          <a:xfrm>
            <a:off x="9118625" y="2953512"/>
            <a:ext cx="2378126" cy="566928"/>
          </a:xfrm>
          <a:prstGeom prst="rect">
            <a:avLst/>
          </a:prstGeom>
          <a:noFill/>
          <a:ln/>
        </p:spPr>
        <p:txBody>
          <a:bodyPr wrap="square" lIns="0" tIns="0" rIns="0" bIns="0" rtlCol="0" anchor="ctr"/>
          <a:lstStyle/>
          <a:p>
            <a:pPr algn="ctr" indent="0" marL="0">
              <a:lnSpc>
                <a:spcPct val="115000"/>
              </a:lnSpc>
              <a:buNone/>
            </a:pPr>
            <a:r>
              <a:rPr lang="en-US" sz="920" dirty="0">
                <a:solidFill>
                  <a:srgbClr val="3A3F5C"/>
                </a:solidFill>
                <a:latin typeface="Calibri" pitchFamily="34" charset="0"/>
                <a:ea typeface="Calibri" pitchFamily="34" charset="-122"/>
                <a:cs typeface="Calibri" pitchFamily="34" charset="-120"/>
              </a:rPr>
              <a:t>Interfaces claires, vocabulaire métier, responsive mobile/poste fixe</a:t>
            </a:r>
            <a:endParaRPr lang="en-US" sz="920" dirty="0"/>
          </a:p>
        </p:txBody>
      </p:sp>
      <p:sp>
        <p:nvSpPr>
          <p:cNvPr id="26" name="Shape 20"/>
          <p:cNvSpPr/>
          <p:nvPr/>
        </p:nvSpPr>
        <p:spPr>
          <a:xfrm>
            <a:off x="1970875" y="3794760"/>
            <a:ext cx="2634158" cy="1783080"/>
          </a:xfrm>
          <a:prstGeom prst="roundRect">
            <a:avLst>
              <a:gd name="adj" fmla="val 410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7" name="Shape 21"/>
          <p:cNvSpPr/>
          <p:nvPr/>
        </p:nvSpPr>
        <p:spPr>
          <a:xfrm>
            <a:off x="3036494" y="3995928"/>
            <a:ext cx="502920" cy="502920"/>
          </a:xfrm>
          <a:prstGeom prst="ellipse">
            <a:avLst/>
          </a:prstGeom>
          <a:solidFill>
            <a:srgbClr val="17B8A6"/>
          </a:solidFill>
          <a:ln/>
        </p:spPr>
      </p:sp>
      <p:pic>
        <p:nvPicPr>
          <p:cNvPr id="28" name="Image 4" descr="C:\Users\yosrk\AppData\Local\Temp\claude\c--Users-yosrk-OneDrive-Bureau-RHpfe-Antigone-RH\f59fd8f1-a1b7-4e96-84d6-6d2a4296fa99\scratchpad\pfe-soutenance\icons\network.png">    </p:cNvPr>
          <p:cNvPicPr>
            <a:picLocks noChangeAspect="1"/>
          </p:cNvPicPr>
          <p:nvPr/>
        </p:nvPicPr>
        <p:blipFill>
          <a:blip r:embed="rId5"/>
          <a:stretch>
            <a:fillRect/>
          </a:stretch>
        </p:blipFill>
        <p:spPr>
          <a:xfrm>
            <a:off x="3106903" y="4066337"/>
            <a:ext cx="362102" cy="362102"/>
          </a:xfrm>
          <a:prstGeom prst="rect">
            <a:avLst/>
          </a:prstGeom>
        </p:spPr>
      </p:pic>
      <p:sp>
        <p:nvSpPr>
          <p:cNvPr id="29" name="Text 22"/>
          <p:cNvSpPr txBox="1"/>
          <p:nvPr/>
        </p:nvSpPr>
        <p:spPr>
          <a:xfrm>
            <a:off x="2080603" y="4663440"/>
            <a:ext cx="2414702" cy="274320"/>
          </a:xfrm>
          <a:prstGeom prst="rect">
            <a:avLst/>
          </a:prstGeom>
          <a:noFill/>
          <a:ln/>
        </p:spPr>
        <p:txBody>
          <a:bodyPr wrap="square" lIns="0" tIns="0" rIns="0" bIns="0" rtlCol="0" anchor="ctr"/>
          <a:lstStyle/>
          <a:p>
            <a:pPr algn="ctr" indent="0" marL="0">
              <a:buNone/>
            </a:pPr>
            <a:r>
              <a:rPr lang="en-US" sz="1200" b="1" dirty="0">
                <a:solidFill>
                  <a:srgbClr val="141B3C"/>
                </a:solidFill>
                <a:latin typeface="Calibri" pitchFamily="34" charset="0"/>
                <a:ea typeface="Calibri" pitchFamily="34" charset="-122"/>
                <a:cs typeface="Calibri" pitchFamily="34" charset="-120"/>
              </a:rPr>
              <a:t>Compatibilité</a:t>
            </a:r>
            <a:endParaRPr lang="en-US" sz="1200" dirty="0"/>
          </a:p>
        </p:txBody>
      </p:sp>
      <p:sp>
        <p:nvSpPr>
          <p:cNvPr id="30" name="Text 23"/>
          <p:cNvSpPr txBox="1"/>
          <p:nvPr/>
        </p:nvSpPr>
        <p:spPr>
          <a:xfrm>
            <a:off x="2098891" y="4965192"/>
            <a:ext cx="2378126" cy="566928"/>
          </a:xfrm>
          <a:prstGeom prst="rect">
            <a:avLst/>
          </a:prstGeom>
          <a:noFill/>
          <a:ln/>
        </p:spPr>
        <p:txBody>
          <a:bodyPr wrap="square" lIns="0" tIns="0" rIns="0" bIns="0" rtlCol="0" anchor="ctr"/>
          <a:lstStyle/>
          <a:p>
            <a:pPr algn="ctr" indent="0" marL="0">
              <a:lnSpc>
                <a:spcPct val="115000"/>
              </a:lnSpc>
              <a:buNone/>
            </a:pPr>
            <a:r>
              <a:rPr lang="en-US" sz="920" dirty="0">
                <a:solidFill>
                  <a:srgbClr val="3A3F5C"/>
                </a:solidFill>
                <a:latin typeface="Calibri" pitchFamily="34" charset="0"/>
                <a:ea typeface="Calibri" pitchFamily="34" charset="-122"/>
                <a:cs typeface="Calibri" pitchFamily="34" charset="-120"/>
              </a:rPr>
              <a:t>API REST unique consommée par 3 frontends et services externes</a:t>
            </a:r>
            <a:endParaRPr lang="en-US" sz="920" dirty="0"/>
          </a:p>
        </p:txBody>
      </p:sp>
      <p:sp>
        <p:nvSpPr>
          <p:cNvPr id="31" name="Shape 24"/>
          <p:cNvSpPr/>
          <p:nvPr/>
        </p:nvSpPr>
        <p:spPr>
          <a:xfrm>
            <a:off x="4778769" y="3794760"/>
            <a:ext cx="2634158" cy="1783080"/>
          </a:xfrm>
          <a:prstGeom prst="roundRect">
            <a:avLst>
              <a:gd name="adj" fmla="val 410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2" name="Shape 25"/>
          <p:cNvSpPr/>
          <p:nvPr/>
        </p:nvSpPr>
        <p:spPr>
          <a:xfrm>
            <a:off x="5844388" y="3995928"/>
            <a:ext cx="502920" cy="502920"/>
          </a:xfrm>
          <a:prstGeom prst="ellipse">
            <a:avLst/>
          </a:prstGeom>
          <a:solidFill>
            <a:srgbClr val="17B8A6"/>
          </a:solidFill>
          <a:ln/>
        </p:spPr>
      </p:sp>
      <p:pic>
        <p:nvPicPr>
          <p:cNvPr id="33" name="Image 5" descr="C:\Users\yosrk\AppData\Local\Temp\claude\c--Users-yosrk-OneDrive-Bureau-RHpfe-Antigone-RH\f59fd8f1-a1b7-4e96-84d6-6d2a4296fa99\scratchpad\pfe-soutenance\icons\cloud.png">    </p:cNvPr>
          <p:cNvPicPr>
            <a:picLocks noChangeAspect="1"/>
          </p:cNvPicPr>
          <p:nvPr/>
        </p:nvPicPr>
        <p:blipFill>
          <a:blip r:embed="rId6"/>
          <a:stretch>
            <a:fillRect/>
          </a:stretch>
        </p:blipFill>
        <p:spPr>
          <a:xfrm>
            <a:off x="5914796" y="4066337"/>
            <a:ext cx="362102" cy="362102"/>
          </a:xfrm>
          <a:prstGeom prst="rect">
            <a:avLst/>
          </a:prstGeom>
        </p:spPr>
      </p:pic>
      <p:sp>
        <p:nvSpPr>
          <p:cNvPr id="34" name="Text 26"/>
          <p:cNvSpPr txBox="1"/>
          <p:nvPr/>
        </p:nvSpPr>
        <p:spPr>
          <a:xfrm>
            <a:off x="4888497" y="4663440"/>
            <a:ext cx="2414702" cy="274320"/>
          </a:xfrm>
          <a:prstGeom prst="rect">
            <a:avLst/>
          </a:prstGeom>
          <a:noFill/>
          <a:ln/>
        </p:spPr>
        <p:txBody>
          <a:bodyPr wrap="square" lIns="0" tIns="0" rIns="0" bIns="0" rtlCol="0" anchor="ctr"/>
          <a:lstStyle/>
          <a:p>
            <a:pPr algn="ctr" indent="0" marL="0">
              <a:buNone/>
            </a:pPr>
            <a:r>
              <a:rPr lang="en-US" sz="1200" b="1" dirty="0">
                <a:solidFill>
                  <a:srgbClr val="141B3C"/>
                </a:solidFill>
                <a:latin typeface="Calibri" pitchFamily="34" charset="0"/>
                <a:ea typeface="Calibri" pitchFamily="34" charset="-122"/>
                <a:cs typeface="Calibri" pitchFamily="34" charset="-120"/>
              </a:rPr>
              <a:t>Portabilité</a:t>
            </a:r>
            <a:endParaRPr lang="en-US" sz="1200" dirty="0"/>
          </a:p>
        </p:txBody>
      </p:sp>
      <p:sp>
        <p:nvSpPr>
          <p:cNvPr id="35" name="Text 27"/>
          <p:cNvSpPr txBox="1"/>
          <p:nvPr/>
        </p:nvSpPr>
        <p:spPr>
          <a:xfrm>
            <a:off x="4906785" y="4965192"/>
            <a:ext cx="2378126" cy="566928"/>
          </a:xfrm>
          <a:prstGeom prst="rect">
            <a:avLst/>
          </a:prstGeom>
          <a:noFill/>
          <a:ln/>
        </p:spPr>
        <p:txBody>
          <a:bodyPr wrap="square" lIns="0" tIns="0" rIns="0" bIns="0" rtlCol="0" anchor="ctr"/>
          <a:lstStyle/>
          <a:p>
            <a:pPr algn="ctr" indent="0" marL="0">
              <a:lnSpc>
                <a:spcPct val="115000"/>
              </a:lnSpc>
              <a:buNone/>
            </a:pPr>
            <a:r>
              <a:rPr lang="en-US" sz="920" dirty="0">
                <a:solidFill>
                  <a:srgbClr val="3A3F5C"/>
                </a:solidFill>
                <a:latin typeface="Calibri" pitchFamily="34" charset="0"/>
                <a:ea typeface="Calibri" pitchFamily="34" charset="-122"/>
                <a:cs typeface="Calibri" pitchFamily="34" charset="-120"/>
              </a:rPr>
              <a:t>Frontend React déployable indépendamment, tout navigateur récent</a:t>
            </a:r>
            <a:endParaRPr lang="en-US" sz="920" dirty="0"/>
          </a:p>
        </p:txBody>
      </p:sp>
      <p:sp>
        <p:nvSpPr>
          <p:cNvPr id="36" name="Shape 28"/>
          <p:cNvSpPr/>
          <p:nvPr/>
        </p:nvSpPr>
        <p:spPr>
          <a:xfrm>
            <a:off x="7586663" y="3794760"/>
            <a:ext cx="2634158" cy="1783080"/>
          </a:xfrm>
          <a:prstGeom prst="roundRect">
            <a:avLst>
              <a:gd name="adj" fmla="val 410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7" name="Shape 29"/>
          <p:cNvSpPr/>
          <p:nvPr/>
        </p:nvSpPr>
        <p:spPr>
          <a:xfrm>
            <a:off x="8652281" y="3995928"/>
            <a:ext cx="502920" cy="502920"/>
          </a:xfrm>
          <a:prstGeom prst="ellipse">
            <a:avLst/>
          </a:prstGeom>
          <a:solidFill>
            <a:srgbClr val="17B8A6"/>
          </a:solidFill>
          <a:ln/>
        </p:spPr>
      </p:sp>
      <p:pic>
        <p:nvPicPr>
          <p:cNvPr id="38" name="Image 6" descr="C:\Users\yosrk\AppData\Local\Temp\claude\c--Users-yosrk-OneDrive-Bureau-RHpfe-Antigone-RH\f59fd8f1-a1b7-4e96-84d6-6d2a4296fa99\scratchpad\pfe-soutenance\icons\cubes.png">    </p:cNvPr>
          <p:cNvPicPr>
            <a:picLocks noChangeAspect="1"/>
          </p:cNvPicPr>
          <p:nvPr/>
        </p:nvPicPr>
        <p:blipFill>
          <a:blip r:embed="rId7"/>
          <a:stretch>
            <a:fillRect/>
          </a:stretch>
        </p:blipFill>
        <p:spPr>
          <a:xfrm>
            <a:off x="8722690" y="4066337"/>
            <a:ext cx="362102" cy="362102"/>
          </a:xfrm>
          <a:prstGeom prst="rect">
            <a:avLst/>
          </a:prstGeom>
        </p:spPr>
      </p:pic>
      <p:sp>
        <p:nvSpPr>
          <p:cNvPr id="39" name="Text 30"/>
          <p:cNvSpPr txBox="1"/>
          <p:nvPr/>
        </p:nvSpPr>
        <p:spPr>
          <a:xfrm>
            <a:off x="7696390" y="4663440"/>
            <a:ext cx="2414702" cy="274320"/>
          </a:xfrm>
          <a:prstGeom prst="rect">
            <a:avLst/>
          </a:prstGeom>
          <a:noFill/>
          <a:ln/>
        </p:spPr>
        <p:txBody>
          <a:bodyPr wrap="square" lIns="0" tIns="0" rIns="0" bIns="0" rtlCol="0" anchor="ctr"/>
          <a:lstStyle/>
          <a:p>
            <a:pPr algn="ctr" indent="0" marL="0">
              <a:buNone/>
            </a:pPr>
            <a:r>
              <a:rPr lang="en-US" sz="1200" b="1" dirty="0">
                <a:solidFill>
                  <a:srgbClr val="141B3C"/>
                </a:solidFill>
                <a:latin typeface="Calibri" pitchFamily="34" charset="0"/>
                <a:ea typeface="Calibri" pitchFamily="34" charset="-122"/>
                <a:cs typeface="Calibri" pitchFamily="34" charset="-120"/>
              </a:rPr>
              <a:t>Maintenabilité</a:t>
            </a:r>
            <a:endParaRPr lang="en-US" sz="1200" dirty="0"/>
          </a:p>
        </p:txBody>
      </p:sp>
      <p:sp>
        <p:nvSpPr>
          <p:cNvPr id="40" name="Text 31"/>
          <p:cNvSpPr txBox="1"/>
          <p:nvPr/>
        </p:nvSpPr>
        <p:spPr>
          <a:xfrm>
            <a:off x="7714679" y="4965192"/>
            <a:ext cx="2378126" cy="566928"/>
          </a:xfrm>
          <a:prstGeom prst="rect">
            <a:avLst/>
          </a:prstGeom>
          <a:noFill/>
          <a:ln/>
        </p:spPr>
        <p:txBody>
          <a:bodyPr wrap="square" lIns="0" tIns="0" rIns="0" bIns="0" rtlCol="0" anchor="ctr"/>
          <a:lstStyle/>
          <a:p>
            <a:pPr algn="ctr" indent="0" marL="0">
              <a:lnSpc>
                <a:spcPct val="115000"/>
              </a:lnSpc>
              <a:buNone/>
            </a:pPr>
            <a:r>
              <a:rPr lang="en-US" sz="920" dirty="0">
                <a:solidFill>
                  <a:srgbClr val="3A3F5C"/>
                </a:solidFill>
                <a:latin typeface="Calibri" pitchFamily="34" charset="0"/>
                <a:ea typeface="Calibri" pitchFamily="34" charset="-122"/>
                <a:cs typeface="Calibri" pitchFamily="34" charset="-120"/>
              </a:rPr>
              <a:t>Architecture en couches, référentiels paramétrables plutôt que codés en dur</a:t>
            </a:r>
            <a:endParaRPr lang="en-US" sz="920" dirty="0"/>
          </a:p>
        </p:txBody>
      </p:sp>
      <p:sp>
        <p:nvSpPr>
          <p:cNvPr id="41" name="Shape 32"/>
          <p:cNvSpPr/>
          <p:nvPr/>
        </p:nvSpPr>
        <p:spPr>
          <a:xfrm>
            <a:off x="566928" y="5806440"/>
            <a:ext cx="11057839" cy="566928"/>
          </a:xfrm>
          <a:prstGeom prst="roundRect">
            <a:avLst>
              <a:gd name="adj" fmla="val 12903"/>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42" name="Text 33"/>
          <p:cNvSpPr txBox="1"/>
          <p:nvPr/>
        </p:nvSpPr>
        <p:spPr>
          <a:xfrm>
            <a:off x="841248" y="5806440"/>
            <a:ext cx="10509199" cy="566928"/>
          </a:xfrm>
          <a:prstGeom prst="rect">
            <a:avLst/>
          </a:prstGeom>
          <a:noFill/>
          <a:ln/>
        </p:spPr>
        <p:txBody>
          <a:bodyPr wrap="square" lIns="0" tIns="0" rIns="0" bIns="0" rtlCol="0" anchor="ctr"/>
          <a:lstStyle/>
          <a:p>
            <a:pPr indent="0" marL="0">
              <a:buNone/>
            </a:pPr>
            <a:r>
              <a:rPr lang="en-US" sz="1100" i="1" dirty="0">
                <a:solidFill>
                  <a:srgbClr val="E8EEFC"/>
                </a:solidFill>
                <a:latin typeface="Calibri" pitchFamily="34" charset="0"/>
                <a:ea typeface="Calibri" pitchFamily="34" charset="-122"/>
                <a:cs typeface="Calibri" pitchFamily="34" charset="-120"/>
              </a:rPr>
              <a:t>Principe directeur : un client ne peut jamais accéder aux données d’un autre client ; un employé n’accède au module Finance qu’avec une permission explicite.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11</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07 · CONCEPTION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Architecture logique — un backend, trois interfaces</a:t>
            </a:r>
            <a:endParaRPr lang="en-US" sz="3000" dirty="0"/>
          </a:p>
        </p:txBody>
      </p:sp>
      <p:sp>
        <p:nvSpPr>
          <p:cNvPr id="6" name="Shape 4"/>
          <p:cNvSpPr/>
          <p:nvPr/>
        </p:nvSpPr>
        <p:spPr>
          <a:xfrm>
            <a:off x="902056" y="1600200"/>
            <a:ext cx="3291840" cy="777240"/>
          </a:xfrm>
          <a:prstGeom prst="roundRect">
            <a:avLst>
              <a:gd name="adj" fmla="val 9412"/>
            </a:avLst>
          </a:prstGeom>
          <a:solidFill>
            <a:srgbClr val="17B8A6"/>
          </a:solidFill>
          <a:ln/>
        </p:spPr>
      </p:sp>
      <p:sp>
        <p:nvSpPr>
          <p:cNvPr id="7" name="Text 5"/>
          <p:cNvSpPr txBox="1"/>
          <p:nvPr/>
        </p:nvSpPr>
        <p:spPr>
          <a:xfrm>
            <a:off x="902056" y="1664208"/>
            <a:ext cx="32918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frontend-rh</a:t>
            </a:r>
            <a:endParaRPr lang="en-US" sz="1300" dirty="0"/>
          </a:p>
        </p:txBody>
      </p:sp>
      <p:sp>
        <p:nvSpPr>
          <p:cNvPr id="8" name="Text 6"/>
          <p:cNvSpPr txBox="1"/>
          <p:nvPr/>
        </p:nvSpPr>
        <p:spPr>
          <a:xfrm>
            <a:off x="993496" y="1975104"/>
            <a:ext cx="31089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Employés · Congés · Pointage</a:t>
            </a:r>
            <a:endParaRPr lang="en-US" sz="900" dirty="0"/>
          </a:p>
        </p:txBody>
      </p:sp>
      <p:sp>
        <p:nvSpPr>
          <p:cNvPr id="9" name="Shape 7"/>
          <p:cNvSpPr/>
          <p:nvPr/>
        </p:nvSpPr>
        <p:spPr>
          <a:xfrm>
            <a:off x="2429104" y="2404872"/>
            <a:ext cx="237744" cy="201168"/>
          </a:xfrm>
          <a:prstGeom prst="downArrow">
            <a:avLst/>
          </a:prstGeom>
          <a:solidFill>
            <a:srgbClr val="E3E7F3"/>
          </a:solidFill>
          <a:ln/>
        </p:spPr>
      </p:sp>
      <p:sp>
        <p:nvSpPr>
          <p:cNvPr id="10" name="Shape 8"/>
          <p:cNvSpPr/>
          <p:nvPr/>
        </p:nvSpPr>
        <p:spPr>
          <a:xfrm>
            <a:off x="4449928" y="1600200"/>
            <a:ext cx="3291840" cy="777240"/>
          </a:xfrm>
          <a:prstGeom prst="roundRect">
            <a:avLst>
              <a:gd name="adj" fmla="val 9412"/>
            </a:avLst>
          </a:prstGeom>
          <a:solidFill>
            <a:srgbClr val="17B8A6"/>
          </a:solidFill>
          <a:ln/>
        </p:spPr>
      </p:sp>
      <p:sp>
        <p:nvSpPr>
          <p:cNvPr id="11" name="Text 9"/>
          <p:cNvSpPr txBox="1"/>
          <p:nvPr/>
        </p:nvSpPr>
        <p:spPr>
          <a:xfrm>
            <a:off x="4449928" y="1664208"/>
            <a:ext cx="32918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frontend-projects</a:t>
            </a:r>
            <a:endParaRPr lang="en-US" sz="1300" dirty="0"/>
          </a:p>
        </p:txBody>
      </p:sp>
      <p:sp>
        <p:nvSpPr>
          <p:cNvPr id="12" name="Text 10"/>
          <p:cNvSpPr txBox="1"/>
          <p:nvPr/>
        </p:nvSpPr>
        <p:spPr>
          <a:xfrm>
            <a:off x="4541368" y="1975104"/>
            <a:ext cx="31089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Projets · Plans médias · Portail client</a:t>
            </a:r>
            <a:endParaRPr lang="en-US" sz="900" dirty="0"/>
          </a:p>
        </p:txBody>
      </p:sp>
      <p:sp>
        <p:nvSpPr>
          <p:cNvPr id="13" name="Shape 11"/>
          <p:cNvSpPr/>
          <p:nvPr/>
        </p:nvSpPr>
        <p:spPr>
          <a:xfrm>
            <a:off x="5976976" y="2404872"/>
            <a:ext cx="237744" cy="201168"/>
          </a:xfrm>
          <a:prstGeom prst="downArrow">
            <a:avLst/>
          </a:prstGeom>
          <a:solidFill>
            <a:srgbClr val="E3E7F3"/>
          </a:solidFill>
          <a:ln/>
        </p:spPr>
      </p:sp>
      <p:sp>
        <p:nvSpPr>
          <p:cNvPr id="14" name="Shape 12"/>
          <p:cNvSpPr/>
          <p:nvPr/>
        </p:nvSpPr>
        <p:spPr>
          <a:xfrm>
            <a:off x="7997800" y="1600200"/>
            <a:ext cx="3291840" cy="777240"/>
          </a:xfrm>
          <a:prstGeom prst="roundRect">
            <a:avLst>
              <a:gd name="adj" fmla="val 9412"/>
            </a:avLst>
          </a:prstGeom>
          <a:solidFill>
            <a:srgbClr val="17B8A6"/>
          </a:solidFill>
          <a:ln/>
        </p:spPr>
      </p:sp>
      <p:sp>
        <p:nvSpPr>
          <p:cNvPr id="15" name="Text 13"/>
          <p:cNvSpPr txBox="1"/>
          <p:nvPr/>
        </p:nvSpPr>
        <p:spPr>
          <a:xfrm>
            <a:off x="7997800" y="1664208"/>
            <a:ext cx="3291840"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frontend-finance</a:t>
            </a:r>
            <a:endParaRPr lang="en-US" sz="1300" dirty="0"/>
          </a:p>
        </p:txBody>
      </p:sp>
      <p:sp>
        <p:nvSpPr>
          <p:cNvPr id="16" name="Text 14"/>
          <p:cNvSpPr txBox="1"/>
          <p:nvPr/>
        </p:nvSpPr>
        <p:spPr>
          <a:xfrm>
            <a:off x="8089240" y="1975104"/>
            <a:ext cx="3108960" cy="36576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Facturation · Charges · Paie</a:t>
            </a:r>
            <a:endParaRPr lang="en-US" sz="900" dirty="0"/>
          </a:p>
        </p:txBody>
      </p:sp>
      <p:sp>
        <p:nvSpPr>
          <p:cNvPr id="17" name="Shape 15"/>
          <p:cNvSpPr/>
          <p:nvPr/>
        </p:nvSpPr>
        <p:spPr>
          <a:xfrm>
            <a:off x="9524848" y="2404872"/>
            <a:ext cx="237744" cy="201168"/>
          </a:xfrm>
          <a:prstGeom prst="downArrow">
            <a:avLst/>
          </a:prstGeom>
          <a:solidFill>
            <a:srgbClr val="E3E7F3"/>
          </a:solidFill>
          <a:ln/>
        </p:spPr>
      </p:sp>
      <p:sp>
        <p:nvSpPr>
          <p:cNvPr id="18" name="Shape 16"/>
          <p:cNvSpPr/>
          <p:nvPr/>
        </p:nvSpPr>
        <p:spPr>
          <a:xfrm>
            <a:off x="902056" y="2697480"/>
            <a:ext cx="10387584" cy="1965960"/>
          </a:xfrm>
          <a:prstGeom prst="roundRect">
            <a:avLst>
              <a:gd name="adj" fmla="val 3721"/>
            </a:avLst>
          </a:prstGeom>
          <a:solidFill>
            <a:srgbClr val="141B3C"/>
          </a:solidFill>
          <a:ln/>
        </p:spPr>
      </p:sp>
      <p:sp>
        <p:nvSpPr>
          <p:cNvPr id="19" name="Text 17"/>
          <p:cNvSpPr txBox="1"/>
          <p:nvPr/>
        </p:nvSpPr>
        <p:spPr>
          <a:xfrm>
            <a:off x="1176376" y="2807208"/>
            <a:ext cx="9838944" cy="274320"/>
          </a:xfrm>
          <a:prstGeom prst="rect">
            <a:avLst/>
          </a:prstGeom>
          <a:noFill/>
          <a:ln/>
        </p:spPr>
        <p:txBody>
          <a:bodyPr wrap="square" lIns="0" tIns="0" rIns="0" bIns="0" rtlCol="0" anchor="ctr"/>
          <a:lstStyle/>
          <a:p>
            <a:pPr indent="0" marL="0">
              <a:buNone/>
            </a:pPr>
            <a:r>
              <a:rPr lang="en-US" sz="1100" b="1" spc="150" kern="0" dirty="0">
                <a:solidFill>
                  <a:srgbClr val="FF6B4A"/>
                </a:solidFill>
                <a:latin typeface="Calibri" pitchFamily="34" charset="0"/>
                <a:ea typeface="Calibri" pitchFamily="34" charset="-122"/>
                <a:cs typeface="Calibri" pitchFamily="34" charset="-120"/>
              </a:rPr>
              <a:t>BACKEND — SPRING BOOT</a:t>
            </a:r>
            <a:endParaRPr lang="en-US" sz="1100" dirty="0"/>
          </a:p>
        </p:txBody>
      </p:sp>
      <p:sp>
        <p:nvSpPr>
          <p:cNvPr id="20" name="Shape 18"/>
          <p:cNvSpPr/>
          <p:nvPr/>
        </p:nvSpPr>
        <p:spPr>
          <a:xfrm>
            <a:off x="1176376" y="3154680"/>
            <a:ext cx="9838944" cy="365760"/>
          </a:xfrm>
          <a:prstGeom prst="roundRect">
            <a:avLst>
              <a:gd name="adj" fmla="val 15000"/>
            </a:avLst>
          </a:prstGeom>
          <a:solidFill>
            <a:srgbClr val="1E2761"/>
          </a:solidFill>
          <a:ln/>
        </p:spPr>
      </p:sp>
      <p:sp>
        <p:nvSpPr>
          <p:cNvPr id="21" name="Text 19"/>
          <p:cNvSpPr txBox="1"/>
          <p:nvPr/>
        </p:nvSpPr>
        <p:spPr>
          <a:xfrm>
            <a:off x="1404976" y="3154680"/>
            <a:ext cx="9381744" cy="3657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Contrôleurs REST  (≈ 30 contrôleurs)</a:t>
            </a:r>
            <a:endParaRPr lang="en-US" sz="1150" dirty="0"/>
          </a:p>
        </p:txBody>
      </p:sp>
      <p:sp>
        <p:nvSpPr>
          <p:cNvPr id="22" name="Text 20"/>
          <p:cNvSpPr txBox="1"/>
          <p:nvPr/>
        </p:nvSpPr>
        <p:spPr>
          <a:xfrm>
            <a:off x="5912968" y="3502152"/>
            <a:ext cx="365760" cy="146304"/>
          </a:xfrm>
          <a:prstGeom prst="rect">
            <a:avLst/>
          </a:prstGeom>
          <a:noFill/>
          <a:ln/>
        </p:spPr>
        <p:txBody>
          <a:bodyPr wrap="square" lIns="0" tIns="0" rIns="0" bIns="0" rtlCol="0" anchor="ctr"/>
          <a:lstStyle/>
          <a:p>
            <a:pPr algn="ctr" indent="0" marL="0">
              <a:buNone/>
            </a:pPr>
            <a:r>
              <a:rPr lang="en-US" sz="1000" dirty="0">
                <a:solidFill>
                  <a:srgbClr val="B9C6EE"/>
                </a:solidFill>
                <a:latin typeface="Calibri" pitchFamily="34" charset="0"/>
                <a:ea typeface="Calibri" pitchFamily="34" charset="-122"/>
                <a:cs typeface="Calibri" pitchFamily="34" charset="-120"/>
              </a:rPr>
              <a:t>↓</a:t>
            </a:r>
            <a:endParaRPr lang="en-US" sz="1000" dirty="0"/>
          </a:p>
        </p:txBody>
      </p:sp>
      <p:sp>
        <p:nvSpPr>
          <p:cNvPr id="23" name="Shape 21"/>
          <p:cNvSpPr/>
          <p:nvPr/>
        </p:nvSpPr>
        <p:spPr>
          <a:xfrm>
            <a:off x="1176376" y="3630168"/>
            <a:ext cx="9838944" cy="365760"/>
          </a:xfrm>
          <a:prstGeom prst="roundRect">
            <a:avLst>
              <a:gd name="adj" fmla="val 15000"/>
            </a:avLst>
          </a:prstGeom>
          <a:solidFill>
            <a:srgbClr val="1E2761"/>
          </a:solidFill>
          <a:ln/>
        </p:spPr>
      </p:sp>
      <p:sp>
        <p:nvSpPr>
          <p:cNvPr id="24" name="Text 22"/>
          <p:cNvSpPr txBox="1"/>
          <p:nvPr/>
        </p:nvSpPr>
        <p:spPr>
          <a:xfrm>
            <a:off x="1404976" y="3630168"/>
            <a:ext cx="9381744" cy="3657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Services métier  (règles de gestion, calculs, validations)</a:t>
            </a:r>
            <a:endParaRPr lang="en-US" sz="1150" dirty="0"/>
          </a:p>
        </p:txBody>
      </p:sp>
      <p:sp>
        <p:nvSpPr>
          <p:cNvPr id="25" name="Text 23"/>
          <p:cNvSpPr txBox="1"/>
          <p:nvPr/>
        </p:nvSpPr>
        <p:spPr>
          <a:xfrm>
            <a:off x="5912968" y="3977640"/>
            <a:ext cx="365760" cy="146304"/>
          </a:xfrm>
          <a:prstGeom prst="rect">
            <a:avLst/>
          </a:prstGeom>
          <a:noFill/>
          <a:ln/>
        </p:spPr>
        <p:txBody>
          <a:bodyPr wrap="square" lIns="0" tIns="0" rIns="0" bIns="0" rtlCol="0" anchor="ctr"/>
          <a:lstStyle/>
          <a:p>
            <a:pPr algn="ctr" indent="0" marL="0">
              <a:buNone/>
            </a:pPr>
            <a:r>
              <a:rPr lang="en-US" sz="1000" dirty="0">
                <a:solidFill>
                  <a:srgbClr val="B9C6EE"/>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1176376" y="4105656"/>
            <a:ext cx="9838944" cy="365760"/>
          </a:xfrm>
          <a:prstGeom prst="roundRect">
            <a:avLst>
              <a:gd name="adj" fmla="val 15000"/>
            </a:avLst>
          </a:prstGeom>
          <a:solidFill>
            <a:srgbClr val="1E2761"/>
          </a:solidFill>
          <a:ln/>
        </p:spPr>
      </p:sp>
      <p:sp>
        <p:nvSpPr>
          <p:cNvPr id="27" name="Text 25"/>
          <p:cNvSpPr txBox="1"/>
          <p:nvPr/>
        </p:nvSpPr>
        <p:spPr>
          <a:xfrm>
            <a:off x="1404976" y="4105656"/>
            <a:ext cx="9381744" cy="3657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Repositories JPA  (Spring Data)</a:t>
            </a:r>
            <a:endParaRPr lang="en-US" sz="1150" dirty="0"/>
          </a:p>
        </p:txBody>
      </p:sp>
      <p:sp>
        <p:nvSpPr>
          <p:cNvPr id="28" name="Shape 26"/>
          <p:cNvSpPr/>
          <p:nvPr/>
        </p:nvSpPr>
        <p:spPr>
          <a:xfrm>
            <a:off x="5976976" y="4718304"/>
            <a:ext cx="237744" cy="201168"/>
          </a:xfrm>
          <a:prstGeom prst="downArrow">
            <a:avLst/>
          </a:prstGeom>
          <a:solidFill>
            <a:srgbClr val="E3E7F3"/>
          </a:solidFill>
          <a:ln/>
        </p:spPr>
      </p:sp>
      <p:sp>
        <p:nvSpPr>
          <p:cNvPr id="29" name="Shape 27"/>
          <p:cNvSpPr/>
          <p:nvPr/>
        </p:nvSpPr>
        <p:spPr>
          <a:xfrm>
            <a:off x="4861408" y="4928616"/>
            <a:ext cx="2468880" cy="457200"/>
          </a:xfrm>
          <a:prstGeom prst="roundRect">
            <a:avLst>
              <a:gd name="adj" fmla="val 50000"/>
            </a:avLst>
          </a:prstGeom>
          <a:solidFill>
            <a:srgbClr val="FF6B4A"/>
          </a:solidFill>
          <a:ln/>
        </p:spPr>
      </p:sp>
      <p:sp>
        <p:nvSpPr>
          <p:cNvPr id="30" name="Text 28"/>
          <p:cNvSpPr txBox="1"/>
          <p:nvPr/>
        </p:nvSpPr>
        <p:spPr>
          <a:xfrm>
            <a:off x="4861408" y="4928616"/>
            <a:ext cx="24688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p>
        </p:txBody>
      </p:sp>
      <p:sp>
        <p:nvSpPr>
          <p:cNvPr id="31" name="Shape 29"/>
          <p:cNvSpPr/>
          <p:nvPr/>
        </p:nvSpPr>
        <p:spPr>
          <a:xfrm>
            <a:off x="902056" y="5605272"/>
            <a:ext cx="10387584" cy="548640"/>
          </a:xfrm>
          <a:prstGeom prst="roundRect">
            <a:avLst>
              <a:gd name="adj" fmla="val 13333"/>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2" name="Text 30"/>
          <p:cNvSpPr txBox="1"/>
          <p:nvPr/>
        </p:nvSpPr>
        <p:spPr>
          <a:xfrm>
            <a:off x="1130656" y="5605272"/>
            <a:ext cx="9930384" cy="548640"/>
          </a:xfrm>
          <a:prstGeom prst="rect">
            <a:avLst/>
          </a:prstGeom>
          <a:noFill/>
          <a:ln/>
        </p:spPr>
        <p:txBody>
          <a:bodyPr wrap="square" lIns="0" tIns="0" rIns="0" bIns="0" rtlCol="0" anchor="ctr"/>
          <a:lstStyle/>
          <a:p>
            <a:pPr indent="0" marL="0">
              <a:buNone/>
            </a:pPr>
            <a:r>
              <a:rPr lang="en-US" sz="1100" b="1" dirty="0">
                <a:solidFill>
                  <a:srgbClr val="141B3C"/>
                </a:solidFill>
                <a:latin typeface="Calibri" pitchFamily="34" charset="0"/>
                <a:ea typeface="Calibri" pitchFamily="34" charset="-122"/>
                <a:cs typeface="Calibri" pitchFamily="34" charset="-120"/>
              </a:rPr>
              <a:t>Services externes  </a:t>
            </a:r>
            <a:pPr indent="0" marL="0">
              <a:buNone/>
            </a:pPr>
            <a:r>
              <a:rPr lang="en-US" sz="1100" dirty="0">
                <a:solidFill>
                  <a:srgbClr val="3A3F5C"/>
                </a:solidFill>
                <a:latin typeface="Calibri" pitchFamily="34" charset="0"/>
                <a:ea typeface="Calibri" pitchFamily="34" charset="-122"/>
                <a:cs typeface="Calibri" pitchFamily="34" charset="-120"/>
              </a:rPr>
              <a:t>Google Drive  ·  Messagerie transactionnelle (Brevo)  ·  Agent de présence (desktop)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12</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07 · CONCEPTION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Architecture physique — déploiement</a:t>
            </a:r>
            <a:endParaRPr lang="en-US" sz="3000" dirty="0"/>
          </a:p>
        </p:txBody>
      </p:sp>
      <p:sp>
        <p:nvSpPr>
          <p:cNvPr id="6" name="Shape 4"/>
          <p:cNvSpPr/>
          <p:nvPr/>
        </p:nvSpPr>
        <p:spPr>
          <a:xfrm>
            <a:off x="566928" y="1627632"/>
            <a:ext cx="11057839" cy="658368"/>
          </a:xfrm>
          <a:prstGeom prst="roundRect">
            <a:avLst>
              <a:gd name="adj" fmla="val 11111"/>
            </a:avLst>
          </a:prstGeom>
          <a:solidFill>
            <a:srgbClr val="F5F7FC"/>
          </a:solidFill>
          <a:ln w="12700">
            <a:solidFill>
              <a:srgbClr val="E3E7F3"/>
            </a:solidFill>
            <a:prstDash val="solid"/>
          </a:ln>
        </p:spPr>
      </p:sp>
      <p:sp>
        <p:nvSpPr>
          <p:cNvPr id="7" name="Text 5"/>
          <p:cNvSpPr txBox="1"/>
          <p:nvPr/>
        </p:nvSpPr>
        <p:spPr>
          <a:xfrm>
            <a:off x="795528" y="1691640"/>
            <a:ext cx="2377440" cy="548640"/>
          </a:xfrm>
          <a:prstGeom prst="rect">
            <a:avLst/>
          </a:prstGeom>
          <a:noFill/>
          <a:ln/>
        </p:spPr>
        <p:txBody>
          <a:bodyPr wrap="square" lIns="0" tIns="0" rIns="0" bIns="0" rtlCol="0" anchor="ctr"/>
          <a:lstStyle/>
          <a:p>
            <a:pPr indent="0" marL="0">
              <a:buNone/>
            </a:pPr>
            <a:r>
              <a:rPr lang="en-US" sz="1000" b="1" spc="100" kern="0" dirty="0">
                <a:solidFill>
                  <a:srgbClr val="767CA0"/>
                </a:solidFill>
                <a:latin typeface="Calibri" pitchFamily="34" charset="0"/>
                <a:ea typeface="Calibri" pitchFamily="34" charset="-122"/>
                <a:cs typeface="Calibri" pitchFamily="34" charset="-120"/>
              </a:rPr>
              <a:t>POSTE UTILISATEUR</a:t>
            </a:r>
            <a:endParaRPr lang="en-US" sz="1000" dirty="0"/>
          </a:p>
        </p:txBody>
      </p:sp>
      <p:sp>
        <p:nvSpPr>
          <p:cNvPr id="8" name="Shape 6"/>
          <p:cNvSpPr/>
          <p:nvPr/>
        </p:nvSpPr>
        <p:spPr>
          <a:xfrm>
            <a:off x="3218688" y="1719072"/>
            <a:ext cx="4206240" cy="457200"/>
          </a:xfrm>
          <a:prstGeom prst="roundRect">
            <a:avLst>
              <a:gd name="adj" fmla="val 12000"/>
            </a:avLst>
          </a:prstGeom>
          <a:solidFill>
            <a:srgbClr val="141B3C"/>
          </a:solidFill>
          <a:ln/>
        </p:spPr>
      </p:sp>
      <p:sp>
        <p:nvSpPr>
          <p:cNvPr id="9" name="Text 7"/>
          <p:cNvSpPr txBox="1"/>
          <p:nvPr/>
        </p:nvSpPr>
        <p:spPr>
          <a:xfrm>
            <a:off x="3218688" y="1719072"/>
            <a:ext cx="42062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Navigateur web</a:t>
            </a:r>
            <a:endParaRPr lang="en-US" sz="1150" dirty="0"/>
          </a:p>
        </p:txBody>
      </p:sp>
      <p:sp>
        <p:nvSpPr>
          <p:cNvPr id="10" name="Shape 8"/>
          <p:cNvSpPr/>
          <p:nvPr/>
        </p:nvSpPr>
        <p:spPr>
          <a:xfrm>
            <a:off x="7699248" y="1719072"/>
            <a:ext cx="4206240" cy="457200"/>
          </a:xfrm>
          <a:prstGeom prst="roundRect">
            <a:avLst>
              <a:gd name="adj" fmla="val 12000"/>
            </a:avLst>
          </a:prstGeom>
          <a:solidFill>
            <a:srgbClr val="17B8A6"/>
          </a:solidFill>
          <a:ln/>
        </p:spPr>
      </p:sp>
      <p:sp>
        <p:nvSpPr>
          <p:cNvPr id="11" name="Text 9"/>
          <p:cNvSpPr txBox="1"/>
          <p:nvPr/>
        </p:nvSpPr>
        <p:spPr>
          <a:xfrm>
            <a:off x="7699248" y="1719072"/>
            <a:ext cx="420624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Agent de présence (desktop)</a:t>
            </a:r>
            <a:endParaRPr lang="en-US" sz="1150" dirty="0"/>
          </a:p>
        </p:txBody>
      </p:sp>
      <p:sp>
        <p:nvSpPr>
          <p:cNvPr id="12" name="Shape 10"/>
          <p:cNvSpPr/>
          <p:nvPr/>
        </p:nvSpPr>
        <p:spPr>
          <a:xfrm>
            <a:off x="5976976" y="2331720"/>
            <a:ext cx="237744" cy="201168"/>
          </a:xfrm>
          <a:prstGeom prst="downArrow">
            <a:avLst/>
          </a:prstGeom>
          <a:solidFill>
            <a:srgbClr val="E3E7F3"/>
          </a:solidFill>
          <a:ln/>
        </p:spPr>
      </p:sp>
      <p:sp>
        <p:nvSpPr>
          <p:cNvPr id="13" name="Shape 11"/>
          <p:cNvSpPr/>
          <p:nvPr/>
        </p:nvSpPr>
        <p:spPr>
          <a:xfrm>
            <a:off x="566928" y="2606040"/>
            <a:ext cx="11057839" cy="868680"/>
          </a:xfrm>
          <a:prstGeom prst="roundRect">
            <a:avLst>
              <a:gd name="adj" fmla="val 8421"/>
            </a:avLst>
          </a:prstGeom>
          <a:solidFill>
            <a:srgbClr val="272F55"/>
          </a:solidFill>
          <a:ln/>
        </p:spPr>
      </p:sp>
      <p:sp>
        <p:nvSpPr>
          <p:cNvPr id="14" name="Text 12"/>
          <p:cNvSpPr txBox="1"/>
          <p:nvPr/>
        </p:nvSpPr>
        <p:spPr>
          <a:xfrm>
            <a:off x="795528" y="2697480"/>
            <a:ext cx="5486400" cy="274320"/>
          </a:xfrm>
          <a:prstGeom prst="rect">
            <a:avLst/>
          </a:prstGeom>
          <a:noFill/>
          <a:ln/>
        </p:spPr>
        <p:txBody>
          <a:bodyPr wrap="square" lIns="0" tIns="0" rIns="0" bIns="0" rtlCol="0" anchor="ctr"/>
          <a:lstStyle/>
          <a:p>
            <a:pPr indent="0" marL="0">
              <a:buNone/>
            </a:pPr>
            <a:r>
              <a:rPr lang="en-US" sz="1050" b="1" spc="100" kern="0" dirty="0">
                <a:solidFill>
                  <a:srgbClr val="B9C6EE"/>
                </a:solidFill>
                <a:latin typeface="Calibri" pitchFamily="34" charset="0"/>
                <a:ea typeface="Calibri" pitchFamily="34" charset="-122"/>
                <a:cs typeface="Calibri" pitchFamily="34" charset="-120"/>
              </a:rPr>
              <a:t>GITHUB PAGES  —  hébergement statique</a:t>
            </a:r>
            <a:endParaRPr lang="en-US" sz="1050" dirty="0"/>
          </a:p>
        </p:txBody>
      </p:sp>
      <p:sp>
        <p:nvSpPr>
          <p:cNvPr id="15" name="Shape 13"/>
          <p:cNvSpPr/>
          <p:nvPr/>
        </p:nvSpPr>
        <p:spPr>
          <a:xfrm>
            <a:off x="795528" y="3017520"/>
            <a:ext cx="3383280" cy="365760"/>
          </a:xfrm>
          <a:prstGeom prst="roundRect">
            <a:avLst>
              <a:gd name="adj" fmla="val 50000"/>
            </a:avLst>
          </a:prstGeom>
          <a:solidFill>
            <a:srgbClr val="1E2761"/>
          </a:solidFill>
          <a:ln/>
        </p:spPr>
      </p:sp>
      <p:sp>
        <p:nvSpPr>
          <p:cNvPr id="16" name="Text 14"/>
          <p:cNvSpPr txBox="1"/>
          <p:nvPr/>
        </p:nvSpPr>
        <p:spPr>
          <a:xfrm>
            <a:off x="795528" y="3017520"/>
            <a:ext cx="338328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/rh</a:t>
            </a:r>
            <a:endParaRPr lang="en-US" sz="1100" dirty="0"/>
          </a:p>
        </p:txBody>
      </p:sp>
      <p:sp>
        <p:nvSpPr>
          <p:cNvPr id="17" name="Shape 15"/>
          <p:cNvSpPr/>
          <p:nvPr/>
        </p:nvSpPr>
        <p:spPr>
          <a:xfrm>
            <a:off x="4453128" y="3017520"/>
            <a:ext cx="3383280" cy="365760"/>
          </a:xfrm>
          <a:prstGeom prst="roundRect">
            <a:avLst>
              <a:gd name="adj" fmla="val 50000"/>
            </a:avLst>
          </a:prstGeom>
          <a:solidFill>
            <a:srgbClr val="1E2761"/>
          </a:solidFill>
          <a:ln/>
        </p:spPr>
      </p:sp>
      <p:sp>
        <p:nvSpPr>
          <p:cNvPr id="18" name="Text 16"/>
          <p:cNvSpPr txBox="1"/>
          <p:nvPr/>
        </p:nvSpPr>
        <p:spPr>
          <a:xfrm>
            <a:off x="4453128" y="3017520"/>
            <a:ext cx="338328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/projects</a:t>
            </a:r>
            <a:endParaRPr lang="en-US" sz="1100" dirty="0"/>
          </a:p>
        </p:txBody>
      </p:sp>
      <p:sp>
        <p:nvSpPr>
          <p:cNvPr id="19" name="Shape 17"/>
          <p:cNvSpPr/>
          <p:nvPr/>
        </p:nvSpPr>
        <p:spPr>
          <a:xfrm>
            <a:off x="8110728" y="3017520"/>
            <a:ext cx="3383280" cy="365760"/>
          </a:xfrm>
          <a:prstGeom prst="roundRect">
            <a:avLst>
              <a:gd name="adj" fmla="val 50000"/>
            </a:avLst>
          </a:prstGeom>
          <a:solidFill>
            <a:srgbClr val="1E2761"/>
          </a:solidFill>
          <a:ln/>
        </p:spPr>
      </p:sp>
      <p:sp>
        <p:nvSpPr>
          <p:cNvPr id="20" name="Text 18"/>
          <p:cNvSpPr txBox="1"/>
          <p:nvPr/>
        </p:nvSpPr>
        <p:spPr>
          <a:xfrm>
            <a:off x="8110728" y="3017520"/>
            <a:ext cx="338328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/finance</a:t>
            </a:r>
            <a:endParaRPr lang="en-US" sz="1100" dirty="0"/>
          </a:p>
        </p:txBody>
      </p:sp>
      <p:sp>
        <p:nvSpPr>
          <p:cNvPr id="21" name="Shape 19"/>
          <p:cNvSpPr/>
          <p:nvPr/>
        </p:nvSpPr>
        <p:spPr>
          <a:xfrm>
            <a:off x="5976976" y="3529584"/>
            <a:ext cx="237744" cy="201168"/>
          </a:xfrm>
          <a:prstGeom prst="downArrow">
            <a:avLst/>
          </a:prstGeom>
          <a:solidFill>
            <a:srgbClr val="E3E7F3"/>
          </a:solidFill>
          <a:ln/>
        </p:spPr>
      </p:sp>
      <p:sp>
        <p:nvSpPr>
          <p:cNvPr id="22" name="Shape 20"/>
          <p:cNvSpPr/>
          <p:nvPr/>
        </p:nvSpPr>
        <p:spPr>
          <a:xfrm>
            <a:off x="566928" y="3794760"/>
            <a:ext cx="7040880" cy="1417320"/>
          </a:xfrm>
          <a:prstGeom prst="roundRect">
            <a:avLst>
              <a:gd name="adj" fmla="val 5161"/>
            </a:avLst>
          </a:prstGeom>
          <a:solidFill>
            <a:srgbClr val="141B3C"/>
          </a:solidFill>
          <a:ln/>
        </p:spPr>
      </p:sp>
      <p:sp>
        <p:nvSpPr>
          <p:cNvPr id="23" name="Text 21"/>
          <p:cNvSpPr txBox="1"/>
          <p:nvPr/>
        </p:nvSpPr>
        <p:spPr>
          <a:xfrm>
            <a:off x="795528" y="3886200"/>
            <a:ext cx="6583680" cy="274320"/>
          </a:xfrm>
          <a:prstGeom prst="rect">
            <a:avLst/>
          </a:prstGeom>
          <a:noFill/>
          <a:ln/>
        </p:spPr>
        <p:txBody>
          <a:bodyPr wrap="square" lIns="0" tIns="0" rIns="0" bIns="0" rtlCol="0" anchor="ctr"/>
          <a:lstStyle/>
          <a:p>
            <a:pPr indent="0" marL="0">
              <a:buNone/>
            </a:pPr>
            <a:r>
              <a:rPr lang="en-US" sz="1050" b="1" spc="100" kern="0" dirty="0">
                <a:solidFill>
                  <a:srgbClr val="FF6B4A"/>
                </a:solidFill>
                <a:latin typeface="Calibri" pitchFamily="34" charset="0"/>
                <a:ea typeface="Calibri" pitchFamily="34" charset="-122"/>
                <a:cs typeface="Calibri" pitchFamily="34" charset="-120"/>
              </a:rPr>
              <a:t>RENDER — backend hébergé</a:t>
            </a:r>
            <a:endParaRPr lang="en-US" sz="1050" dirty="0"/>
          </a:p>
        </p:txBody>
      </p:sp>
      <p:sp>
        <p:nvSpPr>
          <p:cNvPr id="24" name="Shape 22"/>
          <p:cNvSpPr/>
          <p:nvPr/>
        </p:nvSpPr>
        <p:spPr>
          <a:xfrm>
            <a:off x="795528" y="4251960"/>
            <a:ext cx="6583680" cy="384048"/>
          </a:xfrm>
          <a:prstGeom prst="roundRect">
            <a:avLst>
              <a:gd name="adj" fmla="val 14286"/>
            </a:avLst>
          </a:prstGeom>
          <a:solidFill>
            <a:srgbClr val="1E2761"/>
          </a:solidFill>
          <a:ln/>
        </p:spPr>
      </p:sp>
      <p:sp>
        <p:nvSpPr>
          <p:cNvPr id="25" name="Text 23"/>
          <p:cNvSpPr txBox="1"/>
          <p:nvPr/>
        </p:nvSpPr>
        <p:spPr>
          <a:xfrm>
            <a:off x="795528" y="4251960"/>
            <a:ext cx="6583680" cy="3840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API Spring Boot  (HTTPS)</a:t>
            </a:r>
            <a:endParaRPr lang="en-US" sz="1100" dirty="0"/>
          </a:p>
        </p:txBody>
      </p:sp>
      <p:sp>
        <p:nvSpPr>
          <p:cNvPr id="26" name="Text 24"/>
          <p:cNvSpPr txBox="1"/>
          <p:nvPr/>
        </p:nvSpPr>
        <p:spPr>
          <a:xfrm>
            <a:off x="3904488" y="4645152"/>
            <a:ext cx="365760" cy="164592"/>
          </a:xfrm>
          <a:prstGeom prst="rect">
            <a:avLst/>
          </a:prstGeom>
          <a:noFill/>
          <a:ln/>
        </p:spPr>
        <p:txBody>
          <a:bodyPr wrap="square" lIns="0" tIns="0" rIns="0" bIns="0" rtlCol="0" anchor="ctr"/>
          <a:lstStyle/>
          <a:p>
            <a:pPr algn="ctr" indent="0" marL="0">
              <a:buNone/>
            </a:pPr>
            <a:r>
              <a:rPr lang="en-US" sz="1100" dirty="0">
                <a:solidFill>
                  <a:srgbClr val="B9C6EE"/>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2715768" y="4800600"/>
            <a:ext cx="2743200" cy="365760"/>
          </a:xfrm>
          <a:prstGeom prst="roundRect">
            <a:avLst>
              <a:gd name="adj" fmla="val 50000"/>
            </a:avLst>
          </a:prstGeom>
          <a:solidFill>
            <a:srgbClr val="FF6B4A"/>
          </a:solidFill>
          <a:ln/>
        </p:spPr>
      </p:sp>
      <p:sp>
        <p:nvSpPr>
          <p:cNvPr id="28" name="Text 26"/>
          <p:cNvSpPr txBox="1"/>
          <p:nvPr/>
        </p:nvSpPr>
        <p:spPr>
          <a:xfrm>
            <a:off x="2715768" y="4800600"/>
            <a:ext cx="274320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Base PostgreSQL</a:t>
            </a:r>
            <a:endParaRPr lang="en-US" sz="1050" dirty="0"/>
          </a:p>
        </p:txBody>
      </p:sp>
      <p:sp>
        <p:nvSpPr>
          <p:cNvPr id="29" name="Shape 27"/>
          <p:cNvSpPr/>
          <p:nvPr/>
        </p:nvSpPr>
        <p:spPr>
          <a:xfrm>
            <a:off x="7662672" y="4297680"/>
            <a:ext cx="274320" cy="274320"/>
          </a:xfrm>
          <a:prstGeom prst="rightArrow">
            <a:avLst/>
          </a:prstGeom>
          <a:solidFill>
            <a:srgbClr val="E3E7F3"/>
          </a:solidFill>
          <a:ln/>
        </p:spPr>
      </p:sp>
      <p:sp>
        <p:nvSpPr>
          <p:cNvPr id="30" name="Shape 28"/>
          <p:cNvSpPr/>
          <p:nvPr/>
        </p:nvSpPr>
        <p:spPr>
          <a:xfrm>
            <a:off x="8065008" y="3794760"/>
            <a:ext cx="3559759" cy="621792"/>
          </a:xfrm>
          <a:prstGeom prst="roundRect">
            <a:avLst>
              <a:gd name="adj" fmla="val 11765"/>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1" name="Text 29"/>
          <p:cNvSpPr txBox="1"/>
          <p:nvPr/>
        </p:nvSpPr>
        <p:spPr>
          <a:xfrm>
            <a:off x="8247888" y="3867912"/>
            <a:ext cx="3193999" cy="256032"/>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Google Drive API</a:t>
            </a:r>
            <a:endParaRPr lang="en-US" sz="1050" dirty="0"/>
          </a:p>
        </p:txBody>
      </p:sp>
      <p:sp>
        <p:nvSpPr>
          <p:cNvPr id="32" name="Text 30"/>
          <p:cNvSpPr txBox="1"/>
          <p:nvPr/>
        </p:nvSpPr>
        <p:spPr>
          <a:xfrm>
            <a:off x="8247888" y="4123944"/>
            <a:ext cx="3193999" cy="256032"/>
          </a:xfrm>
          <a:prstGeom prst="rect">
            <a:avLst/>
          </a:prstGeom>
          <a:noFill/>
          <a:ln/>
        </p:spPr>
        <p:txBody>
          <a:bodyPr wrap="square" lIns="0" tIns="0" rIns="0" bIns="0" rtlCol="0" anchor="ctr"/>
          <a:lstStyle/>
          <a:p>
            <a:pPr indent="0" marL="0">
              <a:buNone/>
            </a:pPr>
            <a:r>
              <a:rPr lang="en-US" sz="900" dirty="0">
                <a:solidFill>
                  <a:srgbClr val="767CA0"/>
                </a:solidFill>
                <a:latin typeface="Calibri" pitchFamily="34" charset="0"/>
                <a:ea typeface="Calibri" pitchFamily="34" charset="-122"/>
                <a:cs typeface="Calibri" pitchFamily="34" charset="-120"/>
              </a:rPr>
              <a:t>Livrables &amp; justificatifs</a:t>
            </a:r>
            <a:endParaRPr lang="en-US" sz="900" dirty="0"/>
          </a:p>
        </p:txBody>
      </p:sp>
      <p:sp>
        <p:nvSpPr>
          <p:cNvPr id="33" name="Shape 31"/>
          <p:cNvSpPr/>
          <p:nvPr/>
        </p:nvSpPr>
        <p:spPr>
          <a:xfrm>
            <a:off x="8065008" y="4544568"/>
            <a:ext cx="3559759" cy="621792"/>
          </a:xfrm>
          <a:prstGeom prst="roundRect">
            <a:avLst>
              <a:gd name="adj" fmla="val 11765"/>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4" name="Text 32"/>
          <p:cNvSpPr txBox="1"/>
          <p:nvPr/>
        </p:nvSpPr>
        <p:spPr>
          <a:xfrm>
            <a:off x="8247888" y="4617720"/>
            <a:ext cx="3193999" cy="256032"/>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Brevo — e-mail transactionnel</a:t>
            </a:r>
            <a:endParaRPr lang="en-US" sz="1050" dirty="0"/>
          </a:p>
        </p:txBody>
      </p:sp>
      <p:sp>
        <p:nvSpPr>
          <p:cNvPr id="35" name="Text 33"/>
          <p:cNvSpPr txBox="1"/>
          <p:nvPr/>
        </p:nvSpPr>
        <p:spPr>
          <a:xfrm>
            <a:off x="8247888" y="4873752"/>
            <a:ext cx="3193999" cy="256032"/>
          </a:xfrm>
          <a:prstGeom prst="rect">
            <a:avLst/>
          </a:prstGeom>
          <a:noFill/>
          <a:ln/>
        </p:spPr>
        <p:txBody>
          <a:bodyPr wrap="square" lIns="0" tIns="0" rIns="0" bIns="0" rtlCol="0" anchor="ctr"/>
          <a:lstStyle/>
          <a:p>
            <a:pPr indent="0" marL="0">
              <a:buNone/>
            </a:pPr>
            <a:r>
              <a:rPr lang="en-US" sz="900" dirty="0">
                <a:solidFill>
                  <a:srgbClr val="767CA0"/>
                </a:solidFill>
                <a:latin typeface="Calibri" pitchFamily="34" charset="0"/>
                <a:ea typeface="Calibri" pitchFamily="34" charset="-122"/>
                <a:cs typeface="Calibri" pitchFamily="34" charset="-120"/>
              </a:rPr>
              <a:t>Notifications &amp; réinitialisation</a:t>
            </a:r>
            <a:endParaRPr lang="en-US" sz="900" dirty="0"/>
          </a:p>
        </p:txBody>
      </p:sp>
      <p:sp>
        <p:nvSpPr>
          <p:cNvPr id="36" name="Text 34"/>
          <p:cNvSpPr txBox="1"/>
          <p:nvPr/>
        </p:nvSpPr>
        <p:spPr>
          <a:xfrm>
            <a:off x="566928" y="5349240"/>
            <a:ext cx="11057839" cy="320040"/>
          </a:xfrm>
          <a:prstGeom prst="rect">
            <a:avLst/>
          </a:prstGeom>
          <a:noFill/>
          <a:ln/>
        </p:spPr>
        <p:txBody>
          <a:bodyPr wrap="square" lIns="0" tIns="0" rIns="0" bIns="0" rtlCol="0" anchor="ctr"/>
          <a:lstStyle/>
          <a:p>
            <a:pPr indent="0" marL="0">
              <a:buNone/>
            </a:pPr>
            <a:r>
              <a:rPr lang="en-US" sz="1050" i="1" dirty="0">
                <a:solidFill>
                  <a:srgbClr val="767CA0"/>
                </a:solidFill>
                <a:latin typeface="Calibri" pitchFamily="34" charset="0"/>
                <a:ea typeface="Calibri" pitchFamily="34" charset="-122"/>
                <a:cs typeface="Calibri" pitchFamily="34" charset="-120"/>
              </a:rPr>
              <a:t>CI/CD : GitHub Actions reconstruit et republie automatiquement les trois frontends à chaque changement.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13</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07 · CONCEPTION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Diagramme de classes — quatre familles faiblement couplées</a:t>
            </a:r>
            <a:endParaRPr lang="en-US" sz="3000" dirty="0"/>
          </a:p>
        </p:txBody>
      </p:sp>
      <p:sp>
        <p:nvSpPr>
          <p:cNvPr id="6" name="Shape 4"/>
          <p:cNvSpPr/>
          <p:nvPr/>
        </p:nvSpPr>
        <p:spPr>
          <a:xfrm>
            <a:off x="566928" y="1691640"/>
            <a:ext cx="2613584" cy="3383280"/>
          </a:xfrm>
          <a:prstGeom prst="roundRect">
            <a:avLst>
              <a:gd name="adj" fmla="val 2799"/>
            </a:avLst>
          </a:prstGeom>
          <a:solidFill>
            <a:srgbClr val="F5F7FC"/>
          </a:solidFill>
          <a:ln w="12700">
            <a:solidFill>
              <a:srgbClr val="E3E7F3"/>
            </a:solidFill>
            <a:prstDash val="solid"/>
          </a:ln>
        </p:spPr>
      </p:sp>
      <p:sp>
        <p:nvSpPr>
          <p:cNvPr id="7" name="Shape 5"/>
          <p:cNvSpPr/>
          <p:nvPr/>
        </p:nvSpPr>
        <p:spPr>
          <a:xfrm>
            <a:off x="566928" y="1691640"/>
            <a:ext cx="2613584" cy="548640"/>
          </a:xfrm>
          <a:prstGeom prst="roundRect">
            <a:avLst>
              <a:gd name="adj" fmla="val 13333"/>
            </a:avLst>
          </a:prstGeom>
          <a:solidFill>
            <a:srgbClr val="141B3C"/>
          </a:solidFill>
          <a:ln/>
        </p:spPr>
      </p:sp>
      <p:sp>
        <p:nvSpPr>
          <p:cNvPr id="8" name="Shape 6"/>
          <p:cNvSpPr/>
          <p:nvPr/>
        </p:nvSpPr>
        <p:spPr>
          <a:xfrm>
            <a:off x="566928" y="1965960"/>
            <a:ext cx="2613584" cy="274320"/>
          </a:xfrm>
          <a:prstGeom prst="rect">
            <a:avLst/>
          </a:prstGeom>
          <a:solidFill>
            <a:srgbClr val="141B3C"/>
          </a:solidFill>
          <a:ln/>
        </p:spPr>
      </p:sp>
      <p:sp>
        <p:nvSpPr>
          <p:cNvPr id="9" name="Text 7"/>
          <p:cNvSpPr txBox="1"/>
          <p:nvPr/>
        </p:nvSpPr>
        <p:spPr>
          <a:xfrm>
            <a:off x="704088" y="1691640"/>
            <a:ext cx="2339264"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Identité &amp; Accès</a:t>
            </a:r>
            <a:endParaRPr lang="en-US" sz="1300" dirty="0"/>
          </a:p>
        </p:txBody>
      </p:sp>
      <p:sp>
        <p:nvSpPr>
          <p:cNvPr id="10" name="Shape 8"/>
          <p:cNvSpPr/>
          <p:nvPr/>
        </p:nvSpPr>
        <p:spPr>
          <a:xfrm>
            <a:off x="731520" y="2468880"/>
            <a:ext cx="2284400" cy="402336"/>
          </a:xfrm>
          <a:prstGeom prst="roundRect">
            <a:avLst>
              <a:gd name="adj" fmla="val 13636"/>
            </a:avLst>
          </a:prstGeom>
          <a:solidFill>
            <a:srgbClr val="FFFFFF"/>
          </a:solidFill>
          <a:ln w="12700">
            <a:solidFill>
              <a:srgbClr val="E3E7F3"/>
            </a:solidFill>
            <a:prstDash val="solid"/>
          </a:ln>
        </p:spPr>
      </p:sp>
      <p:sp>
        <p:nvSpPr>
          <p:cNvPr id="11" name="Text 9"/>
          <p:cNvSpPr txBox="1"/>
          <p:nvPr/>
        </p:nvSpPr>
        <p:spPr>
          <a:xfrm>
            <a:off x="859536" y="2468880"/>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Employé</a:t>
            </a:r>
            <a:endParaRPr lang="en-US" sz="1050" dirty="0"/>
          </a:p>
        </p:txBody>
      </p:sp>
      <p:sp>
        <p:nvSpPr>
          <p:cNvPr id="12" name="Shape 10"/>
          <p:cNvSpPr/>
          <p:nvPr/>
        </p:nvSpPr>
        <p:spPr>
          <a:xfrm>
            <a:off x="731520" y="2999232"/>
            <a:ext cx="2284400" cy="402336"/>
          </a:xfrm>
          <a:prstGeom prst="roundRect">
            <a:avLst>
              <a:gd name="adj" fmla="val 13636"/>
            </a:avLst>
          </a:prstGeom>
          <a:solidFill>
            <a:srgbClr val="FFFFFF"/>
          </a:solidFill>
          <a:ln w="12700">
            <a:solidFill>
              <a:srgbClr val="E3E7F3"/>
            </a:solidFill>
            <a:prstDash val="solid"/>
          </a:ln>
        </p:spPr>
      </p:sp>
      <p:sp>
        <p:nvSpPr>
          <p:cNvPr id="13" name="Text 11"/>
          <p:cNvSpPr txBox="1"/>
          <p:nvPr/>
        </p:nvSpPr>
        <p:spPr>
          <a:xfrm>
            <a:off x="859536" y="2999232"/>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Compte</a:t>
            </a:r>
            <a:endParaRPr lang="en-US" sz="1050" dirty="0"/>
          </a:p>
        </p:txBody>
      </p:sp>
      <p:sp>
        <p:nvSpPr>
          <p:cNvPr id="14" name="Shape 12"/>
          <p:cNvSpPr/>
          <p:nvPr/>
        </p:nvSpPr>
        <p:spPr>
          <a:xfrm>
            <a:off x="731520" y="3529584"/>
            <a:ext cx="2284400" cy="402336"/>
          </a:xfrm>
          <a:prstGeom prst="roundRect">
            <a:avLst>
              <a:gd name="adj" fmla="val 13636"/>
            </a:avLst>
          </a:prstGeom>
          <a:solidFill>
            <a:srgbClr val="FFFFFF"/>
          </a:solidFill>
          <a:ln w="12700">
            <a:solidFill>
              <a:srgbClr val="E3E7F3"/>
            </a:solidFill>
            <a:prstDash val="solid"/>
          </a:ln>
        </p:spPr>
      </p:sp>
      <p:sp>
        <p:nvSpPr>
          <p:cNvPr id="15" name="Text 13"/>
          <p:cNvSpPr txBox="1"/>
          <p:nvPr/>
        </p:nvSpPr>
        <p:spPr>
          <a:xfrm>
            <a:off x="859536" y="3529584"/>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Rôle</a:t>
            </a:r>
            <a:endParaRPr lang="en-US" sz="1050" dirty="0"/>
          </a:p>
        </p:txBody>
      </p:sp>
      <p:sp>
        <p:nvSpPr>
          <p:cNvPr id="16" name="Shape 14"/>
          <p:cNvSpPr/>
          <p:nvPr/>
        </p:nvSpPr>
        <p:spPr>
          <a:xfrm>
            <a:off x="731520" y="4059936"/>
            <a:ext cx="2284400" cy="402336"/>
          </a:xfrm>
          <a:prstGeom prst="roundRect">
            <a:avLst>
              <a:gd name="adj" fmla="val 13636"/>
            </a:avLst>
          </a:prstGeom>
          <a:solidFill>
            <a:srgbClr val="FFFFFF"/>
          </a:solidFill>
          <a:ln w="12700">
            <a:solidFill>
              <a:srgbClr val="E3E7F3"/>
            </a:solidFill>
            <a:prstDash val="solid"/>
          </a:ln>
        </p:spPr>
      </p:sp>
      <p:sp>
        <p:nvSpPr>
          <p:cNvPr id="17" name="Text 15"/>
          <p:cNvSpPr txBox="1"/>
          <p:nvPr/>
        </p:nvSpPr>
        <p:spPr>
          <a:xfrm>
            <a:off x="859536" y="4059936"/>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Client</a:t>
            </a:r>
            <a:endParaRPr lang="en-US" sz="1050" dirty="0"/>
          </a:p>
        </p:txBody>
      </p:sp>
      <p:sp>
        <p:nvSpPr>
          <p:cNvPr id="18" name="Shape 16"/>
          <p:cNvSpPr/>
          <p:nvPr/>
        </p:nvSpPr>
        <p:spPr>
          <a:xfrm>
            <a:off x="3381680" y="1691640"/>
            <a:ext cx="2613584" cy="3383280"/>
          </a:xfrm>
          <a:prstGeom prst="roundRect">
            <a:avLst>
              <a:gd name="adj" fmla="val 2799"/>
            </a:avLst>
          </a:prstGeom>
          <a:solidFill>
            <a:srgbClr val="F5F7FC"/>
          </a:solidFill>
          <a:ln w="12700">
            <a:solidFill>
              <a:srgbClr val="E3E7F3"/>
            </a:solidFill>
            <a:prstDash val="solid"/>
          </a:ln>
        </p:spPr>
      </p:sp>
      <p:sp>
        <p:nvSpPr>
          <p:cNvPr id="19" name="Shape 17"/>
          <p:cNvSpPr/>
          <p:nvPr/>
        </p:nvSpPr>
        <p:spPr>
          <a:xfrm>
            <a:off x="3381680" y="1691640"/>
            <a:ext cx="2613584" cy="548640"/>
          </a:xfrm>
          <a:prstGeom prst="roundRect">
            <a:avLst>
              <a:gd name="adj" fmla="val 13333"/>
            </a:avLst>
          </a:prstGeom>
          <a:solidFill>
            <a:srgbClr val="17B8A6"/>
          </a:solidFill>
          <a:ln/>
        </p:spPr>
      </p:sp>
      <p:sp>
        <p:nvSpPr>
          <p:cNvPr id="20" name="Shape 18"/>
          <p:cNvSpPr/>
          <p:nvPr/>
        </p:nvSpPr>
        <p:spPr>
          <a:xfrm>
            <a:off x="3381680" y="1965960"/>
            <a:ext cx="2613584" cy="274320"/>
          </a:xfrm>
          <a:prstGeom prst="rect">
            <a:avLst/>
          </a:prstGeom>
          <a:solidFill>
            <a:srgbClr val="17B8A6"/>
          </a:solidFill>
          <a:ln/>
        </p:spPr>
      </p:sp>
      <p:sp>
        <p:nvSpPr>
          <p:cNvPr id="21" name="Text 19"/>
          <p:cNvSpPr txBox="1"/>
          <p:nvPr/>
        </p:nvSpPr>
        <p:spPr>
          <a:xfrm>
            <a:off x="3518840" y="1691640"/>
            <a:ext cx="2339264"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Demandes RH</a:t>
            </a:r>
            <a:endParaRPr lang="en-US" sz="1300" dirty="0"/>
          </a:p>
        </p:txBody>
      </p:sp>
      <p:sp>
        <p:nvSpPr>
          <p:cNvPr id="22" name="Shape 20"/>
          <p:cNvSpPr/>
          <p:nvPr/>
        </p:nvSpPr>
        <p:spPr>
          <a:xfrm>
            <a:off x="3546272" y="2468880"/>
            <a:ext cx="2284400" cy="402336"/>
          </a:xfrm>
          <a:prstGeom prst="roundRect">
            <a:avLst>
              <a:gd name="adj" fmla="val 13636"/>
            </a:avLst>
          </a:prstGeom>
          <a:solidFill>
            <a:srgbClr val="FFFFFF"/>
          </a:solidFill>
          <a:ln w="12700">
            <a:solidFill>
              <a:srgbClr val="E3E7F3"/>
            </a:solidFill>
            <a:prstDash val="solid"/>
          </a:ln>
        </p:spPr>
      </p:sp>
      <p:sp>
        <p:nvSpPr>
          <p:cNvPr id="23" name="Text 21"/>
          <p:cNvSpPr txBox="1"/>
          <p:nvPr/>
        </p:nvSpPr>
        <p:spPr>
          <a:xfrm>
            <a:off x="3674288" y="2468880"/>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Demande «abstract»</a:t>
            </a:r>
            <a:endParaRPr lang="en-US" sz="1050" dirty="0"/>
          </a:p>
        </p:txBody>
      </p:sp>
      <p:sp>
        <p:nvSpPr>
          <p:cNvPr id="24" name="Shape 22"/>
          <p:cNvSpPr/>
          <p:nvPr/>
        </p:nvSpPr>
        <p:spPr>
          <a:xfrm>
            <a:off x="3701720" y="2999232"/>
            <a:ext cx="2128952" cy="402336"/>
          </a:xfrm>
          <a:prstGeom prst="roundRect">
            <a:avLst>
              <a:gd name="adj" fmla="val 13636"/>
            </a:avLst>
          </a:prstGeom>
          <a:solidFill>
            <a:srgbClr val="FFFFFF"/>
          </a:solidFill>
          <a:ln w="12700">
            <a:solidFill>
              <a:srgbClr val="E3E7F3"/>
            </a:solidFill>
            <a:prstDash val="solid"/>
          </a:ln>
        </p:spPr>
      </p:sp>
      <p:sp>
        <p:nvSpPr>
          <p:cNvPr id="25" name="Text 23"/>
          <p:cNvSpPr txBox="1"/>
          <p:nvPr/>
        </p:nvSpPr>
        <p:spPr>
          <a:xfrm>
            <a:off x="3838880" y="2999232"/>
            <a:ext cx="1991792" cy="402336"/>
          </a:xfrm>
          <a:prstGeom prst="rect">
            <a:avLst/>
          </a:prstGeom>
          <a:noFill/>
          <a:ln/>
        </p:spPr>
        <p:txBody>
          <a:bodyPr wrap="square" lIns="0" tIns="0" rIns="0" bIns="0" rtlCol="0" anchor="ctr"/>
          <a:lstStyle/>
          <a:p>
            <a:pPr indent="0" marL="0">
              <a:buNone/>
            </a:pPr>
            <a:r>
              <a:rPr lang="en-US" sz="1050" i="1" dirty="0">
                <a:solidFill>
                  <a:srgbClr val="141B3C"/>
                </a:solidFill>
                <a:latin typeface="Calibri" pitchFamily="34" charset="0"/>
                <a:ea typeface="Calibri" pitchFamily="34" charset="-122"/>
                <a:cs typeface="Calibri" pitchFamily="34" charset="-120"/>
              </a:rPr>
              <a:t>└ Congé</a:t>
            </a:r>
            <a:endParaRPr lang="en-US" sz="1050" dirty="0"/>
          </a:p>
        </p:txBody>
      </p:sp>
      <p:sp>
        <p:nvSpPr>
          <p:cNvPr id="26" name="Shape 24"/>
          <p:cNvSpPr/>
          <p:nvPr/>
        </p:nvSpPr>
        <p:spPr>
          <a:xfrm>
            <a:off x="3701720" y="3529584"/>
            <a:ext cx="2128952" cy="402336"/>
          </a:xfrm>
          <a:prstGeom prst="roundRect">
            <a:avLst>
              <a:gd name="adj" fmla="val 13636"/>
            </a:avLst>
          </a:prstGeom>
          <a:solidFill>
            <a:srgbClr val="FFFFFF"/>
          </a:solidFill>
          <a:ln w="12700">
            <a:solidFill>
              <a:srgbClr val="E3E7F3"/>
            </a:solidFill>
            <a:prstDash val="solid"/>
          </a:ln>
        </p:spPr>
      </p:sp>
      <p:sp>
        <p:nvSpPr>
          <p:cNvPr id="27" name="Text 25"/>
          <p:cNvSpPr txBox="1"/>
          <p:nvPr/>
        </p:nvSpPr>
        <p:spPr>
          <a:xfrm>
            <a:off x="3838880" y="3529584"/>
            <a:ext cx="1991792" cy="402336"/>
          </a:xfrm>
          <a:prstGeom prst="rect">
            <a:avLst/>
          </a:prstGeom>
          <a:noFill/>
          <a:ln/>
        </p:spPr>
        <p:txBody>
          <a:bodyPr wrap="square" lIns="0" tIns="0" rIns="0" bIns="0" rtlCol="0" anchor="ctr"/>
          <a:lstStyle/>
          <a:p>
            <a:pPr indent="0" marL="0">
              <a:buNone/>
            </a:pPr>
            <a:r>
              <a:rPr lang="en-US" sz="1050" i="1" dirty="0">
                <a:solidFill>
                  <a:srgbClr val="141B3C"/>
                </a:solidFill>
                <a:latin typeface="Calibri" pitchFamily="34" charset="0"/>
                <a:ea typeface="Calibri" pitchFamily="34" charset="-122"/>
                <a:cs typeface="Calibri" pitchFamily="34" charset="-120"/>
              </a:rPr>
              <a:t>└ Autorisation</a:t>
            </a:r>
            <a:endParaRPr lang="en-US" sz="1050" dirty="0"/>
          </a:p>
        </p:txBody>
      </p:sp>
      <p:sp>
        <p:nvSpPr>
          <p:cNvPr id="28" name="Shape 26"/>
          <p:cNvSpPr/>
          <p:nvPr/>
        </p:nvSpPr>
        <p:spPr>
          <a:xfrm>
            <a:off x="3701720" y="4059936"/>
            <a:ext cx="2128952" cy="402336"/>
          </a:xfrm>
          <a:prstGeom prst="roundRect">
            <a:avLst>
              <a:gd name="adj" fmla="val 13636"/>
            </a:avLst>
          </a:prstGeom>
          <a:solidFill>
            <a:srgbClr val="FFFFFF"/>
          </a:solidFill>
          <a:ln w="12700">
            <a:solidFill>
              <a:srgbClr val="E3E7F3"/>
            </a:solidFill>
            <a:prstDash val="solid"/>
          </a:ln>
        </p:spPr>
      </p:sp>
      <p:sp>
        <p:nvSpPr>
          <p:cNvPr id="29" name="Text 27"/>
          <p:cNvSpPr txBox="1"/>
          <p:nvPr/>
        </p:nvSpPr>
        <p:spPr>
          <a:xfrm>
            <a:off x="3838880" y="4059936"/>
            <a:ext cx="1991792" cy="402336"/>
          </a:xfrm>
          <a:prstGeom prst="rect">
            <a:avLst/>
          </a:prstGeom>
          <a:noFill/>
          <a:ln/>
        </p:spPr>
        <p:txBody>
          <a:bodyPr wrap="square" lIns="0" tIns="0" rIns="0" bIns="0" rtlCol="0" anchor="ctr"/>
          <a:lstStyle/>
          <a:p>
            <a:pPr indent="0" marL="0">
              <a:buNone/>
            </a:pPr>
            <a:r>
              <a:rPr lang="en-US" sz="1050" i="1" dirty="0">
                <a:solidFill>
                  <a:srgbClr val="141B3C"/>
                </a:solidFill>
                <a:latin typeface="Calibri" pitchFamily="34" charset="0"/>
                <a:ea typeface="Calibri" pitchFamily="34" charset="-122"/>
                <a:cs typeface="Calibri" pitchFamily="34" charset="-120"/>
              </a:rPr>
              <a:t>└ Télétravail</a:t>
            </a:r>
            <a:endParaRPr lang="en-US" sz="1050" dirty="0"/>
          </a:p>
        </p:txBody>
      </p:sp>
      <p:sp>
        <p:nvSpPr>
          <p:cNvPr id="30" name="Shape 28"/>
          <p:cNvSpPr/>
          <p:nvPr/>
        </p:nvSpPr>
        <p:spPr>
          <a:xfrm>
            <a:off x="6196432" y="1691640"/>
            <a:ext cx="2613584" cy="3383280"/>
          </a:xfrm>
          <a:prstGeom prst="roundRect">
            <a:avLst>
              <a:gd name="adj" fmla="val 2799"/>
            </a:avLst>
          </a:prstGeom>
          <a:solidFill>
            <a:srgbClr val="F5F7FC"/>
          </a:solidFill>
          <a:ln w="12700">
            <a:solidFill>
              <a:srgbClr val="E3E7F3"/>
            </a:solidFill>
            <a:prstDash val="solid"/>
          </a:ln>
        </p:spPr>
      </p:sp>
      <p:sp>
        <p:nvSpPr>
          <p:cNvPr id="31" name="Shape 29"/>
          <p:cNvSpPr/>
          <p:nvPr/>
        </p:nvSpPr>
        <p:spPr>
          <a:xfrm>
            <a:off x="6196432" y="1691640"/>
            <a:ext cx="2613584" cy="548640"/>
          </a:xfrm>
          <a:prstGeom prst="roundRect">
            <a:avLst>
              <a:gd name="adj" fmla="val 13333"/>
            </a:avLst>
          </a:prstGeom>
          <a:solidFill>
            <a:srgbClr val="FF6B4A"/>
          </a:solidFill>
          <a:ln/>
        </p:spPr>
      </p:sp>
      <p:sp>
        <p:nvSpPr>
          <p:cNvPr id="32" name="Shape 30"/>
          <p:cNvSpPr/>
          <p:nvPr/>
        </p:nvSpPr>
        <p:spPr>
          <a:xfrm>
            <a:off x="6196432" y="1965960"/>
            <a:ext cx="2613584" cy="274320"/>
          </a:xfrm>
          <a:prstGeom prst="rect">
            <a:avLst/>
          </a:prstGeom>
          <a:solidFill>
            <a:srgbClr val="FF6B4A"/>
          </a:solidFill>
          <a:ln/>
        </p:spPr>
      </p:sp>
      <p:sp>
        <p:nvSpPr>
          <p:cNvPr id="33" name="Text 31"/>
          <p:cNvSpPr txBox="1"/>
          <p:nvPr/>
        </p:nvSpPr>
        <p:spPr>
          <a:xfrm>
            <a:off x="6333592" y="1691640"/>
            <a:ext cx="2339264"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Projets</a:t>
            </a:r>
            <a:endParaRPr lang="en-US" sz="1300" dirty="0"/>
          </a:p>
        </p:txBody>
      </p:sp>
      <p:sp>
        <p:nvSpPr>
          <p:cNvPr id="34" name="Shape 32"/>
          <p:cNvSpPr/>
          <p:nvPr/>
        </p:nvSpPr>
        <p:spPr>
          <a:xfrm>
            <a:off x="6361024" y="2468880"/>
            <a:ext cx="2284400" cy="402336"/>
          </a:xfrm>
          <a:prstGeom prst="roundRect">
            <a:avLst>
              <a:gd name="adj" fmla="val 13636"/>
            </a:avLst>
          </a:prstGeom>
          <a:solidFill>
            <a:srgbClr val="FFFFFF"/>
          </a:solidFill>
          <a:ln w="12700">
            <a:solidFill>
              <a:srgbClr val="E3E7F3"/>
            </a:solidFill>
            <a:prstDash val="solid"/>
          </a:ln>
        </p:spPr>
      </p:sp>
      <p:sp>
        <p:nvSpPr>
          <p:cNvPr id="35" name="Text 33"/>
          <p:cNvSpPr txBox="1"/>
          <p:nvPr/>
        </p:nvSpPr>
        <p:spPr>
          <a:xfrm>
            <a:off x="6489040" y="2468880"/>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Projet</a:t>
            </a:r>
            <a:endParaRPr lang="en-US" sz="1050" dirty="0"/>
          </a:p>
        </p:txBody>
      </p:sp>
      <p:sp>
        <p:nvSpPr>
          <p:cNvPr id="36" name="Shape 34"/>
          <p:cNvSpPr/>
          <p:nvPr/>
        </p:nvSpPr>
        <p:spPr>
          <a:xfrm>
            <a:off x="6361024" y="2999232"/>
            <a:ext cx="2284400" cy="402336"/>
          </a:xfrm>
          <a:prstGeom prst="roundRect">
            <a:avLst>
              <a:gd name="adj" fmla="val 13636"/>
            </a:avLst>
          </a:prstGeom>
          <a:solidFill>
            <a:srgbClr val="FFFFFF"/>
          </a:solidFill>
          <a:ln w="12700">
            <a:solidFill>
              <a:srgbClr val="E3E7F3"/>
            </a:solidFill>
            <a:prstDash val="solid"/>
          </a:ln>
        </p:spPr>
      </p:sp>
      <p:sp>
        <p:nvSpPr>
          <p:cNvPr id="37" name="Text 35"/>
          <p:cNvSpPr txBox="1"/>
          <p:nvPr/>
        </p:nvSpPr>
        <p:spPr>
          <a:xfrm>
            <a:off x="6489040" y="2999232"/>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Tâche</a:t>
            </a:r>
            <a:endParaRPr lang="en-US" sz="1050" dirty="0"/>
          </a:p>
        </p:txBody>
      </p:sp>
      <p:sp>
        <p:nvSpPr>
          <p:cNvPr id="38" name="Shape 36"/>
          <p:cNvSpPr/>
          <p:nvPr/>
        </p:nvSpPr>
        <p:spPr>
          <a:xfrm>
            <a:off x="6361024" y="3529584"/>
            <a:ext cx="2284400" cy="402336"/>
          </a:xfrm>
          <a:prstGeom prst="roundRect">
            <a:avLst>
              <a:gd name="adj" fmla="val 13636"/>
            </a:avLst>
          </a:prstGeom>
          <a:solidFill>
            <a:srgbClr val="FFFFFF"/>
          </a:solidFill>
          <a:ln w="12700">
            <a:solidFill>
              <a:srgbClr val="E3E7F3"/>
            </a:solidFill>
            <a:prstDash val="solid"/>
          </a:ln>
        </p:spPr>
      </p:sp>
      <p:sp>
        <p:nvSpPr>
          <p:cNvPr id="39" name="Text 37"/>
          <p:cNvSpPr txBox="1"/>
          <p:nvPr/>
        </p:nvSpPr>
        <p:spPr>
          <a:xfrm>
            <a:off x="6489040" y="3529584"/>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Équipe</a:t>
            </a:r>
            <a:endParaRPr lang="en-US" sz="1050" dirty="0"/>
          </a:p>
        </p:txBody>
      </p:sp>
      <p:sp>
        <p:nvSpPr>
          <p:cNvPr id="40" name="Shape 38"/>
          <p:cNvSpPr/>
          <p:nvPr/>
        </p:nvSpPr>
        <p:spPr>
          <a:xfrm>
            <a:off x="6361024" y="4059936"/>
            <a:ext cx="2284400" cy="402336"/>
          </a:xfrm>
          <a:prstGeom prst="roundRect">
            <a:avLst>
              <a:gd name="adj" fmla="val 13636"/>
            </a:avLst>
          </a:prstGeom>
          <a:solidFill>
            <a:srgbClr val="FFFFFF"/>
          </a:solidFill>
          <a:ln w="12700">
            <a:solidFill>
              <a:srgbClr val="E3E7F3"/>
            </a:solidFill>
            <a:prstDash val="solid"/>
          </a:ln>
        </p:spPr>
      </p:sp>
      <p:sp>
        <p:nvSpPr>
          <p:cNvPr id="41" name="Text 39"/>
          <p:cNvSpPr txBox="1"/>
          <p:nvPr/>
        </p:nvSpPr>
        <p:spPr>
          <a:xfrm>
            <a:off x="6489040" y="4059936"/>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MediaPlan</a:t>
            </a:r>
            <a:endParaRPr lang="en-US" sz="1050" dirty="0"/>
          </a:p>
        </p:txBody>
      </p:sp>
      <p:sp>
        <p:nvSpPr>
          <p:cNvPr id="42" name="Shape 40"/>
          <p:cNvSpPr/>
          <p:nvPr/>
        </p:nvSpPr>
        <p:spPr>
          <a:xfrm>
            <a:off x="9011183" y="1691640"/>
            <a:ext cx="2613584" cy="3383280"/>
          </a:xfrm>
          <a:prstGeom prst="roundRect">
            <a:avLst>
              <a:gd name="adj" fmla="val 2799"/>
            </a:avLst>
          </a:prstGeom>
          <a:solidFill>
            <a:srgbClr val="F5F7FC"/>
          </a:solidFill>
          <a:ln w="12700">
            <a:solidFill>
              <a:srgbClr val="E3E7F3"/>
            </a:solidFill>
            <a:prstDash val="solid"/>
          </a:ln>
        </p:spPr>
      </p:sp>
      <p:sp>
        <p:nvSpPr>
          <p:cNvPr id="43" name="Shape 41"/>
          <p:cNvSpPr/>
          <p:nvPr/>
        </p:nvSpPr>
        <p:spPr>
          <a:xfrm>
            <a:off x="9011183" y="1691640"/>
            <a:ext cx="2613584" cy="548640"/>
          </a:xfrm>
          <a:prstGeom prst="roundRect">
            <a:avLst>
              <a:gd name="adj" fmla="val 13333"/>
            </a:avLst>
          </a:prstGeom>
          <a:solidFill>
            <a:srgbClr val="1E2761"/>
          </a:solidFill>
          <a:ln/>
        </p:spPr>
      </p:sp>
      <p:sp>
        <p:nvSpPr>
          <p:cNvPr id="44" name="Shape 42"/>
          <p:cNvSpPr/>
          <p:nvPr/>
        </p:nvSpPr>
        <p:spPr>
          <a:xfrm>
            <a:off x="9011183" y="1965960"/>
            <a:ext cx="2613584" cy="274320"/>
          </a:xfrm>
          <a:prstGeom prst="rect">
            <a:avLst/>
          </a:prstGeom>
          <a:solidFill>
            <a:srgbClr val="1E2761"/>
          </a:solidFill>
          <a:ln/>
        </p:spPr>
      </p:sp>
      <p:sp>
        <p:nvSpPr>
          <p:cNvPr id="45" name="Text 43"/>
          <p:cNvSpPr txBox="1"/>
          <p:nvPr/>
        </p:nvSpPr>
        <p:spPr>
          <a:xfrm>
            <a:off x="9148343" y="1691640"/>
            <a:ext cx="2339264"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Finance</a:t>
            </a:r>
            <a:endParaRPr lang="en-US" sz="1300" dirty="0"/>
          </a:p>
        </p:txBody>
      </p:sp>
      <p:sp>
        <p:nvSpPr>
          <p:cNvPr id="46" name="Shape 44"/>
          <p:cNvSpPr/>
          <p:nvPr/>
        </p:nvSpPr>
        <p:spPr>
          <a:xfrm>
            <a:off x="9175775" y="2468880"/>
            <a:ext cx="2284400" cy="402336"/>
          </a:xfrm>
          <a:prstGeom prst="roundRect">
            <a:avLst>
              <a:gd name="adj" fmla="val 13636"/>
            </a:avLst>
          </a:prstGeom>
          <a:solidFill>
            <a:srgbClr val="FFFFFF"/>
          </a:solidFill>
          <a:ln w="12700">
            <a:solidFill>
              <a:srgbClr val="E3E7F3"/>
            </a:solidFill>
            <a:prstDash val="solid"/>
          </a:ln>
        </p:spPr>
      </p:sp>
      <p:sp>
        <p:nvSpPr>
          <p:cNvPr id="47" name="Text 45"/>
          <p:cNvSpPr txBox="1"/>
          <p:nvPr/>
        </p:nvSpPr>
        <p:spPr>
          <a:xfrm>
            <a:off x="9303791" y="2468880"/>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Facture</a:t>
            </a:r>
            <a:endParaRPr lang="en-US" sz="1050" dirty="0"/>
          </a:p>
        </p:txBody>
      </p:sp>
      <p:sp>
        <p:nvSpPr>
          <p:cNvPr id="48" name="Shape 46"/>
          <p:cNvSpPr/>
          <p:nvPr/>
        </p:nvSpPr>
        <p:spPr>
          <a:xfrm>
            <a:off x="9175775" y="2999232"/>
            <a:ext cx="2284400" cy="402336"/>
          </a:xfrm>
          <a:prstGeom prst="roundRect">
            <a:avLst>
              <a:gd name="adj" fmla="val 13636"/>
            </a:avLst>
          </a:prstGeom>
          <a:solidFill>
            <a:srgbClr val="FFFFFF"/>
          </a:solidFill>
          <a:ln w="12700">
            <a:solidFill>
              <a:srgbClr val="E3E7F3"/>
            </a:solidFill>
            <a:prstDash val="solid"/>
          </a:ln>
        </p:spPr>
      </p:sp>
      <p:sp>
        <p:nvSpPr>
          <p:cNvPr id="49" name="Text 47"/>
          <p:cNvSpPr txBox="1"/>
          <p:nvPr/>
        </p:nvSpPr>
        <p:spPr>
          <a:xfrm>
            <a:off x="9303791" y="2999232"/>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ChargeFixe</a:t>
            </a:r>
            <a:endParaRPr lang="en-US" sz="1050" dirty="0"/>
          </a:p>
        </p:txBody>
      </p:sp>
      <p:sp>
        <p:nvSpPr>
          <p:cNvPr id="50" name="Shape 48"/>
          <p:cNvSpPr/>
          <p:nvPr/>
        </p:nvSpPr>
        <p:spPr>
          <a:xfrm>
            <a:off x="9175775" y="3529584"/>
            <a:ext cx="2284400" cy="402336"/>
          </a:xfrm>
          <a:prstGeom prst="roundRect">
            <a:avLst>
              <a:gd name="adj" fmla="val 13636"/>
            </a:avLst>
          </a:prstGeom>
          <a:solidFill>
            <a:srgbClr val="FFFFFF"/>
          </a:solidFill>
          <a:ln w="12700">
            <a:solidFill>
              <a:srgbClr val="E3E7F3"/>
            </a:solidFill>
            <a:prstDash val="solid"/>
          </a:ln>
        </p:spPr>
      </p:sp>
      <p:sp>
        <p:nvSpPr>
          <p:cNvPr id="51" name="Text 49"/>
          <p:cNvSpPr txBox="1"/>
          <p:nvPr/>
        </p:nvSpPr>
        <p:spPr>
          <a:xfrm>
            <a:off x="9303791" y="3529584"/>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Dette</a:t>
            </a:r>
            <a:endParaRPr lang="en-US" sz="1050" dirty="0"/>
          </a:p>
        </p:txBody>
      </p:sp>
      <p:sp>
        <p:nvSpPr>
          <p:cNvPr id="52" name="Shape 50"/>
          <p:cNvSpPr/>
          <p:nvPr/>
        </p:nvSpPr>
        <p:spPr>
          <a:xfrm>
            <a:off x="9175775" y="4059936"/>
            <a:ext cx="2284400" cy="402336"/>
          </a:xfrm>
          <a:prstGeom prst="roundRect">
            <a:avLst>
              <a:gd name="adj" fmla="val 13636"/>
            </a:avLst>
          </a:prstGeom>
          <a:solidFill>
            <a:srgbClr val="FFFFFF"/>
          </a:solidFill>
          <a:ln w="12700">
            <a:solidFill>
              <a:srgbClr val="E3E7F3"/>
            </a:solidFill>
            <a:prstDash val="solid"/>
          </a:ln>
        </p:spPr>
      </p:sp>
      <p:sp>
        <p:nvSpPr>
          <p:cNvPr id="53" name="Text 51"/>
          <p:cNvSpPr txBox="1"/>
          <p:nvPr/>
        </p:nvSpPr>
        <p:spPr>
          <a:xfrm>
            <a:off x="9303791" y="4059936"/>
            <a:ext cx="2156384" cy="402336"/>
          </a:xfrm>
          <a:prstGeom prst="rect">
            <a:avLst/>
          </a:prstGeom>
          <a:noFill/>
          <a:ln/>
        </p:spPr>
        <p:txBody>
          <a:bodyPr wrap="square" lIns="0" tIns="0" rIns="0" bIns="0" rtlCol="0" anchor="ctr"/>
          <a:lstStyle/>
          <a:p>
            <a:pPr indent="0" marL="0">
              <a:buNone/>
            </a:pPr>
            <a:r>
              <a:rPr lang="en-US" sz="1050" b="1" dirty="0">
                <a:solidFill>
                  <a:srgbClr val="141B3C"/>
                </a:solidFill>
                <a:latin typeface="Calibri" pitchFamily="34" charset="0"/>
                <a:ea typeface="Calibri" pitchFamily="34" charset="-122"/>
                <a:cs typeface="Calibri" pitchFamily="34" charset="-120"/>
              </a:rPr>
              <a:t>BulletinPaie</a:t>
            </a:r>
            <a:endParaRPr lang="en-US" sz="1050" dirty="0"/>
          </a:p>
        </p:txBody>
      </p:sp>
      <p:sp>
        <p:nvSpPr>
          <p:cNvPr id="54" name="Shape 52"/>
          <p:cNvSpPr/>
          <p:nvPr/>
        </p:nvSpPr>
        <p:spPr>
          <a:xfrm>
            <a:off x="566928" y="5349240"/>
            <a:ext cx="11057839" cy="868680"/>
          </a:xfrm>
          <a:prstGeom prst="roundRect">
            <a:avLst>
              <a:gd name="adj" fmla="val 8421"/>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55" name="Text 53"/>
          <p:cNvSpPr txBox="1"/>
          <p:nvPr/>
        </p:nvSpPr>
        <p:spPr>
          <a:xfrm>
            <a:off x="841248" y="5349240"/>
            <a:ext cx="10509199" cy="868680"/>
          </a:xfrm>
          <a:prstGeom prst="rect">
            <a:avLst/>
          </a:prstGeom>
          <a:noFill/>
          <a:ln/>
        </p:spPr>
        <p:txBody>
          <a:bodyPr wrap="square" lIns="0" tIns="0" rIns="0" bIns="0" rtlCol="0" anchor="ctr"/>
          <a:lstStyle/>
          <a:p>
            <a:pPr indent="0" marL="0">
              <a:lnSpc>
                <a:spcPct val="125000"/>
              </a:lnSpc>
              <a:buNone/>
            </a:pPr>
            <a:r>
              <a:rPr lang="en-US" sz="1200" i="1" dirty="0">
                <a:solidFill>
                  <a:srgbClr val="E8EEFC"/>
                </a:solidFill>
                <a:latin typeface="Calibri" pitchFamily="34" charset="0"/>
                <a:ea typeface="Calibri" pitchFamily="34" charset="-122"/>
                <a:cs typeface="Calibri" pitchFamily="34" charset="-120"/>
              </a:rPr>
              <a:t>Ce découpage n’est pas anodin : il annonce la répartition du travail entre les trois interfaces frontend, chacune consommant l’API selon les besoins de sa propre famille de classes.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3C"/>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6E76A8"/>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6E76A8"/>
                </a:solidFill>
                <a:latin typeface="Calibri" pitchFamily="34" charset="0"/>
                <a:ea typeface="Calibri" pitchFamily="34" charset="-122"/>
                <a:cs typeface="Calibri" pitchFamily="34" charset="-120"/>
              </a:rPr>
              <a:t>14</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Technologies utilisées</a:t>
            </a:r>
            <a:endParaRPr lang="en-US" sz="3000" dirty="0"/>
          </a:p>
        </p:txBody>
      </p:sp>
      <p:sp>
        <p:nvSpPr>
          <p:cNvPr id="6" name="Shape 4"/>
          <p:cNvSpPr/>
          <p:nvPr/>
        </p:nvSpPr>
        <p:spPr>
          <a:xfrm>
            <a:off x="566928" y="1691640"/>
            <a:ext cx="475488" cy="475488"/>
          </a:xfrm>
          <a:prstGeom prst="ellipse">
            <a:avLst/>
          </a:prstGeom>
          <a:solidFill>
            <a:srgbClr val="17B8A6"/>
          </a:solidFill>
          <a:ln/>
        </p:spPr>
      </p:sp>
      <p:pic>
        <p:nvPicPr>
          <p:cNvPr id="7" name="Image 0" descr="C:\Users\yosrk\AppData\Local\Temp\claude\c--Users-yosrk-OneDrive-Bureau-RHpfe-Antigone-RH\f59fd8f1-a1b7-4e96-84d6-6d2a4296fa99\scratchpad\pfe-soutenance\icons\code.png">    </p:cNvPr>
          <p:cNvPicPr>
            <a:picLocks noChangeAspect="1"/>
          </p:cNvPicPr>
          <p:nvPr/>
        </p:nvPicPr>
        <p:blipFill>
          <a:blip r:embed="rId1"/>
          <a:stretch>
            <a:fillRect/>
          </a:stretch>
        </p:blipFill>
        <p:spPr>
          <a:xfrm>
            <a:off x="633496" y="1758208"/>
            <a:ext cx="342351" cy="342351"/>
          </a:xfrm>
          <a:prstGeom prst="rect">
            <a:avLst/>
          </a:prstGeom>
        </p:spPr>
      </p:pic>
      <p:sp>
        <p:nvSpPr>
          <p:cNvPr id="8" name="Text 5"/>
          <p:cNvSpPr txBox="1"/>
          <p:nvPr/>
        </p:nvSpPr>
        <p:spPr>
          <a:xfrm>
            <a:off x="566928" y="2286000"/>
            <a:ext cx="2613584" cy="50292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p:txBody>
      </p:sp>
      <p:sp>
        <p:nvSpPr>
          <p:cNvPr id="9" name="Shape 6"/>
          <p:cNvSpPr/>
          <p:nvPr/>
        </p:nvSpPr>
        <p:spPr>
          <a:xfrm>
            <a:off x="566928" y="2862072"/>
            <a:ext cx="2613584" cy="347472"/>
          </a:xfrm>
          <a:prstGeom prst="roundRect">
            <a:avLst>
              <a:gd name="adj" fmla="val 15789"/>
            </a:avLst>
          </a:prstGeom>
          <a:solidFill>
            <a:srgbClr val="1E2761"/>
          </a:solidFill>
          <a:ln/>
        </p:spPr>
      </p:sp>
      <p:sp>
        <p:nvSpPr>
          <p:cNvPr id="10" name="Text 7"/>
          <p:cNvSpPr txBox="1"/>
          <p:nvPr/>
        </p:nvSpPr>
        <p:spPr>
          <a:xfrm>
            <a:off x="713232" y="2862072"/>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Java 17</a:t>
            </a:r>
            <a:endParaRPr lang="en-US" sz="1050" dirty="0"/>
          </a:p>
        </p:txBody>
      </p:sp>
      <p:sp>
        <p:nvSpPr>
          <p:cNvPr id="11" name="Shape 8"/>
          <p:cNvSpPr/>
          <p:nvPr/>
        </p:nvSpPr>
        <p:spPr>
          <a:xfrm>
            <a:off x="566928" y="3291840"/>
            <a:ext cx="2613584" cy="347472"/>
          </a:xfrm>
          <a:prstGeom prst="roundRect">
            <a:avLst>
              <a:gd name="adj" fmla="val 15789"/>
            </a:avLst>
          </a:prstGeom>
          <a:solidFill>
            <a:srgbClr val="1E2761"/>
          </a:solidFill>
          <a:ln/>
        </p:spPr>
      </p:sp>
      <p:sp>
        <p:nvSpPr>
          <p:cNvPr id="12" name="Text 9"/>
          <p:cNvSpPr txBox="1"/>
          <p:nvPr/>
        </p:nvSpPr>
        <p:spPr>
          <a:xfrm>
            <a:off x="713232" y="3291840"/>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Spring Boot 3</a:t>
            </a:r>
            <a:endParaRPr lang="en-US" sz="1050" dirty="0"/>
          </a:p>
        </p:txBody>
      </p:sp>
      <p:sp>
        <p:nvSpPr>
          <p:cNvPr id="13" name="Shape 10"/>
          <p:cNvSpPr/>
          <p:nvPr/>
        </p:nvSpPr>
        <p:spPr>
          <a:xfrm>
            <a:off x="566928" y="3721608"/>
            <a:ext cx="2613584" cy="347472"/>
          </a:xfrm>
          <a:prstGeom prst="roundRect">
            <a:avLst>
              <a:gd name="adj" fmla="val 15789"/>
            </a:avLst>
          </a:prstGeom>
          <a:solidFill>
            <a:srgbClr val="1E2761"/>
          </a:solidFill>
          <a:ln/>
        </p:spPr>
      </p:sp>
      <p:sp>
        <p:nvSpPr>
          <p:cNvPr id="14" name="Text 11"/>
          <p:cNvSpPr txBox="1"/>
          <p:nvPr/>
        </p:nvSpPr>
        <p:spPr>
          <a:xfrm>
            <a:off x="713232" y="3721608"/>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Spring Security + JWT</a:t>
            </a:r>
            <a:endParaRPr lang="en-US" sz="1050" dirty="0"/>
          </a:p>
        </p:txBody>
      </p:sp>
      <p:sp>
        <p:nvSpPr>
          <p:cNvPr id="15" name="Shape 12"/>
          <p:cNvSpPr/>
          <p:nvPr/>
        </p:nvSpPr>
        <p:spPr>
          <a:xfrm>
            <a:off x="566928" y="4151376"/>
            <a:ext cx="2613584" cy="347472"/>
          </a:xfrm>
          <a:prstGeom prst="roundRect">
            <a:avLst>
              <a:gd name="adj" fmla="val 15789"/>
            </a:avLst>
          </a:prstGeom>
          <a:solidFill>
            <a:srgbClr val="1E2761"/>
          </a:solidFill>
          <a:ln/>
        </p:spPr>
      </p:sp>
      <p:sp>
        <p:nvSpPr>
          <p:cNvPr id="16" name="Text 13"/>
          <p:cNvSpPr txBox="1"/>
          <p:nvPr/>
        </p:nvSpPr>
        <p:spPr>
          <a:xfrm>
            <a:off x="713232" y="4151376"/>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Spring Data JPA / Hibernate</a:t>
            </a:r>
            <a:endParaRPr lang="en-US" sz="1050" dirty="0"/>
          </a:p>
        </p:txBody>
      </p:sp>
      <p:sp>
        <p:nvSpPr>
          <p:cNvPr id="17" name="Shape 14"/>
          <p:cNvSpPr/>
          <p:nvPr/>
        </p:nvSpPr>
        <p:spPr>
          <a:xfrm>
            <a:off x="566928" y="4581144"/>
            <a:ext cx="2613584" cy="347472"/>
          </a:xfrm>
          <a:prstGeom prst="roundRect">
            <a:avLst>
              <a:gd name="adj" fmla="val 15789"/>
            </a:avLst>
          </a:prstGeom>
          <a:solidFill>
            <a:srgbClr val="1E2761"/>
          </a:solidFill>
          <a:ln/>
        </p:spPr>
      </p:sp>
      <p:sp>
        <p:nvSpPr>
          <p:cNvPr id="18" name="Text 15"/>
          <p:cNvSpPr txBox="1"/>
          <p:nvPr/>
        </p:nvSpPr>
        <p:spPr>
          <a:xfrm>
            <a:off x="713232" y="4581144"/>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PostgreSQL</a:t>
            </a:r>
            <a:endParaRPr lang="en-US" sz="1050" dirty="0"/>
          </a:p>
        </p:txBody>
      </p:sp>
      <p:sp>
        <p:nvSpPr>
          <p:cNvPr id="19" name="Shape 16"/>
          <p:cNvSpPr/>
          <p:nvPr/>
        </p:nvSpPr>
        <p:spPr>
          <a:xfrm>
            <a:off x="566928" y="5010912"/>
            <a:ext cx="2613584" cy="347472"/>
          </a:xfrm>
          <a:prstGeom prst="roundRect">
            <a:avLst>
              <a:gd name="adj" fmla="val 15789"/>
            </a:avLst>
          </a:prstGeom>
          <a:solidFill>
            <a:srgbClr val="1E2761"/>
          </a:solidFill>
          <a:ln/>
        </p:spPr>
      </p:sp>
      <p:sp>
        <p:nvSpPr>
          <p:cNvPr id="20" name="Text 17"/>
          <p:cNvSpPr txBox="1"/>
          <p:nvPr/>
        </p:nvSpPr>
        <p:spPr>
          <a:xfrm>
            <a:off x="713232" y="5010912"/>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Maven</a:t>
            </a:r>
            <a:endParaRPr lang="en-US" sz="1050" dirty="0"/>
          </a:p>
        </p:txBody>
      </p:sp>
      <p:sp>
        <p:nvSpPr>
          <p:cNvPr id="21" name="Shape 18"/>
          <p:cNvSpPr/>
          <p:nvPr/>
        </p:nvSpPr>
        <p:spPr>
          <a:xfrm>
            <a:off x="3381680" y="1691640"/>
            <a:ext cx="475488" cy="475488"/>
          </a:xfrm>
          <a:prstGeom prst="ellipse">
            <a:avLst/>
          </a:prstGeom>
          <a:solidFill>
            <a:srgbClr val="FF6B4A"/>
          </a:solidFill>
          <a:ln/>
        </p:spPr>
      </p:sp>
      <p:pic>
        <p:nvPicPr>
          <p:cNvPr id="22" name="Image 1" descr="C:\Users\yosrk\AppData\Local\Temp\claude\c--Users-yosrk-OneDrive-Bureau-RHpfe-Antigone-RH\f59fd8f1-a1b7-4e96-84d6-6d2a4296fa99\scratchpad\pfe-soutenance\icons\laptopcode.png">    </p:cNvPr>
          <p:cNvPicPr>
            <a:picLocks noChangeAspect="1"/>
          </p:cNvPicPr>
          <p:nvPr/>
        </p:nvPicPr>
        <p:blipFill>
          <a:blip r:embed="rId2"/>
          <a:stretch>
            <a:fillRect/>
          </a:stretch>
        </p:blipFill>
        <p:spPr>
          <a:xfrm>
            <a:off x="3448248" y="1758208"/>
            <a:ext cx="342351" cy="342351"/>
          </a:xfrm>
          <a:prstGeom prst="rect">
            <a:avLst/>
          </a:prstGeom>
        </p:spPr>
      </p:pic>
      <p:sp>
        <p:nvSpPr>
          <p:cNvPr id="23" name="Text 19"/>
          <p:cNvSpPr txBox="1"/>
          <p:nvPr/>
        </p:nvSpPr>
        <p:spPr>
          <a:xfrm>
            <a:off x="3381680" y="2286000"/>
            <a:ext cx="2613584" cy="50292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Frontend</a:t>
            </a:r>
            <a:endParaRPr lang="en-US" sz="1300" dirty="0"/>
          </a:p>
        </p:txBody>
      </p:sp>
      <p:sp>
        <p:nvSpPr>
          <p:cNvPr id="24" name="Shape 20"/>
          <p:cNvSpPr/>
          <p:nvPr/>
        </p:nvSpPr>
        <p:spPr>
          <a:xfrm>
            <a:off x="3381680" y="2862072"/>
            <a:ext cx="2613584" cy="347472"/>
          </a:xfrm>
          <a:prstGeom prst="roundRect">
            <a:avLst>
              <a:gd name="adj" fmla="val 15789"/>
            </a:avLst>
          </a:prstGeom>
          <a:solidFill>
            <a:srgbClr val="1E2761"/>
          </a:solidFill>
          <a:ln/>
        </p:spPr>
      </p:sp>
      <p:sp>
        <p:nvSpPr>
          <p:cNvPr id="25" name="Text 21"/>
          <p:cNvSpPr txBox="1"/>
          <p:nvPr/>
        </p:nvSpPr>
        <p:spPr>
          <a:xfrm>
            <a:off x="3527984" y="2862072"/>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React 19</a:t>
            </a:r>
            <a:endParaRPr lang="en-US" sz="1050" dirty="0"/>
          </a:p>
        </p:txBody>
      </p:sp>
      <p:sp>
        <p:nvSpPr>
          <p:cNvPr id="26" name="Shape 22"/>
          <p:cNvSpPr/>
          <p:nvPr/>
        </p:nvSpPr>
        <p:spPr>
          <a:xfrm>
            <a:off x="3381680" y="3291840"/>
            <a:ext cx="2613584" cy="347472"/>
          </a:xfrm>
          <a:prstGeom prst="roundRect">
            <a:avLst>
              <a:gd name="adj" fmla="val 15789"/>
            </a:avLst>
          </a:prstGeom>
          <a:solidFill>
            <a:srgbClr val="1E2761"/>
          </a:solidFill>
          <a:ln/>
        </p:spPr>
      </p:sp>
      <p:sp>
        <p:nvSpPr>
          <p:cNvPr id="27" name="Text 23"/>
          <p:cNvSpPr txBox="1"/>
          <p:nvPr/>
        </p:nvSpPr>
        <p:spPr>
          <a:xfrm>
            <a:off x="3527984" y="3291840"/>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TypeScript</a:t>
            </a:r>
            <a:endParaRPr lang="en-US" sz="1050" dirty="0"/>
          </a:p>
        </p:txBody>
      </p:sp>
      <p:sp>
        <p:nvSpPr>
          <p:cNvPr id="28" name="Shape 24"/>
          <p:cNvSpPr/>
          <p:nvPr/>
        </p:nvSpPr>
        <p:spPr>
          <a:xfrm>
            <a:off x="3381680" y="3721608"/>
            <a:ext cx="2613584" cy="347472"/>
          </a:xfrm>
          <a:prstGeom prst="roundRect">
            <a:avLst>
              <a:gd name="adj" fmla="val 15789"/>
            </a:avLst>
          </a:prstGeom>
          <a:solidFill>
            <a:srgbClr val="1E2761"/>
          </a:solidFill>
          <a:ln/>
        </p:spPr>
      </p:sp>
      <p:sp>
        <p:nvSpPr>
          <p:cNvPr id="29" name="Text 25"/>
          <p:cNvSpPr txBox="1"/>
          <p:nvPr/>
        </p:nvSpPr>
        <p:spPr>
          <a:xfrm>
            <a:off x="3527984" y="3721608"/>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Vite</a:t>
            </a:r>
            <a:endParaRPr lang="en-US" sz="1050" dirty="0"/>
          </a:p>
        </p:txBody>
      </p:sp>
      <p:sp>
        <p:nvSpPr>
          <p:cNvPr id="30" name="Shape 26"/>
          <p:cNvSpPr/>
          <p:nvPr/>
        </p:nvSpPr>
        <p:spPr>
          <a:xfrm>
            <a:off x="3381680" y="4151376"/>
            <a:ext cx="2613584" cy="347472"/>
          </a:xfrm>
          <a:prstGeom prst="roundRect">
            <a:avLst>
              <a:gd name="adj" fmla="val 15789"/>
            </a:avLst>
          </a:prstGeom>
          <a:solidFill>
            <a:srgbClr val="1E2761"/>
          </a:solidFill>
          <a:ln/>
        </p:spPr>
      </p:sp>
      <p:sp>
        <p:nvSpPr>
          <p:cNvPr id="31" name="Text 27"/>
          <p:cNvSpPr txBox="1"/>
          <p:nvPr/>
        </p:nvSpPr>
        <p:spPr>
          <a:xfrm>
            <a:off x="3527984" y="4151376"/>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Ant Design</a:t>
            </a:r>
            <a:endParaRPr lang="en-US" sz="1050" dirty="0"/>
          </a:p>
        </p:txBody>
      </p:sp>
      <p:sp>
        <p:nvSpPr>
          <p:cNvPr id="32" name="Shape 28"/>
          <p:cNvSpPr/>
          <p:nvPr/>
        </p:nvSpPr>
        <p:spPr>
          <a:xfrm>
            <a:off x="3381680" y="4581144"/>
            <a:ext cx="2613584" cy="347472"/>
          </a:xfrm>
          <a:prstGeom prst="roundRect">
            <a:avLst>
              <a:gd name="adj" fmla="val 15789"/>
            </a:avLst>
          </a:prstGeom>
          <a:solidFill>
            <a:srgbClr val="1E2761"/>
          </a:solidFill>
          <a:ln/>
        </p:spPr>
      </p:sp>
      <p:sp>
        <p:nvSpPr>
          <p:cNvPr id="33" name="Text 29"/>
          <p:cNvSpPr txBox="1"/>
          <p:nvPr/>
        </p:nvSpPr>
        <p:spPr>
          <a:xfrm>
            <a:off x="3527984" y="4581144"/>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Tailwind CSS</a:t>
            </a:r>
            <a:endParaRPr lang="en-US" sz="1050" dirty="0"/>
          </a:p>
        </p:txBody>
      </p:sp>
      <p:sp>
        <p:nvSpPr>
          <p:cNvPr id="34" name="Shape 30"/>
          <p:cNvSpPr/>
          <p:nvPr/>
        </p:nvSpPr>
        <p:spPr>
          <a:xfrm>
            <a:off x="3381680" y="5010912"/>
            <a:ext cx="2613584" cy="347472"/>
          </a:xfrm>
          <a:prstGeom prst="roundRect">
            <a:avLst>
              <a:gd name="adj" fmla="val 15789"/>
            </a:avLst>
          </a:prstGeom>
          <a:solidFill>
            <a:srgbClr val="1E2761"/>
          </a:solidFill>
          <a:ln/>
        </p:spPr>
      </p:sp>
      <p:sp>
        <p:nvSpPr>
          <p:cNvPr id="35" name="Text 31"/>
          <p:cNvSpPr txBox="1"/>
          <p:nvPr/>
        </p:nvSpPr>
        <p:spPr>
          <a:xfrm>
            <a:off x="3527984" y="5010912"/>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Recharts</a:t>
            </a:r>
            <a:endParaRPr lang="en-US" sz="1050" dirty="0"/>
          </a:p>
        </p:txBody>
      </p:sp>
      <p:sp>
        <p:nvSpPr>
          <p:cNvPr id="36" name="Shape 32"/>
          <p:cNvSpPr/>
          <p:nvPr/>
        </p:nvSpPr>
        <p:spPr>
          <a:xfrm>
            <a:off x="6196432" y="1691640"/>
            <a:ext cx="475488" cy="475488"/>
          </a:xfrm>
          <a:prstGeom prst="ellipse">
            <a:avLst/>
          </a:prstGeom>
          <a:solidFill>
            <a:srgbClr val="17B8A6"/>
          </a:solidFill>
          <a:ln/>
        </p:spPr>
      </p:sp>
      <p:pic>
        <p:nvPicPr>
          <p:cNvPr id="37" name="Image 2" descr="C:\Users\yosrk\AppData\Local\Temp\claude\c--Users-yosrk-OneDrive-Bureau-RHpfe-Antigone-RH\f59fd8f1-a1b7-4e96-84d6-6d2a4296fa99\scratchpad\pfe-soutenance\icons\robot.png">    </p:cNvPr>
          <p:cNvPicPr>
            <a:picLocks noChangeAspect="1"/>
          </p:cNvPicPr>
          <p:nvPr/>
        </p:nvPicPr>
        <p:blipFill>
          <a:blip r:embed="rId3"/>
          <a:stretch>
            <a:fillRect/>
          </a:stretch>
        </p:blipFill>
        <p:spPr>
          <a:xfrm>
            <a:off x="6263000" y="1758208"/>
            <a:ext cx="342351" cy="342351"/>
          </a:xfrm>
          <a:prstGeom prst="rect">
            <a:avLst/>
          </a:prstGeom>
        </p:spPr>
      </p:pic>
      <p:sp>
        <p:nvSpPr>
          <p:cNvPr id="38" name="Text 33"/>
          <p:cNvSpPr txBox="1"/>
          <p:nvPr/>
        </p:nvSpPr>
        <p:spPr>
          <a:xfrm>
            <a:off x="6196432" y="2286000"/>
            <a:ext cx="2613584" cy="50292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Intelligence Artificielle</a:t>
            </a:r>
            <a:endParaRPr lang="en-US" sz="1300" dirty="0"/>
          </a:p>
        </p:txBody>
      </p:sp>
      <p:sp>
        <p:nvSpPr>
          <p:cNvPr id="39" name="Shape 34"/>
          <p:cNvSpPr/>
          <p:nvPr/>
        </p:nvSpPr>
        <p:spPr>
          <a:xfrm>
            <a:off x="6196432" y="2862072"/>
            <a:ext cx="2613584" cy="347472"/>
          </a:xfrm>
          <a:prstGeom prst="roundRect">
            <a:avLst>
              <a:gd name="adj" fmla="val 15789"/>
            </a:avLst>
          </a:prstGeom>
          <a:solidFill>
            <a:srgbClr val="1E2761"/>
          </a:solidFill>
          <a:ln/>
        </p:spPr>
      </p:sp>
      <p:sp>
        <p:nvSpPr>
          <p:cNvPr id="40" name="Text 35"/>
          <p:cNvSpPr txBox="1"/>
          <p:nvPr/>
        </p:nvSpPr>
        <p:spPr>
          <a:xfrm>
            <a:off x="6342736" y="2862072"/>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LangChain4j</a:t>
            </a:r>
            <a:endParaRPr lang="en-US" sz="1050" dirty="0"/>
          </a:p>
        </p:txBody>
      </p:sp>
      <p:sp>
        <p:nvSpPr>
          <p:cNvPr id="41" name="Shape 36"/>
          <p:cNvSpPr/>
          <p:nvPr/>
        </p:nvSpPr>
        <p:spPr>
          <a:xfrm>
            <a:off x="6196432" y="3291840"/>
            <a:ext cx="2613584" cy="347472"/>
          </a:xfrm>
          <a:prstGeom prst="roundRect">
            <a:avLst>
              <a:gd name="adj" fmla="val 15789"/>
            </a:avLst>
          </a:prstGeom>
          <a:solidFill>
            <a:srgbClr val="1E2761"/>
          </a:solidFill>
          <a:ln/>
        </p:spPr>
      </p:sp>
      <p:sp>
        <p:nvSpPr>
          <p:cNvPr id="42" name="Text 37"/>
          <p:cNvSpPr txBox="1"/>
          <p:nvPr/>
        </p:nvSpPr>
        <p:spPr>
          <a:xfrm>
            <a:off x="6342736" y="3291840"/>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GPT-4o</a:t>
            </a:r>
            <a:endParaRPr lang="en-US" sz="1050" dirty="0"/>
          </a:p>
        </p:txBody>
      </p:sp>
      <p:sp>
        <p:nvSpPr>
          <p:cNvPr id="43" name="Shape 38"/>
          <p:cNvSpPr/>
          <p:nvPr/>
        </p:nvSpPr>
        <p:spPr>
          <a:xfrm>
            <a:off x="6196432" y="3721608"/>
            <a:ext cx="2613584" cy="347472"/>
          </a:xfrm>
          <a:prstGeom prst="roundRect">
            <a:avLst>
              <a:gd name="adj" fmla="val 15789"/>
            </a:avLst>
          </a:prstGeom>
          <a:solidFill>
            <a:srgbClr val="1E2761"/>
          </a:solidFill>
          <a:ln/>
        </p:spPr>
      </p:sp>
      <p:sp>
        <p:nvSpPr>
          <p:cNvPr id="44" name="Text 39"/>
          <p:cNvSpPr txBox="1"/>
          <p:nvPr/>
        </p:nvSpPr>
        <p:spPr>
          <a:xfrm>
            <a:off x="6342736" y="3721608"/>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text-embedding-3-small</a:t>
            </a:r>
            <a:endParaRPr lang="en-US" sz="1050" dirty="0"/>
          </a:p>
        </p:txBody>
      </p:sp>
      <p:sp>
        <p:nvSpPr>
          <p:cNvPr id="45" name="Shape 40"/>
          <p:cNvSpPr/>
          <p:nvPr/>
        </p:nvSpPr>
        <p:spPr>
          <a:xfrm>
            <a:off x="6196432" y="4151376"/>
            <a:ext cx="2613584" cy="347472"/>
          </a:xfrm>
          <a:prstGeom prst="roundRect">
            <a:avLst>
              <a:gd name="adj" fmla="val 15789"/>
            </a:avLst>
          </a:prstGeom>
          <a:solidFill>
            <a:srgbClr val="1E2761"/>
          </a:solidFill>
          <a:ln/>
        </p:spPr>
      </p:sp>
      <p:sp>
        <p:nvSpPr>
          <p:cNvPr id="46" name="Text 41"/>
          <p:cNvSpPr txBox="1"/>
          <p:nvPr/>
        </p:nvSpPr>
        <p:spPr>
          <a:xfrm>
            <a:off x="6342736" y="4151376"/>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pgvector</a:t>
            </a:r>
            <a:endParaRPr lang="en-US" sz="1050" dirty="0"/>
          </a:p>
        </p:txBody>
      </p:sp>
      <p:sp>
        <p:nvSpPr>
          <p:cNvPr id="47" name="Shape 42"/>
          <p:cNvSpPr/>
          <p:nvPr/>
        </p:nvSpPr>
        <p:spPr>
          <a:xfrm>
            <a:off x="6196432" y="4581144"/>
            <a:ext cx="2613584" cy="347472"/>
          </a:xfrm>
          <a:prstGeom prst="roundRect">
            <a:avLst>
              <a:gd name="adj" fmla="val 15789"/>
            </a:avLst>
          </a:prstGeom>
          <a:solidFill>
            <a:srgbClr val="1E2761"/>
          </a:solidFill>
          <a:ln/>
        </p:spPr>
      </p:sp>
      <p:sp>
        <p:nvSpPr>
          <p:cNvPr id="48" name="Text 43"/>
          <p:cNvSpPr txBox="1"/>
          <p:nvPr/>
        </p:nvSpPr>
        <p:spPr>
          <a:xfrm>
            <a:off x="6342736" y="4581144"/>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Server-Sent Events</a:t>
            </a:r>
            <a:endParaRPr lang="en-US" sz="1050" dirty="0"/>
          </a:p>
        </p:txBody>
      </p:sp>
      <p:sp>
        <p:nvSpPr>
          <p:cNvPr id="49" name="Shape 44"/>
          <p:cNvSpPr/>
          <p:nvPr/>
        </p:nvSpPr>
        <p:spPr>
          <a:xfrm>
            <a:off x="9011183" y="1691640"/>
            <a:ext cx="475488" cy="475488"/>
          </a:xfrm>
          <a:prstGeom prst="ellipse">
            <a:avLst/>
          </a:prstGeom>
          <a:solidFill>
            <a:srgbClr val="FF6B4A"/>
          </a:solidFill>
          <a:ln/>
        </p:spPr>
      </p:sp>
      <p:pic>
        <p:nvPicPr>
          <p:cNvPr id="50" name="Image 3" descr="C:\Users\yosrk\AppData\Local\Temp\claude\c--Users-yosrk-OneDrive-Bureau-RHpfe-Antigone-RH\f59fd8f1-a1b7-4e96-84d6-6d2a4296fa99\scratchpad\pfe-soutenance\icons\cloud.png">    </p:cNvPr>
          <p:cNvPicPr>
            <a:picLocks noChangeAspect="1"/>
          </p:cNvPicPr>
          <p:nvPr/>
        </p:nvPicPr>
        <p:blipFill>
          <a:blip r:embed="rId4"/>
          <a:stretch>
            <a:fillRect/>
          </a:stretch>
        </p:blipFill>
        <p:spPr>
          <a:xfrm>
            <a:off x="9077752" y="1758208"/>
            <a:ext cx="342351" cy="342351"/>
          </a:xfrm>
          <a:prstGeom prst="rect">
            <a:avLst/>
          </a:prstGeom>
        </p:spPr>
      </p:pic>
      <p:sp>
        <p:nvSpPr>
          <p:cNvPr id="51" name="Text 45"/>
          <p:cNvSpPr txBox="1"/>
          <p:nvPr/>
        </p:nvSpPr>
        <p:spPr>
          <a:xfrm>
            <a:off x="9011183" y="2286000"/>
            <a:ext cx="2613584" cy="502920"/>
          </a:xfrm>
          <a:prstGeom prst="rect">
            <a:avLst/>
          </a:prstGeom>
          <a:noFill/>
          <a:ln/>
        </p:spPr>
        <p:txBody>
          <a:bodyPr wrap="square" lIns="0" tIns="0" rIns="0" bIns="0" rtlCol="0" anchor="ctr"/>
          <a:lstStyle/>
          <a:p>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DevOps &amp; Outils</a:t>
            </a:r>
            <a:endParaRPr lang="en-US" sz="1300" dirty="0"/>
          </a:p>
        </p:txBody>
      </p:sp>
      <p:sp>
        <p:nvSpPr>
          <p:cNvPr id="52" name="Shape 46"/>
          <p:cNvSpPr/>
          <p:nvPr/>
        </p:nvSpPr>
        <p:spPr>
          <a:xfrm>
            <a:off x="9011183" y="2862072"/>
            <a:ext cx="2613584" cy="347472"/>
          </a:xfrm>
          <a:prstGeom prst="roundRect">
            <a:avLst>
              <a:gd name="adj" fmla="val 15789"/>
            </a:avLst>
          </a:prstGeom>
          <a:solidFill>
            <a:srgbClr val="1E2761"/>
          </a:solidFill>
          <a:ln/>
        </p:spPr>
      </p:sp>
      <p:sp>
        <p:nvSpPr>
          <p:cNvPr id="53" name="Text 47"/>
          <p:cNvSpPr txBox="1"/>
          <p:nvPr/>
        </p:nvSpPr>
        <p:spPr>
          <a:xfrm>
            <a:off x="9157487" y="2862072"/>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Git / GitHub</a:t>
            </a:r>
            <a:endParaRPr lang="en-US" sz="1050" dirty="0"/>
          </a:p>
        </p:txBody>
      </p:sp>
      <p:sp>
        <p:nvSpPr>
          <p:cNvPr id="54" name="Shape 48"/>
          <p:cNvSpPr/>
          <p:nvPr/>
        </p:nvSpPr>
        <p:spPr>
          <a:xfrm>
            <a:off x="9011183" y="3291840"/>
            <a:ext cx="2613584" cy="347472"/>
          </a:xfrm>
          <a:prstGeom prst="roundRect">
            <a:avLst>
              <a:gd name="adj" fmla="val 15789"/>
            </a:avLst>
          </a:prstGeom>
          <a:solidFill>
            <a:srgbClr val="1E2761"/>
          </a:solidFill>
          <a:ln/>
        </p:spPr>
      </p:sp>
      <p:sp>
        <p:nvSpPr>
          <p:cNvPr id="55" name="Text 49"/>
          <p:cNvSpPr txBox="1"/>
          <p:nvPr/>
        </p:nvSpPr>
        <p:spPr>
          <a:xfrm>
            <a:off x="9157487" y="3291840"/>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GitHub Actions (CI/CD)</a:t>
            </a:r>
            <a:endParaRPr lang="en-US" sz="1050" dirty="0"/>
          </a:p>
        </p:txBody>
      </p:sp>
      <p:sp>
        <p:nvSpPr>
          <p:cNvPr id="56" name="Shape 50"/>
          <p:cNvSpPr/>
          <p:nvPr/>
        </p:nvSpPr>
        <p:spPr>
          <a:xfrm>
            <a:off x="9011183" y="3721608"/>
            <a:ext cx="2613584" cy="347472"/>
          </a:xfrm>
          <a:prstGeom prst="roundRect">
            <a:avLst>
              <a:gd name="adj" fmla="val 15789"/>
            </a:avLst>
          </a:prstGeom>
          <a:solidFill>
            <a:srgbClr val="1E2761"/>
          </a:solidFill>
          <a:ln/>
        </p:spPr>
      </p:sp>
      <p:sp>
        <p:nvSpPr>
          <p:cNvPr id="57" name="Text 51"/>
          <p:cNvSpPr txBox="1"/>
          <p:nvPr/>
        </p:nvSpPr>
        <p:spPr>
          <a:xfrm>
            <a:off x="9157487" y="3721608"/>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Render</a:t>
            </a:r>
            <a:endParaRPr lang="en-US" sz="1050" dirty="0"/>
          </a:p>
        </p:txBody>
      </p:sp>
      <p:sp>
        <p:nvSpPr>
          <p:cNvPr id="58" name="Shape 52"/>
          <p:cNvSpPr/>
          <p:nvPr/>
        </p:nvSpPr>
        <p:spPr>
          <a:xfrm>
            <a:off x="9011183" y="4151376"/>
            <a:ext cx="2613584" cy="347472"/>
          </a:xfrm>
          <a:prstGeom prst="roundRect">
            <a:avLst>
              <a:gd name="adj" fmla="val 15789"/>
            </a:avLst>
          </a:prstGeom>
          <a:solidFill>
            <a:srgbClr val="1E2761"/>
          </a:solidFill>
          <a:ln/>
        </p:spPr>
      </p:sp>
      <p:sp>
        <p:nvSpPr>
          <p:cNvPr id="59" name="Text 53"/>
          <p:cNvSpPr txBox="1"/>
          <p:nvPr/>
        </p:nvSpPr>
        <p:spPr>
          <a:xfrm>
            <a:off x="9157487" y="4151376"/>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Postman</a:t>
            </a:r>
            <a:endParaRPr lang="en-US" sz="1050" dirty="0"/>
          </a:p>
        </p:txBody>
      </p:sp>
      <p:sp>
        <p:nvSpPr>
          <p:cNvPr id="60" name="Shape 54"/>
          <p:cNvSpPr/>
          <p:nvPr/>
        </p:nvSpPr>
        <p:spPr>
          <a:xfrm>
            <a:off x="9011183" y="4581144"/>
            <a:ext cx="2613584" cy="347472"/>
          </a:xfrm>
          <a:prstGeom prst="roundRect">
            <a:avLst>
              <a:gd name="adj" fmla="val 15789"/>
            </a:avLst>
          </a:prstGeom>
          <a:solidFill>
            <a:srgbClr val="1E2761"/>
          </a:solidFill>
          <a:ln/>
        </p:spPr>
      </p:sp>
      <p:sp>
        <p:nvSpPr>
          <p:cNvPr id="61" name="Text 55"/>
          <p:cNvSpPr txBox="1"/>
          <p:nvPr/>
        </p:nvSpPr>
        <p:spPr>
          <a:xfrm>
            <a:off x="9157487" y="4581144"/>
            <a:ext cx="2320976" cy="347472"/>
          </a:xfrm>
          <a:prstGeom prst="rect">
            <a:avLst/>
          </a:prstGeom>
          <a:noFill/>
          <a:ln/>
        </p:spPr>
        <p:txBody>
          <a:bodyPr wrap="square" lIns="0" tIns="0" rIns="0" bIns="0" rtlCol="0" anchor="ctr"/>
          <a:lstStyle/>
          <a:p>
            <a:pPr indent="0" marL="0">
              <a:buNone/>
            </a:pPr>
            <a:r>
              <a:rPr lang="en-US" sz="1050" dirty="0">
                <a:solidFill>
                  <a:srgbClr val="E8EEFC"/>
                </a:solidFill>
                <a:latin typeface="Calibri" pitchFamily="34" charset="0"/>
                <a:ea typeface="Calibri" pitchFamily="34" charset="-122"/>
                <a:cs typeface="Calibri" pitchFamily="34" charset="-120"/>
              </a:rPr>
              <a:t>Visual Studio Code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15</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 — RELEASE 1</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Fondations &amp; Identités</a:t>
            </a:r>
            <a:endParaRPr lang="en-US" sz="3000" dirty="0"/>
          </a:p>
        </p:txBody>
      </p:sp>
      <p:sp>
        <p:nvSpPr>
          <p:cNvPr id="6" name="Shape 4"/>
          <p:cNvSpPr/>
          <p:nvPr/>
        </p:nvSpPr>
        <p:spPr>
          <a:xfrm>
            <a:off x="56692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566928" y="1691640"/>
            <a:ext cx="5391760" cy="502920"/>
          </a:xfrm>
          <a:prstGeom prst="roundRect">
            <a:avLst>
              <a:gd name="adj" fmla="val 14545"/>
            </a:avLst>
          </a:prstGeom>
          <a:solidFill>
            <a:srgbClr val="141B3C"/>
          </a:solidFill>
          <a:ln/>
        </p:spPr>
      </p:sp>
      <p:sp>
        <p:nvSpPr>
          <p:cNvPr id="8" name="Shape 6"/>
          <p:cNvSpPr/>
          <p:nvPr/>
        </p:nvSpPr>
        <p:spPr>
          <a:xfrm>
            <a:off x="566928" y="1947672"/>
            <a:ext cx="5391760" cy="246888"/>
          </a:xfrm>
          <a:prstGeom prst="rect">
            <a:avLst/>
          </a:prstGeom>
          <a:solidFill>
            <a:srgbClr val="141B3C"/>
          </a:solidFill>
          <a:ln/>
        </p:spPr>
      </p:sp>
      <p:sp>
        <p:nvSpPr>
          <p:cNvPr id="9" name="Text 7"/>
          <p:cNvSpPr txBox="1"/>
          <p:nvPr/>
        </p:nvSpPr>
        <p:spPr>
          <a:xfrm>
            <a:off x="76809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1 — Authentification &amp; fondations</a:t>
            </a:r>
            <a:endParaRPr lang="en-US" sz="1300" dirty="0"/>
          </a:p>
        </p:txBody>
      </p:sp>
      <p:sp>
        <p:nvSpPr>
          <p:cNvPr id="10" name="Text 8"/>
          <p:cNvSpPr txBox="1"/>
          <p:nvPr/>
        </p:nvSpPr>
        <p:spPr>
          <a:xfrm>
            <a:off x="78638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Connexion sécurisée par jeton JWT (12h), mots de passe hachés BCrypt</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Changement de mot de passe obligatoire à la première connexion</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Rôles &amp; permissions granulaires (RBAC)</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Notifications in-app et référentiels paramétrables</a:t>
            </a:r>
            <a:endParaRPr lang="en-US" sz="1150" dirty="0"/>
          </a:p>
        </p:txBody>
      </p:sp>
      <p:sp>
        <p:nvSpPr>
          <p:cNvPr id="11" name="Shape 9"/>
          <p:cNvSpPr/>
          <p:nvPr/>
        </p:nvSpPr>
        <p:spPr>
          <a:xfrm>
            <a:off x="623300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10"/>
          <p:cNvSpPr/>
          <p:nvPr/>
        </p:nvSpPr>
        <p:spPr>
          <a:xfrm>
            <a:off x="6233008" y="1691640"/>
            <a:ext cx="5391760" cy="502920"/>
          </a:xfrm>
          <a:prstGeom prst="roundRect">
            <a:avLst>
              <a:gd name="adj" fmla="val 14545"/>
            </a:avLst>
          </a:prstGeom>
          <a:solidFill>
            <a:srgbClr val="1E2761"/>
          </a:solidFill>
          <a:ln/>
        </p:spPr>
      </p:sp>
      <p:sp>
        <p:nvSpPr>
          <p:cNvPr id="13" name="Shape 11"/>
          <p:cNvSpPr/>
          <p:nvPr/>
        </p:nvSpPr>
        <p:spPr>
          <a:xfrm>
            <a:off x="6233008" y="1947672"/>
            <a:ext cx="5391760" cy="246888"/>
          </a:xfrm>
          <a:prstGeom prst="rect">
            <a:avLst/>
          </a:prstGeom>
          <a:solidFill>
            <a:srgbClr val="1E2761"/>
          </a:solidFill>
          <a:ln/>
        </p:spPr>
      </p:sp>
      <p:sp>
        <p:nvSpPr>
          <p:cNvPr id="14" name="Text 12"/>
          <p:cNvSpPr txBox="1"/>
          <p:nvPr/>
        </p:nvSpPr>
        <p:spPr>
          <a:xfrm>
            <a:off x="643417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2 — Identités &amp; portail client</a:t>
            </a:r>
            <a:endParaRPr lang="en-US" sz="1300" dirty="0"/>
          </a:p>
        </p:txBody>
      </p:sp>
      <p:sp>
        <p:nvSpPr>
          <p:cNvPr id="15" name="Text 13"/>
          <p:cNvSpPr txBox="1"/>
          <p:nvPr/>
        </p:nvSpPr>
        <p:spPr>
          <a:xfrm>
            <a:off x="645246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Comptes générés automatiquement, identifiants envoyés par e-mail</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Fiches employés, hiérarchie manager / subordonnés, organigramme</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Fiches clients avec portail dédié</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Dossier Google Drive du client créé automatiquement</a:t>
            </a:r>
            <a:endParaRPr lang="en-US" sz="1150" dirty="0"/>
          </a:p>
        </p:txBody>
      </p:sp>
      <p:sp>
        <p:nvSpPr>
          <p:cNvPr id="16" name="Shape 14"/>
          <p:cNvSpPr/>
          <p:nvPr/>
        </p:nvSpPr>
        <p:spPr>
          <a:xfrm>
            <a:off x="566928" y="5120640"/>
            <a:ext cx="11057839" cy="1005840"/>
          </a:xfrm>
          <a:prstGeom prst="roundRect">
            <a:avLst>
              <a:gd name="adj" fmla="val 8182"/>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17" name="Shape 15"/>
          <p:cNvSpPr/>
          <p:nvPr/>
        </p:nvSpPr>
        <p:spPr>
          <a:xfrm>
            <a:off x="841248" y="5330952"/>
            <a:ext cx="594360" cy="594360"/>
          </a:xfrm>
          <a:prstGeom prst="ellipse">
            <a:avLst/>
          </a:prstGeom>
          <a:solidFill>
            <a:srgbClr val="FF6B4A"/>
          </a:solidFill>
          <a:ln/>
        </p:spPr>
      </p:sp>
      <p:pic>
        <p:nvPicPr>
          <p:cNvPr id="18" name="Image 0" descr="C:\Users\yosrk\AppData\Local\Temp\claude\c--Users-yosrk-OneDrive-Bureau-RHpfe-Antigone-RH\f59fd8f1-a1b7-4e96-84d6-6d2a4296fa99\scratchpad\pfe-soutenance\icons\key.png">    </p:cNvPr>
          <p:cNvPicPr>
            <a:picLocks noChangeAspect="1"/>
          </p:cNvPicPr>
          <p:nvPr/>
        </p:nvPicPr>
        <p:blipFill>
          <a:blip r:embed="rId1"/>
          <a:stretch>
            <a:fillRect/>
          </a:stretch>
        </p:blipFill>
        <p:spPr>
          <a:xfrm>
            <a:off x="924458" y="5414162"/>
            <a:ext cx="427939" cy="427939"/>
          </a:xfrm>
          <a:prstGeom prst="rect">
            <a:avLst/>
          </a:prstGeom>
        </p:spPr>
      </p:pic>
      <p:sp>
        <p:nvSpPr>
          <p:cNvPr id="19" name="Text 16"/>
          <p:cNvSpPr txBox="1"/>
          <p:nvPr/>
        </p:nvSpPr>
        <p:spPr>
          <a:xfrm>
            <a:off x="1618488" y="5120640"/>
            <a:ext cx="9731959" cy="1005840"/>
          </a:xfrm>
          <a:prstGeom prst="rect">
            <a:avLst/>
          </a:prstGeom>
          <a:noFill/>
          <a:ln/>
        </p:spPr>
        <p:txBody>
          <a:bodyPr wrap="square" lIns="0" tIns="0" rIns="0" bIns="0" rtlCol="0" anchor="ctr"/>
          <a:lstStyle/>
          <a:p>
            <a:pPr indent="0" marL="0">
              <a:lnSpc>
                <a:spcPct val="125000"/>
              </a:lnSpc>
              <a:buNone/>
            </a:pPr>
            <a:r>
              <a:rPr lang="en-US" sz="1250" dirty="0">
                <a:solidFill>
                  <a:srgbClr val="E8EEFC"/>
                </a:solidFill>
                <a:latin typeface="Calibri" pitchFamily="34" charset="0"/>
                <a:ea typeface="Calibri" pitchFamily="34" charset="-122"/>
                <a:cs typeface="Calibri" pitchFamily="34" charset="-120"/>
              </a:rPr>
              <a:t>57 points réalisés · Sprints 1 &amp; 2 — le socle d’identités et de sécurité sur lequel s’appuient toutes les releases suivantes.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16</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 — RELEASE 2</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Organisation RH</a:t>
            </a:r>
            <a:endParaRPr lang="en-US" sz="3000" dirty="0"/>
          </a:p>
        </p:txBody>
      </p:sp>
      <p:sp>
        <p:nvSpPr>
          <p:cNvPr id="6" name="Shape 4"/>
          <p:cNvSpPr/>
          <p:nvPr/>
        </p:nvSpPr>
        <p:spPr>
          <a:xfrm>
            <a:off x="56692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566928" y="1691640"/>
            <a:ext cx="5391760" cy="502920"/>
          </a:xfrm>
          <a:prstGeom prst="roundRect">
            <a:avLst>
              <a:gd name="adj" fmla="val 14545"/>
            </a:avLst>
          </a:prstGeom>
          <a:solidFill>
            <a:srgbClr val="141B3C"/>
          </a:solidFill>
          <a:ln/>
        </p:spPr>
      </p:sp>
      <p:sp>
        <p:nvSpPr>
          <p:cNvPr id="8" name="Shape 6"/>
          <p:cNvSpPr/>
          <p:nvPr/>
        </p:nvSpPr>
        <p:spPr>
          <a:xfrm>
            <a:off x="566928" y="1947672"/>
            <a:ext cx="5391760" cy="246888"/>
          </a:xfrm>
          <a:prstGeom prst="rect">
            <a:avLst/>
          </a:prstGeom>
          <a:solidFill>
            <a:srgbClr val="141B3C"/>
          </a:solidFill>
          <a:ln/>
        </p:spPr>
      </p:sp>
      <p:sp>
        <p:nvSpPr>
          <p:cNvPr id="9" name="Text 7"/>
          <p:cNvSpPr txBox="1"/>
          <p:nvPr/>
        </p:nvSpPr>
        <p:spPr>
          <a:xfrm>
            <a:off x="76809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3 — Calendrier, horaires &amp; pilotage</a:t>
            </a:r>
            <a:endParaRPr lang="en-US" sz="1300" dirty="0"/>
          </a:p>
        </p:txBody>
      </p:sp>
      <p:sp>
        <p:nvSpPr>
          <p:cNvPr id="10" name="Text 8"/>
          <p:cNvSpPr txBox="1"/>
          <p:nvPr/>
        </p:nvSpPr>
        <p:spPr>
          <a:xfrm>
            <a:off x="78638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Calendrier d’entreprise (jours fériés / spéciaux) et horaires paramétrables</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Pointage automatisé par un agent de bureau (heartbeat)</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Tableau de bord de présence en temps réel</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Rapports d’inactivité et de retards excessifs</a:t>
            </a:r>
            <a:endParaRPr lang="en-US" sz="1150" dirty="0"/>
          </a:p>
        </p:txBody>
      </p:sp>
      <p:sp>
        <p:nvSpPr>
          <p:cNvPr id="11" name="Shape 9"/>
          <p:cNvSpPr/>
          <p:nvPr/>
        </p:nvSpPr>
        <p:spPr>
          <a:xfrm>
            <a:off x="623300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10"/>
          <p:cNvSpPr/>
          <p:nvPr/>
        </p:nvSpPr>
        <p:spPr>
          <a:xfrm>
            <a:off x="6233008" y="1691640"/>
            <a:ext cx="5391760" cy="502920"/>
          </a:xfrm>
          <a:prstGeom prst="roundRect">
            <a:avLst>
              <a:gd name="adj" fmla="val 14545"/>
            </a:avLst>
          </a:prstGeom>
          <a:solidFill>
            <a:srgbClr val="1E2761"/>
          </a:solidFill>
          <a:ln/>
        </p:spPr>
      </p:sp>
      <p:sp>
        <p:nvSpPr>
          <p:cNvPr id="13" name="Shape 11"/>
          <p:cNvSpPr/>
          <p:nvPr/>
        </p:nvSpPr>
        <p:spPr>
          <a:xfrm>
            <a:off x="6233008" y="1947672"/>
            <a:ext cx="5391760" cy="246888"/>
          </a:xfrm>
          <a:prstGeom prst="rect">
            <a:avLst/>
          </a:prstGeom>
          <a:solidFill>
            <a:srgbClr val="1E2761"/>
          </a:solidFill>
          <a:ln/>
        </p:spPr>
      </p:sp>
      <p:sp>
        <p:nvSpPr>
          <p:cNvPr id="14" name="Text 12"/>
          <p:cNvSpPr txBox="1"/>
          <p:nvPr/>
        </p:nvSpPr>
        <p:spPr>
          <a:xfrm>
            <a:off x="643417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4 — Demandes RH</a:t>
            </a:r>
            <a:endParaRPr lang="en-US" sz="1300" dirty="0"/>
          </a:p>
        </p:txBody>
      </p:sp>
      <p:sp>
        <p:nvSpPr>
          <p:cNvPr id="15" name="Text 13"/>
          <p:cNvSpPr txBox="1"/>
          <p:nvPr/>
        </p:nvSpPr>
        <p:spPr>
          <a:xfrm>
            <a:off x="645246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12 types de congé, calcul intelligent des jours ouvrables</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Autorisations de sortie et demandes de télétravail</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Circuit de validation multi-niveaux</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Historique complet et traçable de chaque décision</a:t>
            </a:r>
            <a:endParaRPr lang="en-US" sz="1150" dirty="0"/>
          </a:p>
        </p:txBody>
      </p:sp>
      <p:sp>
        <p:nvSpPr>
          <p:cNvPr id="16" name="Shape 14"/>
          <p:cNvSpPr/>
          <p:nvPr/>
        </p:nvSpPr>
        <p:spPr>
          <a:xfrm>
            <a:off x="566928" y="5120640"/>
            <a:ext cx="11057839" cy="1005840"/>
          </a:xfrm>
          <a:prstGeom prst="roundRect">
            <a:avLst>
              <a:gd name="adj" fmla="val 8182"/>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17" name="Shape 15"/>
          <p:cNvSpPr/>
          <p:nvPr/>
        </p:nvSpPr>
        <p:spPr>
          <a:xfrm>
            <a:off x="841248" y="5330952"/>
            <a:ext cx="594360" cy="594360"/>
          </a:xfrm>
          <a:prstGeom prst="ellipse">
            <a:avLst/>
          </a:prstGeom>
          <a:solidFill>
            <a:srgbClr val="FF6B4A"/>
          </a:solidFill>
          <a:ln/>
        </p:spPr>
      </p:sp>
      <p:pic>
        <p:nvPicPr>
          <p:cNvPr id="18" name="Image 0" descr="C:\Users\yosrk\AppData\Local\Temp\claude\c--Users-yosrk-OneDrive-Bureau-RHpfe-Antigone-RH\f59fd8f1-a1b7-4e96-84d6-6d2a4296fa99\scratchpad\pfe-soutenance\icons\calendar.png">    </p:cNvPr>
          <p:cNvPicPr>
            <a:picLocks noChangeAspect="1"/>
          </p:cNvPicPr>
          <p:nvPr/>
        </p:nvPicPr>
        <p:blipFill>
          <a:blip r:embed="rId1"/>
          <a:stretch>
            <a:fillRect/>
          </a:stretch>
        </p:blipFill>
        <p:spPr>
          <a:xfrm>
            <a:off x="924458" y="5414162"/>
            <a:ext cx="427939" cy="427939"/>
          </a:xfrm>
          <a:prstGeom prst="rect">
            <a:avLst/>
          </a:prstGeom>
        </p:spPr>
      </p:pic>
      <p:sp>
        <p:nvSpPr>
          <p:cNvPr id="19" name="Text 16"/>
          <p:cNvSpPr txBox="1"/>
          <p:nvPr/>
        </p:nvSpPr>
        <p:spPr>
          <a:xfrm>
            <a:off x="1618488" y="5120640"/>
            <a:ext cx="9731959" cy="1005840"/>
          </a:xfrm>
          <a:prstGeom prst="rect">
            <a:avLst/>
          </a:prstGeom>
          <a:noFill/>
          <a:ln/>
        </p:spPr>
        <p:txBody>
          <a:bodyPr wrap="square" lIns="0" tIns="0" rIns="0" bIns="0" rtlCol="0" anchor="ctr"/>
          <a:lstStyle/>
          <a:p>
            <a:pPr indent="0" marL="0">
              <a:lnSpc>
                <a:spcPct val="125000"/>
              </a:lnSpc>
              <a:buNone/>
            </a:pPr>
            <a:r>
              <a:rPr lang="en-US" sz="1250" dirty="0">
                <a:solidFill>
                  <a:srgbClr val="E8EEFC"/>
                </a:solidFill>
                <a:latin typeface="Calibri" pitchFamily="34" charset="0"/>
                <a:ea typeface="Calibri" pitchFamily="34" charset="-122"/>
                <a:cs typeface="Calibri" pitchFamily="34" charset="-120"/>
              </a:rPr>
              <a:t>51 points réalisés · Sprints 3 &amp; 4 — solde de congé et statuts de présence entièrement calculés côté serveur.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17</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 — RELEASE 3</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Projets &amp; Plans médias</a:t>
            </a:r>
            <a:endParaRPr lang="en-US" sz="3000" dirty="0"/>
          </a:p>
        </p:txBody>
      </p:sp>
      <p:sp>
        <p:nvSpPr>
          <p:cNvPr id="6" name="Shape 4"/>
          <p:cNvSpPr/>
          <p:nvPr/>
        </p:nvSpPr>
        <p:spPr>
          <a:xfrm>
            <a:off x="56692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566928" y="1691640"/>
            <a:ext cx="5391760" cy="502920"/>
          </a:xfrm>
          <a:prstGeom prst="roundRect">
            <a:avLst>
              <a:gd name="adj" fmla="val 14545"/>
            </a:avLst>
          </a:prstGeom>
          <a:solidFill>
            <a:srgbClr val="141B3C"/>
          </a:solidFill>
          <a:ln/>
        </p:spPr>
      </p:sp>
      <p:sp>
        <p:nvSpPr>
          <p:cNvPr id="8" name="Shape 6"/>
          <p:cNvSpPr/>
          <p:nvPr/>
        </p:nvSpPr>
        <p:spPr>
          <a:xfrm>
            <a:off x="566928" y="1947672"/>
            <a:ext cx="5391760" cy="246888"/>
          </a:xfrm>
          <a:prstGeom prst="rect">
            <a:avLst/>
          </a:prstGeom>
          <a:solidFill>
            <a:srgbClr val="141B3C"/>
          </a:solidFill>
          <a:ln/>
        </p:spPr>
      </p:sp>
      <p:sp>
        <p:nvSpPr>
          <p:cNvPr id="9" name="Text 7"/>
          <p:cNvSpPr txBox="1"/>
          <p:nvPr/>
        </p:nvSpPr>
        <p:spPr>
          <a:xfrm>
            <a:off x="76809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5 — Projets, équipes &amp; tâches</a:t>
            </a:r>
            <a:endParaRPr lang="en-US" sz="1300" dirty="0"/>
          </a:p>
        </p:txBody>
      </p:sp>
      <p:sp>
        <p:nvSpPr>
          <p:cNvPr id="10" name="Text 8"/>
          <p:cNvSpPr txBox="1"/>
          <p:nvPr/>
        </p:nvSpPr>
        <p:spPr>
          <a:xfrm>
            <a:off x="78638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Création de projets, équipes et tableau Kanban</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Clôture propre — ou « clôture forcée » avec tâches abandonnées tracées</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Suivi des compétences par employé</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Rapport d’analyse du cycle de vie d’un projet</a:t>
            </a:r>
            <a:endParaRPr lang="en-US" sz="1150" dirty="0"/>
          </a:p>
        </p:txBody>
      </p:sp>
      <p:sp>
        <p:nvSpPr>
          <p:cNvPr id="11" name="Shape 9"/>
          <p:cNvSpPr/>
          <p:nvPr/>
        </p:nvSpPr>
        <p:spPr>
          <a:xfrm>
            <a:off x="623300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10"/>
          <p:cNvSpPr/>
          <p:nvPr/>
        </p:nvSpPr>
        <p:spPr>
          <a:xfrm>
            <a:off x="6233008" y="1691640"/>
            <a:ext cx="5391760" cy="502920"/>
          </a:xfrm>
          <a:prstGeom prst="roundRect">
            <a:avLst>
              <a:gd name="adj" fmla="val 14545"/>
            </a:avLst>
          </a:prstGeom>
          <a:solidFill>
            <a:srgbClr val="1E2761"/>
          </a:solidFill>
          <a:ln/>
        </p:spPr>
      </p:sp>
      <p:sp>
        <p:nvSpPr>
          <p:cNvPr id="13" name="Shape 11"/>
          <p:cNvSpPr/>
          <p:nvPr/>
        </p:nvSpPr>
        <p:spPr>
          <a:xfrm>
            <a:off x="6233008" y="1947672"/>
            <a:ext cx="5391760" cy="246888"/>
          </a:xfrm>
          <a:prstGeom prst="rect">
            <a:avLst/>
          </a:prstGeom>
          <a:solidFill>
            <a:srgbClr val="1E2761"/>
          </a:solidFill>
          <a:ln/>
        </p:spPr>
      </p:sp>
      <p:sp>
        <p:nvSpPr>
          <p:cNvPr id="14" name="Text 12"/>
          <p:cNvSpPr txBox="1"/>
          <p:nvPr/>
        </p:nvSpPr>
        <p:spPr>
          <a:xfrm>
            <a:off x="643417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6 — Plans médias &amp; planification</a:t>
            </a:r>
            <a:endParaRPr lang="en-US" sz="1300" dirty="0"/>
          </a:p>
        </p:txBody>
      </p:sp>
      <p:sp>
        <p:nvSpPr>
          <p:cNvPr id="15" name="Text 13"/>
          <p:cNvSpPr txBox="1"/>
          <p:nvPr/>
        </p:nvSpPr>
        <p:spPr>
          <a:xfrm>
            <a:off x="645246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Plan média avec double validation (manager interne puis client)</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Réservation automatique d’un créneau de tournage (Head Prod)</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Réunions de projet et commentaires par cellule</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Assignation des équipes social media par client</a:t>
            </a:r>
            <a:endParaRPr lang="en-US" sz="1150" dirty="0"/>
          </a:p>
        </p:txBody>
      </p:sp>
      <p:sp>
        <p:nvSpPr>
          <p:cNvPr id="16" name="Shape 14"/>
          <p:cNvSpPr/>
          <p:nvPr/>
        </p:nvSpPr>
        <p:spPr>
          <a:xfrm>
            <a:off x="566928" y="5120640"/>
            <a:ext cx="11057839" cy="1005840"/>
          </a:xfrm>
          <a:prstGeom prst="roundRect">
            <a:avLst>
              <a:gd name="adj" fmla="val 8182"/>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17" name="Shape 15"/>
          <p:cNvSpPr/>
          <p:nvPr/>
        </p:nvSpPr>
        <p:spPr>
          <a:xfrm>
            <a:off x="841248" y="5330952"/>
            <a:ext cx="594360" cy="594360"/>
          </a:xfrm>
          <a:prstGeom prst="ellipse">
            <a:avLst/>
          </a:prstGeom>
          <a:solidFill>
            <a:srgbClr val="FF6B4A"/>
          </a:solidFill>
          <a:ln/>
        </p:spPr>
      </p:sp>
      <p:pic>
        <p:nvPicPr>
          <p:cNvPr id="18" name="Image 0" descr="C:\Users\yosrk\AppData\Local\Temp\claude\c--Users-yosrk-OneDrive-Bureau-RHpfe-Antigone-RH\f59fd8f1-a1b7-4e96-84d6-6d2a4296fa99\scratchpad\pfe-soutenance\icons\briefcase.png">    </p:cNvPr>
          <p:cNvPicPr>
            <a:picLocks noChangeAspect="1"/>
          </p:cNvPicPr>
          <p:nvPr/>
        </p:nvPicPr>
        <p:blipFill>
          <a:blip r:embed="rId1"/>
          <a:stretch>
            <a:fillRect/>
          </a:stretch>
        </p:blipFill>
        <p:spPr>
          <a:xfrm>
            <a:off x="924458" y="5414162"/>
            <a:ext cx="427939" cy="427939"/>
          </a:xfrm>
          <a:prstGeom prst="rect">
            <a:avLst/>
          </a:prstGeom>
        </p:spPr>
      </p:pic>
      <p:sp>
        <p:nvSpPr>
          <p:cNvPr id="19" name="Text 16"/>
          <p:cNvSpPr txBox="1"/>
          <p:nvPr/>
        </p:nvSpPr>
        <p:spPr>
          <a:xfrm>
            <a:off x="1618488" y="5120640"/>
            <a:ext cx="9731959" cy="1005840"/>
          </a:xfrm>
          <a:prstGeom prst="rect">
            <a:avLst/>
          </a:prstGeom>
          <a:noFill/>
          <a:ln/>
        </p:spPr>
        <p:txBody>
          <a:bodyPr wrap="square" lIns="0" tIns="0" rIns="0" bIns="0" rtlCol="0" anchor="ctr"/>
          <a:lstStyle/>
          <a:p>
            <a:pPr indent="0" marL="0">
              <a:lnSpc>
                <a:spcPct val="125000"/>
              </a:lnSpc>
              <a:buNone/>
            </a:pPr>
            <a:r>
              <a:rPr lang="en-US" sz="1250" dirty="0">
                <a:solidFill>
                  <a:srgbClr val="E8EEFC"/>
                </a:solidFill>
                <a:latin typeface="Calibri" pitchFamily="34" charset="0"/>
                <a:ea typeface="Calibri" pitchFamily="34" charset="-122"/>
                <a:cs typeface="Calibri" pitchFamily="34" charset="-120"/>
              </a:rPr>
              <a:t>61 points réalisés · Sprints 5 &amp; 6 — une ligne « shooting » validée matérialise automatiquement un projet et ses 3 tâches par défaut.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18</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 — RELEASE 4</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Facturation &amp; Paie</a:t>
            </a:r>
            <a:endParaRPr lang="en-US" sz="3000" dirty="0"/>
          </a:p>
        </p:txBody>
      </p:sp>
      <p:sp>
        <p:nvSpPr>
          <p:cNvPr id="6" name="Shape 4"/>
          <p:cNvSpPr/>
          <p:nvPr/>
        </p:nvSpPr>
        <p:spPr>
          <a:xfrm>
            <a:off x="56692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566928" y="1691640"/>
            <a:ext cx="5391760" cy="502920"/>
          </a:xfrm>
          <a:prstGeom prst="roundRect">
            <a:avLst>
              <a:gd name="adj" fmla="val 14545"/>
            </a:avLst>
          </a:prstGeom>
          <a:solidFill>
            <a:srgbClr val="141B3C"/>
          </a:solidFill>
          <a:ln/>
        </p:spPr>
      </p:sp>
      <p:sp>
        <p:nvSpPr>
          <p:cNvPr id="8" name="Shape 6"/>
          <p:cNvSpPr/>
          <p:nvPr/>
        </p:nvSpPr>
        <p:spPr>
          <a:xfrm>
            <a:off x="566928" y="1947672"/>
            <a:ext cx="5391760" cy="246888"/>
          </a:xfrm>
          <a:prstGeom prst="rect">
            <a:avLst/>
          </a:prstGeom>
          <a:solidFill>
            <a:srgbClr val="141B3C"/>
          </a:solidFill>
          <a:ln/>
        </p:spPr>
      </p:sp>
      <p:sp>
        <p:nvSpPr>
          <p:cNvPr id="9" name="Text 7"/>
          <p:cNvSpPr txBox="1"/>
          <p:nvPr/>
        </p:nvSpPr>
        <p:spPr>
          <a:xfrm>
            <a:off x="76809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7 — Facturation &amp; charges</a:t>
            </a:r>
            <a:endParaRPr lang="en-US" sz="1300" dirty="0"/>
          </a:p>
        </p:txBody>
      </p:sp>
      <p:sp>
        <p:nvSpPr>
          <p:cNvPr id="10" name="Text 8"/>
          <p:cNvSpPr txBox="1"/>
          <p:nvPr/>
        </p:nvSpPr>
        <p:spPr>
          <a:xfrm>
            <a:off x="78638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Factures / devis numérotés séquentiellement, TVA &amp; timbre fiscal</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Encaissements partiels, statut recalculé automatiquement</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Charges fixes / variables, dettes et relances clients</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Catalogue de services et modèles de facture</a:t>
            </a:r>
            <a:endParaRPr lang="en-US" sz="1150" dirty="0"/>
          </a:p>
        </p:txBody>
      </p:sp>
      <p:sp>
        <p:nvSpPr>
          <p:cNvPr id="11" name="Shape 9"/>
          <p:cNvSpPr/>
          <p:nvPr/>
        </p:nvSpPr>
        <p:spPr>
          <a:xfrm>
            <a:off x="6233008" y="1691640"/>
            <a:ext cx="5391760" cy="3246120"/>
          </a:xfrm>
          <a:prstGeom prst="roundRect">
            <a:avLst>
              <a:gd name="adj" fmla="val 2254"/>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10"/>
          <p:cNvSpPr/>
          <p:nvPr/>
        </p:nvSpPr>
        <p:spPr>
          <a:xfrm>
            <a:off x="6233008" y="1691640"/>
            <a:ext cx="5391760" cy="502920"/>
          </a:xfrm>
          <a:prstGeom prst="roundRect">
            <a:avLst>
              <a:gd name="adj" fmla="val 14545"/>
            </a:avLst>
          </a:prstGeom>
          <a:solidFill>
            <a:srgbClr val="1E2761"/>
          </a:solidFill>
          <a:ln/>
        </p:spPr>
      </p:sp>
      <p:sp>
        <p:nvSpPr>
          <p:cNvPr id="13" name="Shape 11"/>
          <p:cNvSpPr/>
          <p:nvPr/>
        </p:nvSpPr>
        <p:spPr>
          <a:xfrm>
            <a:off x="6233008" y="1947672"/>
            <a:ext cx="5391760" cy="246888"/>
          </a:xfrm>
          <a:prstGeom prst="rect">
            <a:avLst/>
          </a:prstGeom>
          <a:solidFill>
            <a:srgbClr val="1E2761"/>
          </a:solidFill>
          <a:ln/>
        </p:spPr>
      </p:sp>
      <p:sp>
        <p:nvSpPr>
          <p:cNvPr id="14" name="Text 12"/>
          <p:cNvSpPr txBox="1"/>
          <p:nvPr/>
        </p:nvSpPr>
        <p:spPr>
          <a:xfrm>
            <a:off x="6434176" y="1691640"/>
            <a:ext cx="4989424"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Sprint 8 — Paie tunisienne</a:t>
            </a:r>
            <a:endParaRPr lang="en-US" sz="1300" dirty="0"/>
          </a:p>
        </p:txBody>
      </p:sp>
      <p:sp>
        <p:nvSpPr>
          <p:cNvPr id="15" name="Text 13"/>
          <p:cNvSpPr txBox="1"/>
          <p:nvPr/>
        </p:nvSpPr>
        <p:spPr>
          <a:xfrm>
            <a:off x="6452464" y="2404872"/>
            <a:ext cx="4952848" cy="2331720"/>
          </a:xfrm>
          <a:prstGeom prst="rect">
            <a:avLst/>
          </a:prstGeom>
          <a:noFill/>
          <a:ln/>
        </p:spPr>
        <p:txBody>
          <a:bodyPr wrap="square" lIns="0" tIns="0" rIns="0" bIns="0" rtlCol="0" anchor="ctr"/>
          <a:lstStyle/>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Moteur de paie : CNSS, abattement, IRPP progressif (barème versionné)</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Bulletins individuels ou en lot, acomptes, statut recalculé</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Déclaration CNSS trimestrielle suggérée automatiquement</a:t>
            </a:r>
            <a:endParaRPr lang="en-US" sz="1150" dirty="0"/>
          </a:p>
          <a:p>
            <a:pPr marL="177800" indent="-177800">
              <a:lnSpc>
                <a:spcPct val="122000"/>
              </a:lnSpc>
              <a:spcAft>
                <a:spcPts val="1100"/>
              </a:spcAft>
              <a:buSzPct val="100000"/>
              <a:buChar char="•"/>
            </a:pPr>
            <a:r>
              <a:rPr lang="en-US" sz="1150" dirty="0">
                <a:solidFill>
                  <a:srgbClr val="3A3F5C"/>
                </a:solidFill>
                <a:latin typeface="Calibri" pitchFamily="34" charset="0"/>
                <a:ea typeface="Calibri" pitchFamily="34" charset="-122"/>
                <a:cs typeface="Calibri" pitchFamily="34" charset="-120"/>
              </a:rPr>
              <a:t>Déclaration TVA mensuelle et tableau de bord financier</a:t>
            </a:r>
            <a:endParaRPr lang="en-US" sz="1150" dirty="0"/>
          </a:p>
        </p:txBody>
      </p:sp>
      <p:sp>
        <p:nvSpPr>
          <p:cNvPr id="16" name="Shape 14"/>
          <p:cNvSpPr/>
          <p:nvPr/>
        </p:nvSpPr>
        <p:spPr>
          <a:xfrm>
            <a:off x="566928" y="5120640"/>
            <a:ext cx="11057839" cy="1005840"/>
          </a:xfrm>
          <a:prstGeom prst="roundRect">
            <a:avLst>
              <a:gd name="adj" fmla="val 8182"/>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17" name="Shape 15"/>
          <p:cNvSpPr/>
          <p:nvPr/>
        </p:nvSpPr>
        <p:spPr>
          <a:xfrm>
            <a:off x="841248" y="5330952"/>
            <a:ext cx="594360" cy="594360"/>
          </a:xfrm>
          <a:prstGeom prst="ellipse">
            <a:avLst/>
          </a:prstGeom>
          <a:solidFill>
            <a:srgbClr val="FF6B4A"/>
          </a:solidFill>
          <a:ln/>
        </p:spPr>
      </p:sp>
      <p:pic>
        <p:nvPicPr>
          <p:cNvPr id="18" name="Image 0" descr="C:\Users\yosrk\AppData\Local\Temp\claude\c--Users-yosrk-OneDrive-Bureau-RHpfe-Antigone-RH\f59fd8f1-a1b7-4e96-84d6-6d2a4296fa99\scratchpad\pfe-soutenance\icons\invoice.png">    </p:cNvPr>
          <p:cNvPicPr>
            <a:picLocks noChangeAspect="1"/>
          </p:cNvPicPr>
          <p:nvPr/>
        </p:nvPicPr>
        <p:blipFill>
          <a:blip r:embed="rId1"/>
          <a:stretch>
            <a:fillRect/>
          </a:stretch>
        </p:blipFill>
        <p:spPr>
          <a:xfrm>
            <a:off x="924458" y="5414162"/>
            <a:ext cx="427939" cy="427939"/>
          </a:xfrm>
          <a:prstGeom prst="rect">
            <a:avLst/>
          </a:prstGeom>
        </p:spPr>
      </p:pic>
      <p:sp>
        <p:nvSpPr>
          <p:cNvPr id="19" name="Text 16"/>
          <p:cNvSpPr txBox="1"/>
          <p:nvPr/>
        </p:nvSpPr>
        <p:spPr>
          <a:xfrm>
            <a:off x="1618488" y="5120640"/>
            <a:ext cx="9731959" cy="1005840"/>
          </a:xfrm>
          <a:prstGeom prst="rect">
            <a:avLst/>
          </a:prstGeom>
          <a:noFill/>
          <a:ln/>
        </p:spPr>
        <p:txBody>
          <a:bodyPr wrap="square" lIns="0" tIns="0" rIns="0" bIns="0" rtlCol="0" anchor="ctr"/>
          <a:lstStyle/>
          <a:p>
            <a:pPr indent="0" marL="0">
              <a:lnSpc>
                <a:spcPct val="125000"/>
              </a:lnSpc>
              <a:buNone/>
            </a:pPr>
            <a:r>
              <a:rPr lang="en-US" sz="1250" dirty="0">
                <a:solidFill>
                  <a:srgbClr val="E8EEFC"/>
                </a:solidFill>
                <a:latin typeface="Calibri" pitchFamily="34" charset="0"/>
                <a:ea typeface="Calibri" pitchFamily="34" charset="-122"/>
                <a:cs typeface="Calibri" pitchFamily="34" charset="-120"/>
              </a:rPr>
              <a:t>42 points réalisés · Sprints 7 &amp; 8 — module cloisonné derrière une permission dédiée (VIEW_FINANCE) et une application distincte.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B3C"/>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6E76A8"/>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6E76A8"/>
                </a:solidFill>
                <a:latin typeface="Calibri" pitchFamily="34" charset="0"/>
                <a:ea typeface="Calibri" pitchFamily="34" charset="-122"/>
                <a:cs typeface="Calibri" pitchFamily="34" charset="-120"/>
              </a:rPr>
              <a:t>19</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 — MODULE PHARE</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Assistant IA — un chatbot ancré dans les données réelles</a:t>
            </a:r>
            <a:endParaRPr lang="en-US" sz="3000" dirty="0"/>
          </a:p>
        </p:txBody>
      </p:sp>
      <p:sp>
        <p:nvSpPr>
          <p:cNvPr id="6" name="Shape 4"/>
          <p:cNvSpPr/>
          <p:nvPr/>
        </p:nvSpPr>
        <p:spPr>
          <a:xfrm>
            <a:off x="566928" y="1572768"/>
            <a:ext cx="11057839" cy="658368"/>
          </a:xfrm>
          <a:prstGeom prst="roundRect">
            <a:avLst>
              <a:gd name="adj" fmla="val 12500"/>
            </a:avLst>
          </a:prstGeom>
          <a:solidFill>
            <a:srgbClr val="1E2761"/>
          </a:solidFill>
          <a:ln w="12700">
            <a:solidFill>
              <a:srgbClr val="1E2761"/>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768096" y="1709928"/>
            <a:ext cx="384048" cy="384048"/>
          </a:xfrm>
          <a:prstGeom prst="ellipse">
            <a:avLst/>
          </a:prstGeom>
          <a:solidFill>
            <a:srgbClr val="FF6B4A"/>
          </a:solidFill>
          <a:ln/>
        </p:spPr>
      </p:sp>
      <p:pic>
        <p:nvPicPr>
          <p:cNvPr id="8" name="Image 0" descr="C:\Users\yosrk\AppData\Local\Temp\claude\c--Users-yosrk-OneDrive-Bureau-RHpfe-Antigone-RH\f59fd8f1-a1b7-4e96-84d6-6d2a4296fa99\scratchpad\pfe-soutenance\icons\quote.png">    </p:cNvPr>
          <p:cNvPicPr>
            <a:picLocks noChangeAspect="1"/>
          </p:cNvPicPr>
          <p:nvPr/>
        </p:nvPicPr>
        <p:blipFill>
          <a:blip r:embed="rId1"/>
          <a:stretch>
            <a:fillRect/>
          </a:stretch>
        </p:blipFill>
        <p:spPr>
          <a:xfrm>
            <a:off x="821863" y="1763695"/>
            <a:ext cx="276515" cy="276515"/>
          </a:xfrm>
          <a:prstGeom prst="rect">
            <a:avLst/>
          </a:prstGeom>
        </p:spPr>
      </p:pic>
      <p:sp>
        <p:nvSpPr>
          <p:cNvPr id="9" name="Text 6"/>
          <p:cNvSpPr txBox="1"/>
          <p:nvPr/>
        </p:nvSpPr>
        <p:spPr>
          <a:xfrm>
            <a:off x="1344168" y="1572768"/>
            <a:ext cx="10051999" cy="658368"/>
          </a:xfrm>
          <a:prstGeom prst="rect">
            <a:avLst/>
          </a:prstGeom>
          <a:noFill/>
          <a:ln/>
        </p:spPr>
        <p:txBody>
          <a:bodyPr wrap="square" lIns="0" tIns="0" rIns="0" bIns="0" rtlCol="0" anchor="ctr"/>
          <a:lstStyle/>
          <a:p>
            <a:pPr indent="0" marL="0">
              <a:buNone/>
            </a:pPr>
            <a:r>
              <a:rPr lang="en-US" sz="1350" i="1" dirty="0">
                <a:solidFill>
                  <a:srgbClr val="FFFFFF"/>
                </a:solidFill>
                <a:latin typeface="Cambria" pitchFamily="34" charset="0"/>
                <a:ea typeface="Cambria" pitchFamily="34" charset="-122"/>
                <a:cs typeface="Cambria" pitchFamily="34" charset="-120"/>
              </a:rPr>
              <a:t>« Le modèle rédige, l’application décide » — aucun chiffre affiché n’est inventé par le LLM, aucune décision d’accès ne lui est confiée.</a:t>
            </a:r>
            <a:endParaRPr lang="en-US" sz="1350" dirty="0"/>
          </a:p>
        </p:txBody>
      </p:sp>
      <p:sp>
        <p:nvSpPr>
          <p:cNvPr id="10" name="Shape 7"/>
          <p:cNvSpPr/>
          <p:nvPr/>
        </p:nvSpPr>
        <p:spPr>
          <a:xfrm>
            <a:off x="566928" y="2450592"/>
            <a:ext cx="2627300" cy="1874520"/>
          </a:xfrm>
          <a:prstGeom prst="roundRect">
            <a:avLst>
              <a:gd name="adj" fmla="val 4390"/>
            </a:avLst>
          </a:prstGeom>
          <a:solidFill>
            <a:srgbClr val="1E2761"/>
          </a:solidFill>
          <a:ln w="12700">
            <a:solidFill>
              <a:srgbClr val="272F55"/>
            </a:solidFill>
            <a:prstDash val="solid"/>
          </a:ln>
        </p:spPr>
      </p:sp>
      <p:sp>
        <p:nvSpPr>
          <p:cNvPr id="11" name="Shape 8"/>
          <p:cNvSpPr/>
          <p:nvPr/>
        </p:nvSpPr>
        <p:spPr>
          <a:xfrm>
            <a:off x="1606258" y="2651760"/>
            <a:ext cx="548640" cy="548640"/>
          </a:xfrm>
          <a:prstGeom prst="ellipse">
            <a:avLst/>
          </a:prstGeom>
          <a:solidFill>
            <a:srgbClr val="17B8A6"/>
          </a:solidFill>
          <a:ln/>
        </p:spPr>
      </p:sp>
      <p:pic>
        <p:nvPicPr>
          <p:cNvPr id="12" name="Image 1" descr="C:\Users\yosrk\AppData\Local\Temp\claude\c--Users-yosrk-OneDrive-Bureau-RHpfe-Antigone-RH\f59fd8f1-a1b7-4e96-84d6-6d2a4296fa99\scratchpad\pfe-soutenance\icons\chart.png">    </p:cNvPr>
          <p:cNvPicPr>
            <a:picLocks noChangeAspect="1"/>
          </p:cNvPicPr>
          <p:nvPr/>
        </p:nvPicPr>
        <p:blipFill>
          <a:blip r:embed="rId2"/>
          <a:stretch>
            <a:fillRect/>
          </a:stretch>
        </p:blipFill>
        <p:spPr>
          <a:xfrm>
            <a:off x="1683068" y="2728570"/>
            <a:ext cx="395021" cy="395021"/>
          </a:xfrm>
          <a:prstGeom prst="rect">
            <a:avLst/>
          </a:prstGeom>
        </p:spPr>
      </p:pic>
      <p:sp>
        <p:nvSpPr>
          <p:cNvPr id="13" name="Text 9"/>
          <p:cNvSpPr txBox="1"/>
          <p:nvPr/>
        </p:nvSpPr>
        <p:spPr>
          <a:xfrm>
            <a:off x="694944" y="3346704"/>
            <a:ext cx="237126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Media Plan</a:t>
            </a:r>
            <a:endParaRPr lang="en-US" sz="1250" dirty="0"/>
          </a:p>
        </p:txBody>
      </p:sp>
      <p:sp>
        <p:nvSpPr>
          <p:cNvPr id="14" name="Text 10"/>
          <p:cNvSpPr txBox="1"/>
          <p:nvPr/>
        </p:nvSpPr>
        <p:spPr>
          <a:xfrm>
            <a:off x="713232" y="3657600"/>
            <a:ext cx="2334692" cy="621792"/>
          </a:xfrm>
          <a:prstGeom prst="rect">
            <a:avLst/>
          </a:prstGeom>
          <a:noFill/>
          <a:ln/>
        </p:spPr>
        <p:txBody>
          <a:bodyPr wrap="square" lIns="0" tIns="0" rIns="0" bIns="0" rtlCol="0" anchor="ctr"/>
          <a:lstStyle/>
          <a:p>
            <a:pPr algn="ctr" indent="0" marL="0">
              <a:lnSpc>
                <a:spcPct val="118000"/>
              </a:lnSpc>
              <a:buNone/>
            </a:pPr>
            <a:r>
              <a:rPr lang="en-US" sz="930" dirty="0">
                <a:solidFill>
                  <a:srgbClr val="B9C6EE"/>
                </a:solidFill>
                <a:latin typeface="Calibri" pitchFamily="34" charset="0"/>
                <a:ea typeface="Calibri" pitchFamily="34" charset="-122"/>
                <a:cs typeface="Calibri" pitchFamily="34" charset="-120"/>
              </a:rPr>
              <a:t>Propose un calendrier éditorial fondé sur l’identité de la marque et l’historique</a:t>
            </a:r>
            <a:endParaRPr lang="en-US" sz="930" dirty="0"/>
          </a:p>
        </p:txBody>
      </p:sp>
      <p:sp>
        <p:nvSpPr>
          <p:cNvPr id="15" name="Shape 11"/>
          <p:cNvSpPr/>
          <p:nvPr/>
        </p:nvSpPr>
        <p:spPr>
          <a:xfrm>
            <a:off x="3377108" y="2450592"/>
            <a:ext cx="2627300" cy="1874520"/>
          </a:xfrm>
          <a:prstGeom prst="roundRect">
            <a:avLst>
              <a:gd name="adj" fmla="val 4390"/>
            </a:avLst>
          </a:prstGeom>
          <a:solidFill>
            <a:srgbClr val="1E2761"/>
          </a:solidFill>
          <a:ln w="12700">
            <a:solidFill>
              <a:srgbClr val="272F55"/>
            </a:solidFill>
            <a:prstDash val="solid"/>
          </a:ln>
        </p:spPr>
      </p:sp>
      <p:sp>
        <p:nvSpPr>
          <p:cNvPr id="16" name="Shape 12"/>
          <p:cNvSpPr/>
          <p:nvPr/>
        </p:nvSpPr>
        <p:spPr>
          <a:xfrm>
            <a:off x="4416438" y="2651760"/>
            <a:ext cx="548640" cy="548640"/>
          </a:xfrm>
          <a:prstGeom prst="ellipse">
            <a:avLst/>
          </a:prstGeom>
          <a:solidFill>
            <a:srgbClr val="17B8A6"/>
          </a:solidFill>
          <a:ln/>
        </p:spPr>
      </p:sp>
      <p:pic>
        <p:nvPicPr>
          <p:cNvPr id="17" name="Image 2" descr="C:\Users\yosrk\AppData\Local\Temp\claude\c--Users-yosrk-OneDrive-Bureau-RHpfe-Antigone-RH\f59fd8f1-a1b7-4e96-84d6-6d2a4296fa99\scratchpad\pfe-soutenance\icons\bell.png">    </p:cNvPr>
          <p:cNvPicPr>
            <a:picLocks noChangeAspect="1"/>
          </p:cNvPicPr>
          <p:nvPr/>
        </p:nvPicPr>
        <p:blipFill>
          <a:blip r:embed="rId3"/>
          <a:stretch>
            <a:fillRect/>
          </a:stretch>
        </p:blipFill>
        <p:spPr>
          <a:xfrm>
            <a:off x="4493247" y="2728570"/>
            <a:ext cx="395021" cy="395021"/>
          </a:xfrm>
          <a:prstGeom prst="rect">
            <a:avLst/>
          </a:prstGeom>
        </p:spPr>
      </p:pic>
      <p:sp>
        <p:nvSpPr>
          <p:cNvPr id="18" name="Text 13"/>
          <p:cNvSpPr txBox="1"/>
          <p:nvPr/>
        </p:nvSpPr>
        <p:spPr>
          <a:xfrm>
            <a:off x="3505124" y="3346704"/>
            <a:ext cx="237126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Relances</a:t>
            </a:r>
            <a:endParaRPr lang="en-US" sz="1250" dirty="0"/>
          </a:p>
        </p:txBody>
      </p:sp>
      <p:sp>
        <p:nvSpPr>
          <p:cNvPr id="19" name="Text 14"/>
          <p:cNvSpPr txBox="1"/>
          <p:nvPr/>
        </p:nvSpPr>
        <p:spPr>
          <a:xfrm>
            <a:off x="3523412" y="3657600"/>
            <a:ext cx="2334692" cy="621792"/>
          </a:xfrm>
          <a:prstGeom prst="rect">
            <a:avLst/>
          </a:prstGeom>
          <a:noFill/>
          <a:ln/>
        </p:spPr>
        <p:txBody>
          <a:bodyPr wrap="square" lIns="0" tIns="0" rIns="0" bIns="0" rtlCol="0" anchor="ctr"/>
          <a:lstStyle/>
          <a:p>
            <a:pPr algn="ctr" indent="0" marL="0">
              <a:lnSpc>
                <a:spcPct val="118000"/>
              </a:lnSpc>
              <a:buNone/>
            </a:pPr>
            <a:r>
              <a:rPr lang="en-US" sz="930" dirty="0">
                <a:solidFill>
                  <a:srgbClr val="B9C6EE"/>
                </a:solidFill>
                <a:latin typeface="Calibri" pitchFamily="34" charset="0"/>
                <a:ea typeface="Calibri" pitchFamily="34" charset="-122"/>
                <a:cs typeface="Calibri" pitchFamily="34" charset="-120"/>
              </a:rPr>
              <a:t>Rédige un e-mail de relance au ton adapté aux jours de retard</a:t>
            </a:r>
            <a:endParaRPr lang="en-US" sz="930" dirty="0"/>
          </a:p>
        </p:txBody>
      </p:sp>
      <p:sp>
        <p:nvSpPr>
          <p:cNvPr id="20" name="Shape 15"/>
          <p:cNvSpPr/>
          <p:nvPr/>
        </p:nvSpPr>
        <p:spPr>
          <a:xfrm>
            <a:off x="6187288" y="2450592"/>
            <a:ext cx="2627300" cy="1874520"/>
          </a:xfrm>
          <a:prstGeom prst="roundRect">
            <a:avLst>
              <a:gd name="adj" fmla="val 4390"/>
            </a:avLst>
          </a:prstGeom>
          <a:solidFill>
            <a:srgbClr val="1E2761"/>
          </a:solidFill>
          <a:ln w="12700">
            <a:solidFill>
              <a:srgbClr val="272F55"/>
            </a:solidFill>
            <a:prstDash val="solid"/>
          </a:ln>
        </p:spPr>
      </p:sp>
      <p:sp>
        <p:nvSpPr>
          <p:cNvPr id="21" name="Shape 16"/>
          <p:cNvSpPr/>
          <p:nvPr/>
        </p:nvSpPr>
        <p:spPr>
          <a:xfrm>
            <a:off x="7226618" y="2651760"/>
            <a:ext cx="548640" cy="548640"/>
          </a:xfrm>
          <a:prstGeom prst="ellipse">
            <a:avLst/>
          </a:prstGeom>
          <a:solidFill>
            <a:srgbClr val="17B8A6"/>
          </a:solidFill>
          <a:ln/>
        </p:spPr>
      </p:sp>
      <p:pic>
        <p:nvPicPr>
          <p:cNvPr id="22" name="Image 3" descr="C:\Users\yosrk\AppData\Local\Temp\claude\c--Users-yosrk-OneDrive-Bureau-RHpfe-Antigone-RH\f59fd8f1-a1b7-4e96-84d6-6d2a4296fa99\scratchpad\pfe-soutenance\icons\invoice.png">    </p:cNvPr>
          <p:cNvPicPr>
            <a:picLocks noChangeAspect="1"/>
          </p:cNvPicPr>
          <p:nvPr/>
        </p:nvPicPr>
        <p:blipFill>
          <a:blip r:embed="rId4"/>
          <a:stretch>
            <a:fillRect/>
          </a:stretch>
        </p:blipFill>
        <p:spPr>
          <a:xfrm>
            <a:off x="7303427" y="2728570"/>
            <a:ext cx="395021" cy="395021"/>
          </a:xfrm>
          <a:prstGeom prst="rect">
            <a:avLst/>
          </a:prstGeom>
        </p:spPr>
      </p:pic>
      <p:sp>
        <p:nvSpPr>
          <p:cNvPr id="23" name="Text 17"/>
          <p:cNvSpPr txBox="1"/>
          <p:nvPr/>
        </p:nvSpPr>
        <p:spPr>
          <a:xfrm>
            <a:off x="6315304" y="3346704"/>
            <a:ext cx="237126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Paie</a:t>
            </a:r>
            <a:endParaRPr lang="en-US" sz="1250" dirty="0"/>
          </a:p>
        </p:txBody>
      </p:sp>
      <p:sp>
        <p:nvSpPr>
          <p:cNvPr id="24" name="Text 18"/>
          <p:cNvSpPr txBox="1"/>
          <p:nvPr/>
        </p:nvSpPr>
        <p:spPr>
          <a:xfrm>
            <a:off x="6333592" y="3657600"/>
            <a:ext cx="2334692" cy="621792"/>
          </a:xfrm>
          <a:prstGeom prst="rect">
            <a:avLst/>
          </a:prstGeom>
          <a:noFill/>
          <a:ln/>
        </p:spPr>
        <p:txBody>
          <a:bodyPr wrap="square" lIns="0" tIns="0" rIns="0" bIns="0" rtlCol="0" anchor="ctr"/>
          <a:lstStyle/>
          <a:p>
            <a:pPr algn="ctr" indent="0" marL="0">
              <a:lnSpc>
                <a:spcPct val="118000"/>
              </a:lnSpc>
              <a:buNone/>
            </a:pPr>
            <a:r>
              <a:rPr lang="en-US" sz="930" dirty="0">
                <a:solidFill>
                  <a:srgbClr val="B9C6EE"/>
                </a:solidFill>
                <a:latin typeface="Calibri" pitchFamily="34" charset="0"/>
                <a:ea typeface="Calibri" pitchFamily="34" charset="-122"/>
                <a:cs typeface="Calibri" pitchFamily="34" charset="-120"/>
              </a:rPr>
              <a:t>Explique un bulletin en français simple, poste par poste</a:t>
            </a:r>
            <a:endParaRPr lang="en-US" sz="930" dirty="0"/>
          </a:p>
        </p:txBody>
      </p:sp>
      <p:sp>
        <p:nvSpPr>
          <p:cNvPr id="25" name="Shape 19"/>
          <p:cNvSpPr/>
          <p:nvPr/>
        </p:nvSpPr>
        <p:spPr>
          <a:xfrm>
            <a:off x="8997467" y="2450592"/>
            <a:ext cx="2627300" cy="1874520"/>
          </a:xfrm>
          <a:prstGeom prst="roundRect">
            <a:avLst>
              <a:gd name="adj" fmla="val 4390"/>
            </a:avLst>
          </a:prstGeom>
          <a:solidFill>
            <a:srgbClr val="1E2761"/>
          </a:solidFill>
          <a:ln w="12700">
            <a:solidFill>
              <a:srgbClr val="272F55"/>
            </a:solidFill>
            <a:prstDash val="solid"/>
          </a:ln>
        </p:spPr>
      </p:sp>
      <p:sp>
        <p:nvSpPr>
          <p:cNvPr id="26" name="Shape 20"/>
          <p:cNvSpPr/>
          <p:nvPr/>
        </p:nvSpPr>
        <p:spPr>
          <a:xfrm>
            <a:off x="10036797" y="2651760"/>
            <a:ext cx="548640" cy="548640"/>
          </a:xfrm>
          <a:prstGeom prst="ellipse">
            <a:avLst/>
          </a:prstGeom>
          <a:solidFill>
            <a:srgbClr val="17B8A6"/>
          </a:solidFill>
          <a:ln/>
        </p:spPr>
      </p:sp>
      <p:pic>
        <p:nvPicPr>
          <p:cNvPr id="27" name="Image 4" descr="C:\Users\yosrk\AppData\Local\Temp\claude\c--Users-yosrk-OneDrive-Bureau-RHpfe-Antigone-RH\f59fd8f1-a1b7-4e96-84d6-6d2a4296fa99\scratchpad\pfe-soutenance\icons\book.png">    </p:cNvPr>
          <p:cNvPicPr>
            <a:picLocks noChangeAspect="1"/>
          </p:cNvPicPr>
          <p:nvPr/>
        </p:nvPicPr>
        <p:blipFill>
          <a:blip r:embed="rId5"/>
          <a:stretch>
            <a:fillRect/>
          </a:stretch>
        </p:blipFill>
        <p:spPr>
          <a:xfrm>
            <a:off x="10113607" y="2728570"/>
            <a:ext cx="395021" cy="395021"/>
          </a:xfrm>
          <a:prstGeom prst="rect">
            <a:avLst/>
          </a:prstGeom>
        </p:spPr>
      </p:pic>
      <p:sp>
        <p:nvSpPr>
          <p:cNvPr id="28" name="Text 21"/>
          <p:cNvSpPr txBox="1"/>
          <p:nvPr/>
        </p:nvSpPr>
        <p:spPr>
          <a:xfrm>
            <a:off x="9125483" y="3346704"/>
            <a:ext cx="2371268"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Règlement intérieur</a:t>
            </a:r>
            <a:endParaRPr lang="en-US" sz="1250" dirty="0"/>
          </a:p>
        </p:txBody>
      </p:sp>
      <p:sp>
        <p:nvSpPr>
          <p:cNvPr id="29" name="Text 22"/>
          <p:cNvSpPr txBox="1"/>
          <p:nvPr/>
        </p:nvSpPr>
        <p:spPr>
          <a:xfrm>
            <a:off x="9143771" y="3657600"/>
            <a:ext cx="2334692" cy="621792"/>
          </a:xfrm>
          <a:prstGeom prst="rect">
            <a:avLst/>
          </a:prstGeom>
          <a:noFill/>
          <a:ln/>
        </p:spPr>
        <p:txBody>
          <a:bodyPr wrap="square" lIns="0" tIns="0" rIns="0" bIns="0" rtlCol="0" anchor="ctr"/>
          <a:lstStyle/>
          <a:p>
            <a:pPr algn="ctr" indent="0" marL="0">
              <a:lnSpc>
                <a:spcPct val="118000"/>
              </a:lnSpc>
              <a:buNone/>
            </a:pPr>
            <a:r>
              <a:rPr lang="en-US" sz="930" dirty="0">
                <a:solidFill>
                  <a:srgbClr val="B9C6EE"/>
                </a:solidFill>
                <a:latin typeface="Calibri" pitchFamily="34" charset="0"/>
                <a:ea typeface="Calibri" pitchFamily="34" charset="-122"/>
                <a:cs typeface="Calibri" pitchFamily="34" charset="-120"/>
              </a:rPr>
              <a:t>Répond en citant l’article exact du règlement</a:t>
            </a:r>
            <a:endParaRPr lang="en-US" sz="930" dirty="0"/>
          </a:p>
        </p:txBody>
      </p:sp>
      <p:sp>
        <p:nvSpPr>
          <p:cNvPr id="30" name="Text 23"/>
          <p:cNvSpPr txBox="1"/>
          <p:nvPr/>
        </p:nvSpPr>
        <p:spPr>
          <a:xfrm>
            <a:off x="566928" y="4617720"/>
            <a:ext cx="2627300" cy="502920"/>
          </a:xfrm>
          <a:prstGeom prst="rect">
            <a:avLst/>
          </a:prstGeom>
          <a:noFill/>
          <a:ln/>
        </p:spPr>
        <p:txBody>
          <a:bodyPr wrap="square" lIns="0" tIns="0" rIns="0" bIns="0"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71</a:t>
            </a:r>
            <a:endParaRPr lang="en-US" sz="2400" dirty="0"/>
          </a:p>
        </p:txBody>
      </p:sp>
      <p:sp>
        <p:nvSpPr>
          <p:cNvPr id="31" name="Text 24"/>
          <p:cNvSpPr txBox="1"/>
          <p:nvPr/>
        </p:nvSpPr>
        <p:spPr>
          <a:xfrm>
            <a:off x="566928" y="5074920"/>
            <a:ext cx="2627300" cy="365760"/>
          </a:xfrm>
          <a:prstGeom prst="rect">
            <a:avLst/>
          </a:prstGeom>
          <a:noFill/>
          <a:ln/>
        </p:spPr>
        <p:txBody>
          <a:bodyPr wrap="square" lIns="0" tIns="0" rIns="0" bIns="0" rtlCol="0" anchor="ctr"/>
          <a:lstStyle/>
          <a:p>
            <a:pPr algn="ctr" indent="0" marL="0">
              <a:buNone/>
            </a:pPr>
            <a:r>
              <a:rPr lang="en-US" sz="1050" dirty="0">
                <a:solidFill>
                  <a:srgbClr val="B9C6EE"/>
                </a:solidFill>
                <a:latin typeface="Calibri" pitchFamily="34" charset="0"/>
                <a:ea typeface="Calibri" pitchFamily="34" charset="-122"/>
                <a:cs typeface="Calibri" pitchFamily="34" charset="-120"/>
              </a:rPr>
              <a:t>classes Java</a:t>
            </a:r>
            <a:endParaRPr lang="en-US" sz="1050" dirty="0"/>
          </a:p>
        </p:txBody>
      </p:sp>
      <p:sp>
        <p:nvSpPr>
          <p:cNvPr id="32" name="Text 25"/>
          <p:cNvSpPr txBox="1"/>
          <p:nvPr/>
        </p:nvSpPr>
        <p:spPr>
          <a:xfrm>
            <a:off x="3377108" y="4617720"/>
            <a:ext cx="2627300" cy="502920"/>
          </a:xfrm>
          <a:prstGeom prst="rect">
            <a:avLst/>
          </a:prstGeom>
          <a:noFill/>
          <a:ln/>
        </p:spPr>
        <p:txBody>
          <a:bodyPr wrap="square" lIns="0" tIns="0" rIns="0" bIns="0"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 5 100</a:t>
            </a:r>
            <a:endParaRPr lang="en-US" sz="2400" dirty="0"/>
          </a:p>
        </p:txBody>
      </p:sp>
      <p:sp>
        <p:nvSpPr>
          <p:cNvPr id="33" name="Text 26"/>
          <p:cNvSpPr txBox="1"/>
          <p:nvPr/>
        </p:nvSpPr>
        <p:spPr>
          <a:xfrm>
            <a:off x="3377108" y="5074920"/>
            <a:ext cx="2627300" cy="365760"/>
          </a:xfrm>
          <a:prstGeom prst="rect">
            <a:avLst/>
          </a:prstGeom>
          <a:noFill/>
          <a:ln/>
        </p:spPr>
        <p:txBody>
          <a:bodyPr wrap="square" lIns="0" tIns="0" rIns="0" bIns="0" rtlCol="0" anchor="ctr"/>
          <a:lstStyle/>
          <a:p>
            <a:pPr algn="ctr" indent="0" marL="0">
              <a:buNone/>
            </a:pPr>
            <a:r>
              <a:rPr lang="en-US" sz="1050" dirty="0">
                <a:solidFill>
                  <a:srgbClr val="B9C6EE"/>
                </a:solidFill>
                <a:latin typeface="Calibri" pitchFamily="34" charset="0"/>
                <a:ea typeface="Calibri" pitchFamily="34" charset="-122"/>
                <a:cs typeface="Calibri" pitchFamily="34" charset="-120"/>
              </a:rPr>
              <a:t>lignes de code</a:t>
            </a:r>
            <a:endParaRPr lang="en-US" sz="1050" dirty="0"/>
          </a:p>
        </p:txBody>
      </p:sp>
      <p:sp>
        <p:nvSpPr>
          <p:cNvPr id="34" name="Text 27"/>
          <p:cNvSpPr txBox="1"/>
          <p:nvPr/>
        </p:nvSpPr>
        <p:spPr>
          <a:xfrm>
            <a:off x="6187288" y="4617720"/>
            <a:ext cx="2627300" cy="502920"/>
          </a:xfrm>
          <a:prstGeom prst="rect">
            <a:avLst/>
          </a:prstGeom>
          <a:noFill/>
          <a:ln/>
        </p:spPr>
        <p:txBody>
          <a:bodyPr wrap="square" lIns="0" tIns="0" rIns="0" bIns="0"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15</a:t>
            </a:r>
            <a:endParaRPr lang="en-US" sz="2400" dirty="0"/>
          </a:p>
        </p:txBody>
      </p:sp>
      <p:sp>
        <p:nvSpPr>
          <p:cNvPr id="35" name="Text 28"/>
          <p:cNvSpPr txBox="1"/>
          <p:nvPr/>
        </p:nvSpPr>
        <p:spPr>
          <a:xfrm>
            <a:off x="6187288" y="5074920"/>
            <a:ext cx="2627300" cy="365760"/>
          </a:xfrm>
          <a:prstGeom prst="rect">
            <a:avLst/>
          </a:prstGeom>
          <a:noFill/>
          <a:ln/>
        </p:spPr>
        <p:txBody>
          <a:bodyPr wrap="square" lIns="0" tIns="0" rIns="0" bIns="0" rtlCol="0" anchor="ctr"/>
          <a:lstStyle/>
          <a:p>
            <a:pPr algn="ctr" indent="0" marL="0">
              <a:buNone/>
            </a:pPr>
            <a:r>
              <a:rPr lang="en-US" sz="1050" dirty="0">
                <a:solidFill>
                  <a:srgbClr val="B9C6EE"/>
                </a:solidFill>
                <a:latin typeface="Calibri" pitchFamily="34" charset="0"/>
                <a:ea typeface="Calibri" pitchFamily="34" charset="-122"/>
                <a:cs typeface="Calibri" pitchFamily="34" charset="-120"/>
              </a:rPr>
              <a:t>outils (tool calling)</a:t>
            </a:r>
            <a:endParaRPr lang="en-US" sz="1050" dirty="0"/>
          </a:p>
        </p:txBody>
      </p:sp>
      <p:sp>
        <p:nvSpPr>
          <p:cNvPr id="36" name="Text 29"/>
          <p:cNvSpPr txBox="1"/>
          <p:nvPr/>
        </p:nvSpPr>
        <p:spPr>
          <a:xfrm>
            <a:off x="8997467" y="4617720"/>
            <a:ext cx="2627300" cy="502920"/>
          </a:xfrm>
          <a:prstGeom prst="rect">
            <a:avLst/>
          </a:prstGeom>
          <a:noFill/>
          <a:ln/>
        </p:spPr>
        <p:txBody>
          <a:bodyPr wrap="square" lIns="0" tIns="0" rIns="0" bIns="0" rtlCol="0" anchor="ctr"/>
          <a:lstStyle/>
          <a:p>
            <a:pPr algn="ctr" indent="0" marL="0">
              <a:buNone/>
            </a:pPr>
            <a:r>
              <a:rPr lang="en-US" sz="2400" b="1" dirty="0">
                <a:solidFill>
                  <a:srgbClr val="FF6B4A"/>
                </a:solidFill>
                <a:latin typeface="Cambria" pitchFamily="34" charset="0"/>
                <a:ea typeface="Cambria" pitchFamily="34" charset="-122"/>
                <a:cs typeface="Cambria" pitchFamily="34" charset="-120"/>
              </a:rPr>
              <a:t>GPT-4o</a:t>
            </a:r>
            <a:endParaRPr lang="en-US" sz="2400" dirty="0"/>
          </a:p>
        </p:txBody>
      </p:sp>
      <p:sp>
        <p:nvSpPr>
          <p:cNvPr id="37" name="Text 30"/>
          <p:cNvSpPr txBox="1"/>
          <p:nvPr/>
        </p:nvSpPr>
        <p:spPr>
          <a:xfrm>
            <a:off x="8997467" y="5074920"/>
            <a:ext cx="2627300" cy="365760"/>
          </a:xfrm>
          <a:prstGeom prst="rect">
            <a:avLst/>
          </a:prstGeom>
          <a:noFill/>
          <a:ln/>
        </p:spPr>
        <p:txBody>
          <a:bodyPr wrap="square" lIns="0" tIns="0" rIns="0" bIns="0" rtlCol="0" anchor="ctr"/>
          <a:lstStyle/>
          <a:p>
            <a:pPr algn="ctr" indent="0" marL="0">
              <a:buNone/>
            </a:pPr>
            <a:r>
              <a:rPr lang="en-US" sz="1050" dirty="0">
                <a:solidFill>
                  <a:srgbClr val="B9C6EE"/>
                </a:solidFill>
                <a:latin typeface="Calibri" pitchFamily="34" charset="0"/>
                <a:ea typeface="Calibri" pitchFamily="34" charset="-122"/>
                <a:cs typeface="Calibri" pitchFamily="34" charset="-120"/>
              </a:rPr>
              <a:t>+ RAG hybride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20</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Architecture de l’assistant — cinq couches</a:t>
            </a:r>
            <a:endParaRPr lang="en-US" sz="3000" dirty="0"/>
          </a:p>
        </p:txBody>
      </p:sp>
      <p:sp>
        <p:nvSpPr>
          <p:cNvPr id="6" name="Shape 4"/>
          <p:cNvSpPr/>
          <p:nvPr/>
        </p:nvSpPr>
        <p:spPr>
          <a:xfrm>
            <a:off x="566928" y="1645920"/>
            <a:ext cx="11057839" cy="758952"/>
          </a:xfrm>
          <a:prstGeom prst="roundRect">
            <a:avLst>
              <a:gd name="adj" fmla="val 963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768096" y="1773936"/>
            <a:ext cx="502920" cy="502920"/>
          </a:xfrm>
          <a:prstGeom prst="ellipse">
            <a:avLst/>
          </a:prstGeom>
          <a:solidFill>
            <a:srgbClr val="141B3C"/>
          </a:solidFill>
          <a:ln/>
        </p:spPr>
      </p:sp>
      <p:pic>
        <p:nvPicPr>
          <p:cNvPr id="8" name="Image 0" descr="C:\Users\yosrk\AppData\Local\Temp\claude\c--Users-yosrk-OneDrive-Bureau-RHpfe-Antigone-RH\f59fd8f1-a1b7-4e96-84d6-6d2a4296fa99\scratchpad\pfe-soutenance\icons\robot.png">    </p:cNvPr>
          <p:cNvPicPr>
            <a:picLocks noChangeAspect="1"/>
          </p:cNvPicPr>
          <p:nvPr/>
        </p:nvPicPr>
        <p:blipFill>
          <a:blip r:embed="rId1"/>
          <a:stretch>
            <a:fillRect/>
          </a:stretch>
        </p:blipFill>
        <p:spPr>
          <a:xfrm>
            <a:off x="838505" y="1844345"/>
            <a:ext cx="362102" cy="362102"/>
          </a:xfrm>
          <a:prstGeom prst="rect">
            <a:avLst/>
          </a:prstGeom>
        </p:spPr>
      </p:pic>
      <p:sp>
        <p:nvSpPr>
          <p:cNvPr id="9" name="Text 6"/>
          <p:cNvSpPr txBox="1"/>
          <p:nvPr/>
        </p:nvSpPr>
        <p:spPr>
          <a:xfrm>
            <a:off x="1481328" y="1645920"/>
            <a:ext cx="2651760" cy="758952"/>
          </a:xfrm>
          <a:prstGeom prst="rect">
            <a:avLst/>
          </a:prstGeom>
          <a:noFill/>
          <a:ln/>
        </p:spPr>
        <p:txBody>
          <a:bodyPr wrap="square" lIns="0" tIns="0" rIns="0" bIns="0" rtlCol="0" anchor="ctr"/>
          <a:lstStyle/>
          <a:p>
            <a:pPr indent="0" marL="0">
              <a:lnSpc>
                <a:spcPct val="105000"/>
              </a:lnSpc>
              <a:buNone/>
            </a:pPr>
            <a:r>
              <a:rPr lang="en-US" sz="1300" b="1" dirty="0">
                <a:solidFill>
                  <a:srgbClr val="141B3C"/>
                </a:solidFill>
                <a:latin typeface="Calibri" pitchFamily="34" charset="0"/>
                <a:ea typeface="Calibri" pitchFamily="34" charset="-122"/>
                <a:cs typeface="Calibri" pitchFamily="34" charset="-120"/>
              </a:rPr>
              <a:t>Raisonnement</a:t>
            </a:r>
            <a:endParaRPr lang="en-US" sz="1300" dirty="0"/>
          </a:p>
        </p:txBody>
      </p:sp>
      <p:sp>
        <p:nvSpPr>
          <p:cNvPr id="10" name="Text 7"/>
          <p:cNvSpPr txBox="1"/>
          <p:nvPr/>
        </p:nvSpPr>
        <p:spPr>
          <a:xfrm>
            <a:off x="4270248" y="1645920"/>
            <a:ext cx="7125919" cy="758952"/>
          </a:xfrm>
          <a:prstGeom prst="rect">
            <a:avLst/>
          </a:prstGeom>
          <a:noFill/>
          <a:ln/>
        </p:spPr>
        <p:txBody>
          <a:bodyPr wrap="square" lIns="0" tIns="0" rIns="0" bIns="0" rtlCol="0" anchor="ctr"/>
          <a:lstStyle/>
          <a:p>
            <a:pPr indent="0" marL="0">
              <a:lnSpc>
                <a:spcPct val="118000"/>
              </a:lnSpc>
              <a:buNone/>
            </a:pPr>
            <a:r>
              <a:rPr lang="en-US" sz="1080" dirty="0">
                <a:solidFill>
                  <a:srgbClr val="3A3F5C"/>
                </a:solidFill>
                <a:latin typeface="Calibri" pitchFamily="34" charset="0"/>
                <a:ea typeface="Calibri" pitchFamily="34" charset="-122"/>
                <a:cs typeface="Calibri" pitchFamily="34" charset="-120"/>
              </a:rPr>
              <a:t>Classification d’intention, rédaction conversationnelle, sorties structurées (JSON strict)</a:t>
            </a:r>
            <a:endParaRPr lang="en-US" sz="1080" dirty="0"/>
          </a:p>
        </p:txBody>
      </p:sp>
      <p:sp>
        <p:nvSpPr>
          <p:cNvPr id="11" name="Text 8"/>
          <p:cNvSpPr txBox="1"/>
          <p:nvPr/>
        </p:nvSpPr>
        <p:spPr>
          <a:xfrm>
            <a:off x="882396" y="2404872"/>
            <a:ext cx="274320" cy="146304"/>
          </a:xfrm>
          <a:prstGeom prst="rect">
            <a:avLst/>
          </a:prstGeom>
          <a:noFill/>
          <a:ln/>
        </p:spPr>
        <p:txBody>
          <a:bodyPr wrap="square" lIns="0" tIns="0" rIns="0" bIns="0" rtlCol="0" anchor="ctr"/>
          <a:lstStyle/>
          <a:p>
            <a:pPr algn="ctr" indent="0" marL="0">
              <a:buNone/>
            </a:pPr>
            <a:r>
              <a:rPr lang="en-US" sz="1200" dirty="0">
                <a:solidFill>
                  <a:srgbClr val="E3E7F3"/>
                </a:solidFill>
                <a:latin typeface="Calibri" pitchFamily="34" charset="0"/>
                <a:ea typeface="Calibri" pitchFamily="34" charset="-122"/>
                <a:cs typeface="Calibri" pitchFamily="34" charset="-120"/>
              </a:rPr>
              <a:t>↓</a:t>
            </a:r>
            <a:endParaRPr lang="en-US" sz="1200" dirty="0"/>
          </a:p>
        </p:txBody>
      </p:sp>
      <p:sp>
        <p:nvSpPr>
          <p:cNvPr id="12" name="Shape 9"/>
          <p:cNvSpPr/>
          <p:nvPr/>
        </p:nvSpPr>
        <p:spPr>
          <a:xfrm>
            <a:off x="566928" y="2532888"/>
            <a:ext cx="11057839" cy="758952"/>
          </a:xfrm>
          <a:prstGeom prst="roundRect">
            <a:avLst>
              <a:gd name="adj" fmla="val 963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3" name="Shape 10"/>
          <p:cNvSpPr/>
          <p:nvPr/>
        </p:nvSpPr>
        <p:spPr>
          <a:xfrm>
            <a:off x="768096" y="2660904"/>
            <a:ext cx="502920" cy="502920"/>
          </a:xfrm>
          <a:prstGeom prst="ellipse">
            <a:avLst/>
          </a:prstGeom>
          <a:solidFill>
            <a:srgbClr val="17B8A6"/>
          </a:solidFill>
          <a:ln/>
        </p:spPr>
      </p:sp>
      <p:pic>
        <p:nvPicPr>
          <p:cNvPr id="14" name="Image 1" descr="C:\Users\yosrk\AppData\Local\Temp\claude\c--Users-yosrk-OneDrive-Bureau-RHpfe-Antigone-RH\f59fd8f1-a1b7-4e96-84d6-6d2a4296fa99\scratchpad\pfe-soutenance\icons\puzzle.png">    </p:cNvPr>
          <p:cNvPicPr>
            <a:picLocks noChangeAspect="1"/>
          </p:cNvPicPr>
          <p:nvPr/>
        </p:nvPicPr>
        <p:blipFill>
          <a:blip r:embed="rId2"/>
          <a:stretch>
            <a:fillRect/>
          </a:stretch>
        </p:blipFill>
        <p:spPr>
          <a:xfrm>
            <a:off x="838505" y="2731313"/>
            <a:ext cx="362102" cy="362102"/>
          </a:xfrm>
          <a:prstGeom prst="rect">
            <a:avLst/>
          </a:prstGeom>
        </p:spPr>
      </p:pic>
      <p:sp>
        <p:nvSpPr>
          <p:cNvPr id="15" name="Text 11"/>
          <p:cNvSpPr txBox="1"/>
          <p:nvPr/>
        </p:nvSpPr>
        <p:spPr>
          <a:xfrm>
            <a:off x="1481328" y="2532888"/>
            <a:ext cx="2651760" cy="758952"/>
          </a:xfrm>
          <a:prstGeom prst="rect">
            <a:avLst/>
          </a:prstGeom>
          <a:noFill/>
          <a:ln/>
        </p:spPr>
        <p:txBody>
          <a:bodyPr wrap="square" lIns="0" tIns="0" rIns="0" bIns="0" rtlCol="0" anchor="ctr"/>
          <a:lstStyle/>
          <a:p>
            <a:pPr indent="0" marL="0">
              <a:lnSpc>
                <a:spcPct val="105000"/>
              </a:lnSpc>
              <a:buNone/>
            </a:pPr>
            <a:r>
              <a:rPr lang="en-US" sz="1300" b="1" dirty="0">
                <a:solidFill>
                  <a:srgbClr val="141B3C"/>
                </a:solidFill>
                <a:latin typeface="Calibri" pitchFamily="34" charset="0"/>
                <a:ea typeface="Calibri" pitchFamily="34" charset="-122"/>
                <a:cs typeface="Calibri" pitchFamily="34" charset="-120"/>
              </a:rPr>
              <a:t>Action</a:t>
            </a:r>
            <a:endParaRPr lang="en-US" sz="1300" dirty="0"/>
          </a:p>
        </p:txBody>
      </p:sp>
      <p:sp>
        <p:nvSpPr>
          <p:cNvPr id="16" name="Text 12"/>
          <p:cNvSpPr txBox="1"/>
          <p:nvPr/>
        </p:nvSpPr>
        <p:spPr>
          <a:xfrm>
            <a:off x="4270248" y="2532888"/>
            <a:ext cx="7125919" cy="758952"/>
          </a:xfrm>
          <a:prstGeom prst="rect">
            <a:avLst/>
          </a:prstGeom>
          <a:noFill/>
          <a:ln/>
        </p:spPr>
        <p:txBody>
          <a:bodyPr wrap="square" lIns="0" tIns="0" rIns="0" bIns="0" rtlCol="0" anchor="ctr"/>
          <a:lstStyle/>
          <a:p>
            <a:pPr indent="0" marL="0">
              <a:lnSpc>
                <a:spcPct val="118000"/>
              </a:lnSpc>
              <a:buNone/>
            </a:pPr>
            <a:r>
              <a:rPr lang="en-US" sz="1080" dirty="0">
                <a:solidFill>
                  <a:srgbClr val="3A3F5C"/>
                </a:solidFill>
                <a:latin typeface="Calibri" pitchFamily="34" charset="0"/>
                <a:ea typeface="Calibri" pitchFamily="34" charset="-122"/>
                <a:cs typeface="Calibri" pitchFamily="34" charset="-120"/>
              </a:rPr>
              <a:t>15 outils Java ; chaque appel revalide le périmètre de l’utilisateur (AiAccessScope)</a:t>
            </a:r>
            <a:endParaRPr lang="en-US" sz="1080" dirty="0"/>
          </a:p>
        </p:txBody>
      </p:sp>
      <p:sp>
        <p:nvSpPr>
          <p:cNvPr id="17" name="Text 13"/>
          <p:cNvSpPr txBox="1"/>
          <p:nvPr/>
        </p:nvSpPr>
        <p:spPr>
          <a:xfrm>
            <a:off x="882396" y="3291840"/>
            <a:ext cx="274320" cy="146304"/>
          </a:xfrm>
          <a:prstGeom prst="rect">
            <a:avLst/>
          </a:prstGeom>
          <a:noFill/>
          <a:ln/>
        </p:spPr>
        <p:txBody>
          <a:bodyPr wrap="square" lIns="0" tIns="0" rIns="0" bIns="0" rtlCol="0" anchor="ctr"/>
          <a:lstStyle/>
          <a:p>
            <a:pPr algn="ctr" indent="0" marL="0">
              <a:buNone/>
            </a:pPr>
            <a:r>
              <a:rPr lang="en-US" sz="1200" dirty="0">
                <a:solidFill>
                  <a:srgbClr val="E3E7F3"/>
                </a:solidFill>
                <a:latin typeface="Calibri" pitchFamily="34" charset="0"/>
                <a:ea typeface="Calibri" pitchFamily="34" charset="-122"/>
                <a:cs typeface="Calibri" pitchFamily="34" charset="-120"/>
              </a:rPr>
              <a:t>↓</a:t>
            </a:r>
            <a:endParaRPr lang="en-US" sz="1200" dirty="0"/>
          </a:p>
        </p:txBody>
      </p:sp>
      <p:sp>
        <p:nvSpPr>
          <p:cNvPr id="18" name="Shape 14"/>
          <p:cNvSpPr/>
          <p:nvPr/>
        </p:nvSpPr>
        <p:spPr>
          <a:xfrm>
            <a:off x="566928" y="3419856"/>
            <a:ext cx="11057839" cy="758952"/>
          </a:xfrm>
          <a:prstGeom prst="roundRect">
            <a:avLst>
              <a:gd name="adj" fmla="val 963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9" name="Shape 15"/>
          <p:cNvSpPr/>
          <p:nvPr/>
        </p:nvSpPr>
        <p:spPr>
          <a:xfrm>
            <a:off x="768096" y="3547872"/>
            <a:ext cx="502920" cy="502920"/>
          </a:xfrm>
          <a:prstGeom prst="ellipse">
            <a:avLst/>
          </a:prstGeom>
          <a:solidFill>
            <a:srgbClr val="FF6B4A"/>
          </a:solidFill>
          <a:ln/>
        </p:spPr>
      </p:sp>
      <p:pic>
        <p:nvPicPr>
          <p:cNvPr id="20" name="Image 2" descr="C:\Users\yosrk\AppData\Local\Temp\claude\c--Users-yosrk-OneDrive-Bureau-RHpfe-Antigone-RH\f59fd8f1-a1b7-4e96-84d6-6d2a4296fa99\scratchpad\pfe-soutenance\icons\search.png">    </p:cNvPr>
          <p:cNvPicPr>
            <a:picLocks noChangeAspect="1"/>
          </p:cNvPicPr>
          <p:nvPr/>
        </p:nvPicPr>
        <p:blipFill>
          <a:blip r:embed="rId3"/>
          <a:stretch>
            <a:fillRect/>
          </a:stretch>
        </p:blipFill>
        <p:spPr>
          <a:xfrm>
            <a:off x="838505" y="3618281"/>
            <a:ext cx="362102" cy="362102"/>
          </a:xfrm>
          <a:prstGeom prst="rect">
            <a:avLst/>
          </a:prstGeom>
        </p:spPr>
      </p:pic>
      <p:sp>
        <p:nvSpPr>
          <p:cNvPr id="21" name="Text 16"/>
          <p:cNvSpPr txBox="1"/>
          <p:nvPr/>
        </p:nvSpPr>
        <p:spPr>
          <a:xfrm>
            <a:off x="1481328" y="3419856"/>
            <a:ext cx="2651760" cy="758952"/>
          </a:xfrm>
          <a:prstGeom prst="rect">
            <a:avLst/>
          </a:prstGeom>
          <a:noFill/>
          <a:ln/>
        </p:spPr>
        <p:txBody>
          <a:bodyPr wrap="square" lIns="0" tIns="0" rIns="0" bIns="0" rtlCol="0" anchor="ctr"/>
          <a:lstStyle/>
          <a:p>
            <a:pPr indent="0" marL="0">
              <a:lnSpc>
                <a:spcPct val="105000"/>
              </a:lnSpc>
              <a:buNone/>
            </a:pPr>
            <a:r>
              <a:rPr lang="en-US" sz="1300" b="1" dirty="0">
                <a:solidFill>
                  <a:srgbClr val="141B3C"/>
                </a:solidFill>
                <a:latin typeface="Calibri" pitchFamily="34" charset="0"/>
                <a:ea typeface="Calibri" pitchFamily="34" charset="-122"/>
                <a:cs typeface="Calibri" pitchFamily="34" charset="-120"/>
              </a:rPr>
              <a:t>Récupération — RAG hybride</a:t>
            </a:r>
            <a:endParaRPr lang="en-US" sz="1300" dirty="0"/>
          </a:p>
        </p:txBody>
      </p:sp>
      <p:sp>
        <p:nvSpPr>
          <p:cNvPr id="22" name="Text 17"/>
          <p:cNvSpPr txBox="1"/>
          <p:nvPr/>
        </p:nvSpPr>
        <p:spPr>
          <a:xfrm>
            <a:off x="4270248" y="3419856"/>
            <a:ext cx="7125919" cy="758952"/>
          </a:xfrm>
          <a:prstGeom prst="rect">
            <a:avLst/>
          </a:prstGeom>
          <a:noFill/>
          <a:ln/>
        </p:spPr>
        <p:txBody>
          <a:bodyPr wrap="square" lIns="0" tIns="0" rIns="0" bIns="0" rtlCol="0" anchor="ctr"/>
          <a:lstStyle/>
          <a:p>
            <a:pPr indent="0" marL="0">
              <a:lnSpc>
                <a:spcPct val="118000"/>
              </a:lnSpc>
              <a:buNone/>
            </a:pPr>
            <a:r>
              <a:rPr lang="en-US" sz="1080" dirty="0">
                <a:solidFill>
                  <a:srgbClr val="3A3F5C"/>
                </a:solidFill>
                <a:latin typeface="Calibri" pitchFamily="34" charset="0"/>
                <a:ea typeface="Calibri" pitchFamily="34" charset="-122"/>
                <a:cs typeface="Calibri" pitchFamily="34" charset="-120"/>
              </a:rPr>
              <a:t>Recherche dense (embeddings + pgvector) + lexicale (PostgreSQL) fusionnées par RRF (0.6 / 0.4)</a:t>
            </a:r>
            <a:endParaRPr lang="en-US" sz="1080" dirty="0"/>
          </a:p>
        </p:txBody>
      </p:sp>
      <p:sp>
        <p:nvSpPr>
          <p:cNvPr id="23" name="Text 18"/>
          <p:cNvSpPr txBox="1"/>
          <p:nvPr/>
        </p:nvSpPr>
        <p:spPr>
          <a:xfrm>
            <a:off x="882396" y="4178808"/>
            <a:ext cx="274320" cy="146304"/>
          </a:xfrm>
          <a:prstGeom prst="rect">
            <a:avLst/>
          </a:prstGeom>
          <a:noFill/>
          <a:ln/>
        </p:spPr>
        <p:txBody>
          <a:bodyPr wrap="square" lIns="0" tIns="0" rIns="0" bIns="0" rtlCol="0" anchor="ctr"/>
          <a:lstStyle/>
          <a:p>
            <a:pPr algn="ctr" indent="0" marL="0">
              <a:buNone/>
            </a:pPr>
            <a:r>
              <a:rPr lang="en-US" sz="1200" dirty="0">
                <a:solidFill>
                  <a:srgbClr val="E3E7F3"/>
                </a:solidFill>
                <a:latin typeface="Calibri" pitchFamily="34" charset="0"/>
                <a:ea typeface="Calibri" pitchFamily="34" charset="-122"/>
                <a:cs typeface="Calibri" pitchFamily="34" charset="-120"/>
              </a:rPr>
              <a:t>↓</a:t>
            </a:r>
            <a:endParaRPr lang="en-US" sz="1200" dirty="0"/>
          </a:p>
        </p:txBody>
      </p:sp>
      <p:sp>
        <p:nvSpPr>
          <p:cNvPr id="24" name="Shape 19"/>
          <p:cNvSpPr/>
          <p:nvPr/>
        </p:nvSpPr>
        <p:spPr>
          <a:xfrm>
            <a:off x="566928" y="4306824"/>
            <a:ext cx="11057839" cy="758952"/>
          </a:xfrm>
          <a:prstGeom prst="roundRect">
            <a:avLst>
              <a:gd name="adj" fmla="val 963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5" name="Shape 20"/>
          <p:cNvSpPr/>
          <p:nvPr/>
        </p:nvSpPr>
        <p:spPr>
          <a:xfrm>
            <a:off x="768096" y="4434840"/>
            <a:ext cx="502920" cy="502920"/>
          </a:xfrm>
          <a:prstGeom prst="ellipse">
            <a:avLst/>
          </a:prstGeom>
          <a:solidFill>
            <a:srgbClr val="17B8A6"/>
          </a:solidFill>
          <a:ln/>
        </p:spPr>
      </p:sp>
      <p:pic>
        <p:nvPicPr>
          <p:cNvPr id="26" name="Image 3" descr="C:\Users\yosrk\AppData\Local\Temp\claude\c--Users-yosrk-OneDrive-Bureau-RHpfe-Antigone-RH\f59fd8f1-a1b7-4e96-84d6-6d2a4296fa99\scratchpad\pfe-soutenance\icons\comments.png">    </p:cNvPr>
          <p:cNvPicPr>
            <a:picLocks noChangeAspect="1"/>
          </p:cNvPicPr>
          <p:nvPr/>
        </p:nvPicPr>
        <p:blipFill>
          <a:blip r:embed="rId4"/>
          <a:stretch>
            <a:fillRect/>
          </a:stretch>
        </p:blipFill>
        <p:spPr>
          <a:xfrm>
            <a:off x="838505" y="4505249"/>
            <a:ext cx="362102" cy="362102"/>
          </a:xfrm>
          <a:prstGeom prst="rect">
            <a:avLst/>
          </a:prstGeom>
        </p:spPr>
      </p:pic>
      <p:sp>
        <p:nvSpPr>
          <p:cNvPr id="27" name="Text 21"/>
          <p:cNvSpPr txBox="1"/>
          <p:nvPr/>
        </p:nvSpPr>
        <p:spPr>
          <a:xfrm>
            <a:off x="1481328" y="4306824"/>
            <a:ext cx="2651760" cy="758952"/>
          </a:xfrm>
          <a:prstGeom prst="rect">
            <a:avLst/>
          </a:prstGeom>
          <a:noFill/>
          <a:ln/>
        </p:spPr>
        <p:txBody>
          <a:bodyPr wrap="square" lIns="0" tIns="0" rIns="0" bIns="0" rtlCol="0" anchor="ctr"/>
          <a:lstStyle/>
          <a:p>
            <a:pPr indent="0" marL="0">
              <a:lnSpc>
                <a:spcPct val="105000"/>
              </a:lnSpc>
              <a:buNone/>
            </a:pPr>
            <a:r>
              <a:rPr lang="en-US" sz="1300" b="1" dirty="0">
                <a:solidFill>
                  <a:srgbClr val="141B3C"/>
                </a:solidFill>
                <a:latin typeface="Calibri" pitchFamily="34" charset="0"/>
                <a:ea typeface="Calibri" pitchFamily="34" charset="-122"/>
                <a:cs typeface="Calibri" pitchFamily="34" charset="-120"/>
              </a:rPr>
              <a:t>Mémoire</a:t>
            </a:r>
            <a:endParaRPr lang="en-US" sz="1300" dirty="0"/>
          </a:p>
        </p:txBody>
      </p:sp>
      <p:sp>
        <p:nvSpPr>
          <p:cNvPr id="28" name="Text 22"/>
          <p:cNvSpPr txBox="1"/>
          <p:nvPr/>
        </p:nvSpPr>
        <p:spPr>
          <a:xfrm>
            <a:off x="4270248" y="4306824"/>
            <a:ext cx="7125919" cy="758952"/>
          </a:xfrm>
          <a:prstGeom prst="rect">
            <a:avLst/>
          </a:prstGeom>
          <a:noFill/>
          <a:ln/>
        </p:spPr>
        <p:txBody>
          <a:bodyPr wrap="square" lIns="0" tIns="0" rIns="0" bIns="0" rtlCol="0" anchor="ctr"/>
          <a:lstStyle/>
          <a:p>
            <a:pPr indent="0" marL="0">
              <a:lnSpc>
                <a:spcPct val="118000"/>
              </a:lnSpc>
              <a:buNone/>
            </a:pPr>
            <a:r>
              <a:rPr lang="en-US" sz="1080" dirty="0">
                <a:solidFill>
                  <a:srgbClr val="3A3F5C"/>
                </a:solidFill>
                <a:latin typeface="Calibri" pitchFamily="34" charset="0"/>
                <a:ea typeface="Calibri" pitchFamily="34" charset="-122"/>
                <a:cs typeface="Calibri" pitchFamily="34" charset="-120"/>
              </a:rPr>
              <a:t>Fenêtre glissante (20 messages) + résumé cumulatif (150 mots), persistée en base</a:t>
            </a:r>
            <a:endParaRPr lang="en-US" sz="1080" dirty="0"/>
          </a:p>
        </p:txBody>
      </p:sp>
      <p:sp>
        <p:nvSpPr>
          <p:cNvPr id="29" name="Text 23"/>
          <p:cNvSpPr txBox="1"/>
          <p:nvPr/>
        </p:nvSpPr>
        <p:spPr>
          <a:xfrm>
            <a:off x="882396" y="5065776"/>
            <a:ext cx="274320" cy="146304"/>
          </a:xfrm>
          <a:prstGeom prst="rect">
            <a:avLst/>
          </a:prstGeom>
          <a:noFill/>
          <a:ln/>
        </p:spPr>
        <p:txBody>
          <a:bodyPr wrap="square" lIns="0" tIns="0" rIns="0" bIns="0" rtlCol="0" anchor="ctr"/>
          <a:lstStyle/>
          <a:p>
            <a:pPr algn="ctr" indent="0" marL="0">
              <a:buNone/>
            </a:pPr>
            <a:r>
              <a:rPr lang="en-US" sz="1200" dirty="0">
                <a:solidFill>
                  <a:srgbClr val="E3E7F3"/>
                </a:solidFill>
                <a:latin typeface="Calibri" pitchFamily="34" charset="0"/>
                <a:ea typeface="Calibri" pitchFamily="34" charset="-122"/>
                <a:cs typeface="Calibri" pitchFamily="34" charset="-120"/>
              </a:rPr>
              <a:t>↓</a:t>
            </a:r>
            <a:endParaRPr lang="en-US" sz="1200" dirty="0"/>
          </a:p>
        </p:txBody>
      </p:sp>
      <p:sp>
        <p:nvSpPr>
          <p:cNvPr id="30" name="Shape 24"/>
          <p:cNvSpPr/>
          <p:nvPr/>
        </p:nvSpPr>
        <p:spPr>
          <a:xfrm>
            <a:off x="566928" y="5193792"/>
            <a:ext cx="11057839" cy="758952"/>
          </a:xfrm>
          <a:prstGeom prst="roundRect">
            <a:avLst>
              <a:gd name="adj" fmla="val 9639"/>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31" name="Shape 25"/>
          <p:cNvSpPr/>
          <p:nvPr/>
        </p:nvSpPr>
        <p:spPr>
          <a:xfrm>
            <a:off x="768096" y="5321808"/>
            <a:ext cx="502920" cy="502920"/>
          </a:xfrm>
          <a:prstGeom prst="ellipse">
            <a:avLst/>
          </a:prstGeom>
          <a:solidFill>
            <a:srgbClr val="141B3C"/>
          </a:solidFill>
          <a:ln/>
        </p:spPr>
      </p:sp>
      <p:pic>
        <p:nvPicPr>
          <p:cNvPr id="32" name="Image 4" descr="C:\Users\yosrk\AppData\Local\Temp\claude\c--Users-yosrk-OneDrive-Bureau-RHpfe-Antigone-RH\f59fd8f1-a1b7-4e96-84d6-6d2a4296fa99\scratchpad\pfe-soutenance\icons\bolt.png">    </p:cNvPr>
          <p:cNvPicPr>
            <a:picLocks noChangeAspect="1"/>
          </p:cNvPicPr>
          <p:nvPr/>
        </p:nvPicPr>
        <p:blipFill>
          <a:blip r:embed="rId5"/>
          <a:stretch>
            <a:fillRect/>
          </a:stretch>
        </p:blipFill>
        <p:spPr>
          <a:xfrm>
            <a:off x="838505" y="5392217"/>
            <a:ext cx="362102" cy="362102"/>
          </a:xfrm>
          <a:prstGeom prst="rect">
            <a:avLst/>
          </a:prstGeom>
        </p:spPr>
      </p:pic>
      <p:sp>
        <p:nvSpPr>
          <p:cNvPr id="33" name="Text 26"/>
          <p:cNvSpPr txBox="1"/>
          <p:nvPr/>
        </p:nvSpPr>
        <p:spPr>
          <a:xfrm>
            <a:off x="1481328" y="5193792"/>
            <a:ext cx="2651760" cy="758952"/>
          </a:xfrm>
          <a:prstGeom prst="rect">
            <a:avLst/>
          </a:prstGeom>
          <a:noFill/>
          <a:ln/>
        </p:spPr>
        <p:txBody>
          <a:bodyPr wrap="square" lIns="0" tIns="0" rIns="0" bIns="0" rtlCol="0" anchor="ctr"/>
          <a:lstStyle/>
          <a:p>
            <a:pPr indent="0" marL="0">
              <a:lnSpc>
                <a:spcPct val="105000"/>
              </a:lnSpc>
              <a:buNone/>
            </a:pPr>
            <a:r>
              <a:rPr lang="en-US" sz="1300" b="1" dirty="0">
                <a:solidFill>
                  <a:srgbClr val="141B3C"/>
                </a:solidFill>
                <a:latin typeface="Calibri" pitchFamily="34" charset="0"/>
                <a:ea typeface="Calibri" pitchFamily="34" charset="-122"/>
                <a:cs typeface="Calibri" pitchFamily="34" charset="-120"/>
              </a:rPr>
              <a:t>Livraison</a:t>
            </a:r>
            <a:endParaRPr lang="en-US" sz="1300" dirty="0"/>
          </a:p>
        </p:txBody>
      </p:sp>
      <p:sp>
        <p:nvSpPr>
          <p:cNvPr id="34" name="Text 27"/>
          <p:cNvSpPr txBox="1"/>
          <p:nvPr/>
        </p:nvSpPr>
        <p:spPr>
          <a:xfrm>
            <a:off x="4270248" y="5193792"/>
            <a:ext cx="7125919" cy="758952"/>
          </a:xfrm>
          <a:prstGeom prst="rect">
            <a:avLst/>
          </a:prstGeom>
          <a:noFill/>
          <a:ln/>
        </p:spPr>
        <p:txBody>
          <a:bodyPr wrap="square" lIns="0" tIns="0" rIns="0" bIns="0" rtlCol="0" anchor="ctr"/>
          <a:lstStyle/>
          <a:p>
            <a:pPr indent="0" marL="0">
              <a:lnSpc>
                <a:spcPct val="118000"/>
              </a:lnSpc>
              <a:buNone/>
            </a:pPr>
            <a:r>
              <a:rPr lang="en-US" sz="1080" dirty="0">
                <a:solidFill>
                  <a:srgbClr val="3A3F5C"/>
                </a:solidFill>
                <a:latin typeface="Calibri" pitchFamily="34" charset="0"/>
                <a:ea typeface="Calibri" pitchFamily="34" charset="-122"/>
                <a:cs typeface="Calibri" pitchFamily="34" charset="-120"/>
              </a:rPr>
              <a:t>Streaming Server-Sent Events + widget React partagé entre les 3 frontends</a:t>
            </a:r>
            <a:endParaRPr lang="en-US" sz="1080" dirty="0"/>
          </a:p>
        </p:txBody>
      </p:sp>
      <p:sp>
        <p:nvSpPr>
          <p:cNvPr id="35" name="Text 28"/>
          <p:cNvSpPr txBox="1"/>
          <p:nvPr/>
        </p:nvSpPr>
        <p:spPr>
          <a:xfrm>
            <a:off x="566928" y="6099048"/>
            <a:ext cx="11057839" cy="292608"/>
          </a:xfrm>
          <a:prstGeom prst="rect">
            <a:avLst/>
          </a:prstGeom>
          <a:noFill/>
          <a:ln/>
        </p:spPr>
        <p:txBody>
          <a:bodyPr wrap="square" lIns="0" tIns="0" rIns="0" bIns="0" rtlCol="0" anchor="ctr"/>
          <a:lstStyle/>
          <a:p>
            <a:pPr indent="0" marL="0">
              <a:buNone/>
            </a:pPr>
            <a:r>
              <a:rPr lang="en-US" sz="1000" i="1" dirty="0">
                <a:solidFill>
                  <a:srgbClr val="767CA0"/>
                </a:solidFill>
                <a:latin typeface="Calibri" pitchFamily="34" charset="0"/>
                <a:ea typeface="Calibri" pitchFamily="34" charset="-122"/>
                <a:cs typeface="Calibri" pitchFamily="34" charset="-120"/>
              </a:rPr>
              <a:t>Boucle Action ↔ Récupération à chaque appel d’outil ; la Mémoire alimente le Raisonnement à chaque tour de conversation.</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21</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 — RELEASE 5</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Informatique décisionnelle (BI)</a:t>
            </a:r>
            <a:endParaRPr lang="en-US" sz="3000" dirty="0"/>
          </a:p>
        </p:txBody>
      </p:sp>
      <p:sp>
        <p:nvSpPr>
          <p:cNvPr id="6" name="Text 4"/>
          <p:cNvSpPr txBox="1"/>
          <p:nvPr/>
        </p:nvSpPr>
        <p:spPr>
          <a:xfrm>
            <a:off x="566928" y="1691640"/>
            <a:ext cx="5623560" cy="2377440"/>
          </a:xfrm>
          <a:prstGeom prst="rect">
            <a:avLst/>
          </a:prstGeom>
          <a:noFill/>
          <a:ln/>
        </p:spPr>
        <p:txBody>
          <a:bodyPr wrap="square" lIns="0" tIns="0" rIns="0" bIns="0" rtlCol="0" anchor="ctr"/>
          <a:lstStyle/>
          <a:p>
            <a:pPr marL="177800" indent="-177800">
              <a:lnSpc>
                <a:spcPct val="128000"/>
              </a:lnSpc>
              <a:spcAft>
                <a:spcPts val="1300"/>
              </a:spcAft>
              <a:buSzPct val="100000"/>
              <a:buChar char="•"/>
            </a:pPr>
            <a:r>
              <a:rPr lang="en-US" sz="1250" dirty="0">
                <a:solidFill>
                  <a:srgbClr val="3A3F5C"/>
                </a:solidFill>
                <a:latin typeface="Calibri" pitchFamily="34" charset="0"/>
                <a:ea typeface="Calibri" pitchFamily="34" charset="-122"/>
                <a:cs typeface="Calibri" pitchFamily="34" charset="-120"/>
              </a:rPr>
              <a:t>Entrepôt de données séparé du schéma transactionnel, modélisé en étoile (Kimball) : 4 dimensions conformes + 6 tables de faits.</a:t>
            </a:r>
            <a:endParaRPr lang="en-US" sz="1250" dirty="0"/>
          </a:p>
          <a:p>
            <a:pPr marL="177800" indent="-177800">
              <a:lnSpc>
                <a:spcPct val="128000"/>
              </a:lnSpc>
              <a:spcAft>
                <a:spcPts val="1300"/>
              </a:spcAft>
              <a:buSzPct val="100000"/>
              <a:buChar char="•"/>
            </a:pPr>
            <a:r>
              <a:rPr lang="en-US" sz="1250" dirty="0">
                <a:solidFill>
                  <a:srgbClr val="3A3F5C"/>
                </a:solidFill>
                <a:latin typeface="Calibri" pitchFamily="34" charset="0"/>
                <a:ea typeface="Calibri" pitchFamily="34" charset="-122"/>
                <a:cs typeface="Calibri" pitchFamily="34" charset="-120"/>
              </a:rPr>
              <a:t>Rechargement complet chaque nuit à 02h30 (procédure PL/pgSQL), déclenchement manuel possible pour l’administrateur.</a:t>
            </a:r>
            <a:endParaRPr lang="en-US" sz="1250" dirty="0"/>
          </a:p>
          <a:p>
            <a:pPr marL="177800" indent="-177800">
              <a:lnSpc>
                <a:spcPct val="128000"/>
              </a:lnSpc>
              <a:spcAft>
                <a:spcPts val="1300"/>
              </a:spcAft>
              <a:buSzPct val="100000"/>
              <a:buChar char="•"/>
            </a:pPr>
            <a:r>
              <a:rPr lang="en-US" sz="1250" dirty="0">
                <a:solidFill>
                  <a:srgbClr val="3A3F5C"/>
                </a:solidFill>
                <a:latin typeface="Calibri" pitchFamily="34" charset="0"/>
                <a:ea typeface="Calibri" pitchFamily="34" charset="-122"/>
                <a:cs typeface="Calibri" pitchFamily="34" charset="-120"/>
              </a:rPr>
              <a:t>Double restitution d’une source unique de vérité : 3 pages « Analytique » (RH, Finance, Projets) et un rapport Power BI branché sur le même schéma.</a:t>
            </a:r>
            <a:endParaRPr lang="en-US" sz="1250" dirty="0"/>
          </a:p>
        </p:txBody>
      </p:sp>
      <p:sp>
        <p:nvSpPr>
          <p:cNvPr id="7" name="Shape 5"/>
          <p:cNvSpPr/>
          <p:nvPr/>
        </p:nvSpPr>
        <p:spPr>
          <a:xfrm>
            <a:off x="566928" y="4343400"/>
            <a:ext cx="5623560" cy="731520"/>
          </a:xfrm>
          <a:prstGeom prst="roundRect">
            <a:avLst>
              <a:gd name="adj" fmla="val 10000"/>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8" name="Text 6"/>
          <p:cNvSpPr txBox="1"/>
          <p:nvPr/>
        </p:nvSpPr>
        <p:spPr>
          <a:xfrm>
            <a:off x="749808" y="4343400"/>
            <a:ext cx="1371600" cy="7315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4 + 6</a:t>
            </a:r>
            <a:endParaRPr lang="en-US" sz="2200" dirty="0"/>
          </a:p>
        </p:txBody>
      </p:sp>
      <p:sp>
        <p:nvSpPr>
          <p:cNvPr id="9" name="Text 7"/>
          <p:cNvSpPr txBox="1"/>
          <p:nvPr/>
        </p:nvSpPr>
        <p:spPr>
          <a:xfrm>
            <a:off x="2167128" y="4343400"/>
            <a:ext cx="3749040" cy="73152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dimensions &amp; tables de faits</a:t>
            </a:r>
            <a:endParaRPr lang="en-US" sz="1200" dirty="0"/>
          </a:p>
        </p:txBody>
      </p:sp>
      <p:sp>
        <p:nvSpPr>
          <p:cNvPr id="10" name="Shape 8"/>
          <p:cNvSpPr/>
          <p:nvPr/>
        </p:nvSpPr>
        <p:spPr>
          <a:xfrm>
            <a:off x="566928" y="5212080"/>
            <a:ext cx="5623560" cy="731520"/>
          </a:xfrm>
          <a:prstGeom prst="roundRect">
            <a:avLst>
              <a:gd name="adj" fmla="val 10000"/>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1" name="Text 9"/>
          <p:cNvSpPr txBox="1"/>
          <p:nvPr/>
        </p:nvSpPr>
        <p:spPr>
          <a:xfrm>
            <a:off x="749808" y="5212080"/>
            <a:ext cx="1371600" cy="731520"/>
          </a:xfrm>
          <a:prstGeom prst="rect">
            <a:avLst/>
          </a:prstGeom>
          <a:noFill/>
          <a:ln/>
        </p:spPr>
        <p:txBody>
          <a:bodyPr wrap="square" lIns="0" tIns="0" rIns="0" bIns="0" rtlCol="0" anchor="ctr"/>
          <a:lstStyle/>
          <a:p>
            <a:pPr indent="0" marL="0">
              <a:buNone/>
            </a:pPr>
            <a:r>
              <a:rPr lang="en-US" sz="2200" b="1" dirty="0">
                <a:solidFill>
                  <a:srgbClr val="FF6B4A"/>
                </a:solidFill>
                <a:latin typeface="Cambria" pitchFamily="34" charset="0"/>
                <a:ea typeface="Cambria" pitchFamily="34" charset="-122"/>
                <a:cs typeface="Cambria" pitchFamily="34" charset="-120"/>
              </a:rPr>
              <a:t>02h30</a:t>
            </a:r>
            <a:endParaRPr lang="en-US" sz="2200" dirty="0"/>
          </a:p>
        </p:txBody>
      </p:sp>
      <p:sp>
        <p:nvSpPr>
          <p:cNvPr id="12" name="Text 10"/>
          <p:cNvSpPr txBox="1"/>
          <p:nvPr/>
        </p:nvSpPr>
        <p:spPr>
          <a:xfrm>
            <a:off x="2167128" y="5212080"/>
            <a:ext cx="3749040" cy="731520"/>
          </a:xfrm>
          <a:prstGeom prst="rect">
            <a:avLst/>
          </a:prstGeom>
          <a:noFill/>
          <a:ln/>
        </p:spPr>
        <p:txBody>
          <a:bodyPr wrap="square" lIns="0" tIns="0" rIns="0" bIns="0" rtlCol="0" anchor="ctr"/>
          <a:lstStyle/>
          <a:p>
            <a:pPr indent="0" marL="0">
              <a:buNone/>
            </a:pPr>
            <a:r>
              <a:rPr lang="en-US" sz="1200" b="1" dirty="0">
                <a:solidFill>
                  <a:srgbClr val="141B3C"/>
                </a:solidFill>
                <a:latin typeface="Calibri" pitchFamily="34" charset="0"/>
                <a:ea typeface="Calibri" pitchFamily="34" charset="-122"/>
                <a:cs typeface="Calibri" pitchFamily="34" charset="-120"/>
              </a:rPr>
              <a:t>rechargement ETL nocturne</a:t>
            </a:r>
            <a:endParaRPr lang="en-US" sz="1200" dirty="0"/>
          </a:p>
        </p:txBody>
      </p:sp>
      <p:sp>
        <p:nvSpPr>
          <p:cNvPr id="13" name="Shape 11"/>
          <p:cNvSpPr/>
          <p:nvPr/>
        </p:nvSpPr>
        <p:spPr>
          <a:xfrm>
            <a:off x="8997696" y="2240280"/>
            <a:ext cx="18288" cy="1554480"/>
          </a:xfrm>
          <a:prstGeom prst="rect">
            <a:avLst/>
          </a:prstGeom>
          <a:solidFill>
            <a:srgbClr val="E3E7F3"/>
          </a:solidFill>
          <a:ln/>
        </p:spPr>
      </p:sp>
      <p:sp>
        <p:nvSpPr>
          <p:cNvPr id="14" name="Shape 12"/>
          <p:cNvSpPr/>
          <p:nvPr/>
        </p:nvSpPr>
        <p:spPr>
          <a:xfrm>
            <a:off x="8997696" y="4251960"/>
            <a:ext cx="18288" cy="1371600"/>
          </a:xfrm>
          <a:prstGeom prst="rect">
            <a:avLst/>
          </a:prstGeom>
          <a:solidFill>
            <a:srgbClr val="E3E7F3"/>
          </a:solidFill>
          <a:ln/>
        </p:spPr>
      </p:sp>
      <p:sp>
        <p:nvSpPr>
          <p:cNvPr id="15" name="Shape 13"/>
          <p:cNvSpPr/>
          <p:nvPr/>
        </p:nvSpPr>
        <p:spPr>
          <a:xfrm>
            <a:off x="7818120" y="4014216"/>
            <a:ext cx="411480" cy="18288"/>
          </a:xfrm>
          <a:prstGeom prst="rect">
            <a:avLst/>
          </a:prstGeom>
          <a:solidFill>
            <a:srgbClr val="E3E7F3"/>
          </a:solidFill>
          <a:ln/>
        </p:spPr>
      </p:sp>
      <p:sp>
        <p:nvSpPr>
          <p:cNvPr id="16" name="Shape 14"/>
          <p:cNvSpPr/>
          <p:nvPr/>
        </p:nvSpPr>
        <p:spPr>
          <a:xfrm>
            <a:off x="9784080" y="4014216"/>
            <a:ext cx="228600" cy="18288"/>
          </a:xfrm>
          <a:prstGeom prst="rect">
            <a:avLst/>
          </a:prstGeom>
          <a:solidFill>
            <a:srgbClr val="E3E7F3"/>
          </a:solidFill>
          <a:ln/>
        </p:spPr>
      </p:sp>
      <p:sp>
        <p:nvSpPr>
          <p:cNvPr id="17" name="Shape 15"/>
          <p:cNvSpPr/>
          <p:nvPr/>
        </p:nvSpPr>
        <p:spPr>
          <a:xfrm>
            <a:off x="8229600" y="1783080"/>
            <a:ext cx="1554480" cy="457200"/>
          </a:xfrm>
          <a:prstGeom prst="roundRect">
            <a:avLst>
              <a:gd name="adj" fmla="val 12000"/>
            </a:avLst>
          </a:prstGeom>
          <a:solidFill>
            <a:srgbClr val="1E2761"/>
          </a:solidFill>
          <a:ln/>
        </p:spPr>
      </p:sp>
      <p:sp>
        <p:nvSpPr>
          <p:cNvPr id="18" name="Text 16"/>
          <p:cNvSpPr txBox="1"/>
          <p:nvPr/>
        </p:nvSpPr>
        <p:spPr>
          <a:xfrm>
            <a:off x="8229600" y="1783080"/>
            <a:ext cx="155448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dim_date</a:t>
            </a:r>
            <a:endParaRPr lang="en-US" sz="950" dirty="0"/>
          </a:p>
        </p:txBody>
      </p:sp>
      <p:sp>
        <p:nvSpPr>
          <p:cNvPr id="19" name="Shape 17"/>
          <p:cNvSpPr/>
          <p:nvPr/>
        </p:nvSpPr>
        <p:spPr>
          <a:xfrm>
            <a:off x="8229600" y="5623560"/>
            <a:ext cx="1554480" cy="457200"/>
          </a:xfrm>
          <a:prstGeom prst="roundRect">
            <a:avLst>
              <a:gd name="adj" fmla="val 12000"/>
            </a:avLst>
          </a:prstGeom>
          <a:solidFill>
            <a:srgbClr val="1E2761"/>
          </a:solidFill>
          <a:ln/>
        </p:spPr>
      </p:sp>
      <p:sp>
        <p:nvSpPr>
          <p:cNvPr id="20" name="Text 18"/>
          <p:cNvSpPr txBox="1"/>
          <p:nvPr/>
        </p:nvSpPr>
        <p:spPr>
          <a:xfrm>
            <a:off x="8229600" y="5623560"/>
            <a:ext cx="155448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dim_projet</a:t>
            </a:r>
            <a:endParaRPr lang="en-US" sz="950" dirty="0"/>
          </a:p>
        </p:txBody>
      </p:sp>
      <p:sp>
        <p:nvSpPr>
          <p:cNvPr id="21" name="Shape 19"/>
          <p:cNvSpPr/>
          <p:nvPr/>
        </p:nvSpPr>
        <p:spPr>
          <a:xfrm>
            <a:off x="6263640" y="3794760"/>
            <a:ext cx="1554480" cy="457200"/>
          </a:xfrm>
          <a:prstGeom prst="roundRect">
            <a:avLst>
              <a:gd name="adj" fmla="val 12000"/>
            </a:avLst>
          </a:prstGeom>
          <a:solidFill>
            <a:srgbClr val="1E2761"/>
          </a:solidFill>
          <a:ln/>
        </p:spPr>
      </p:sp>
      <p:sp>
        <p:nvSpPr>
          <p:cNvPr id="22" name="Text 20"/>
          <p:cNvSpPr txBox="1"/>
          <p:nvPr/>
        </p:nvSpPr>
        <p:spPr>
          <a:xfrm>
            <a:off x="6263640" y="3794760"/>
            <a:ext cx="155448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dim_employe</a:t>
            </a:r>
            <a:endParaRPr lang="en-US" sz="950" dirty="0"/>
          </a:p>
        </p:txBody>
      </p:sp>
      <p:sp>
        <p:nvSpPr>
          <p:cNvPr id="23" name="Shape 21"/>
          <p:cNvSpPr/>
          <p:nvPr/>
        </p:nvSpPr>
        <p:spPr>
          <a:xfrm>
            <a:off x="10012680" y="3794760"/>
            <a:ext cx="1554480" cy="457200"/>
          </a:xfrm>
          <a:prstGeom prst="roundRect">
            <a:avLst>
              <a:gd name="adj" fmla="val 12000"/>
            </a:avLst>
          </a:prstGeom>
          <a:solidFill>
            <a:srgbClr val="1E2761"/>
          </a:solidFill>
          <a:ln/>
        </p:spPr>
      </p:sp>
      <p:sp>
        <p:nvSpPr>
          <p:cNvPr id="24" name="Text 22"/>
          <p:cNvSpPr txBox="1"/>
          <p:nvPr/>
        </p:nvSpPr>
        <p:spPr>
          <a:xfrm>
            <a:off x="10012680" y="3794760"/>
            <a:ext cx="155448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dim_client</a:t>
            </a:r>
            <a:endParaRPr lang="en-US" sz="950" dirty="0"/>
          </a:p>
        </p:txBody>
      </p:sp>
      <p:sp>
        <p:nvSpPr>
          <p:cNvPr id="25" name="Shape 23"/>
          <p:cNvSpPr/>
          <p:nvPr/>
        </p:nvSpPr>
        <p:spPr>
          <a:xfrm>
            <a:off x="8229600" y="3794760"/>
            <a:ext cx="1554480" cy="457200"/>
          </a:xfrm>
          <a:prstGeom prst="roundRect">
            <a:avLst>
              <a:gd name="adj" fmla="val 16000"/>
            </a:avLst>
          </a:prstGeom>
          <a:solidFill>
            <a:srgbClr val="FF6B4A"/>
          </a:solidFill>
          <a:ln/>
        </p:spPr>
      </p:sp>
      <p:sp>
        <p:nvSpPr>
          <p:cNvPr id="26" name="Text 24"/>
          <p:cNvSpPr txBox="1"/>
          <p:nvPr/>
        </p:nvSpPr>
        <p:spPr>
          <a:xfrm>
            <a:off x="8229600" y="3794760"/>
            <a:ext cx="155448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 tables de FAITS</a:t>
            </a:r>
            <a:endParaRPr lang="en-US" sz="900" dirty="0"/>
          </a:p>
        </p:txBody>
      </p:sp>
      <p:sp>
        <p:nvSpPr>
          <p:cNvPr id="27" name="Text 25"/>
          <p:cNvSpPr txBox="1"/>
          <p:nvPr/>
        </p:nvSpPr>
        <p:spPr>
          <a:xfrm>
            <a:off x="6263640" y="6172200"/>
            <a:ext cx="5303520" cy="274320"/>
          </a:xfrm>
          <a:prstGeom prst="rect">
            <a:avLst/>
          </a:prstGeom>
          <a:noFill/>
          <a:ln/>
        </p:spPr>
        <p:txBody>
          <a:bodyPr wrap="square" lIns="0" tIns="0" rIns="0" bIns="0" rtlCol="0" anchor="ctr"/>
          <a:lstStyle/>
          <a:p>
            <a:pPr algn="ctr" indent="0" marL="0">
              <a:buNone/>
            </a:pPr>
            <a:r>
              <a:rPr lang="en-US" sz="950" i="1" dirty="0">
                <a:solidFill>
                  <a:srgbClr val="767CA0"/>
                </a:solidFill>
                <a:latin typeface="Calibri" pitchFamily="34" charset="0"/>
                <a:ea typeface="Calibri" pitchFamily="34" charset="-122"/>
                <a:cs typeface="Calibri" pitchFamily="34" charset="-120"/>
              </a:rPr>
              <a:t>Modèle en étoile — schéma dwh</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B3C"/>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6E76A8"/>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6E76A8"/>
                </a:solidFill>
                <a:latin typeface="Calibri" pitchFamily="34" charset="0"/>
                <a:ea typeface="Calibri" pitchFamily="34" charset="-122"/>
                <a:cs typeface="Calibri" pitchFamily="34" charset="-120"/>
              </a:rPr>
              <a:t>22</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08 · RÉALISATION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Démonstration en direct</a:t>
            </a:r>
            <a:endParaRPr lang="en-US" sz="3000" dirty="0"/>
          </a:p>
        </p:txBody>
      </p:sp>
      <p:sp>
        <p:nvSpPr>
          <p:cNvPr id="6" name="Shape 4"/>
          <p:cNvSpPr/>
          <p:nvPr/>
        </p:nvSpPr>
        <p:spPr>
          <a:xfrm>
            <a:off x="566928" y="1737360"/>
            <a:ext cx="5414620" cy="1920240"/>
          </a:xfrm>
          <a:prstGeom prst="roundRect">
            <a:avLst>
              <a:gd name="adj" fmla="val 4286"/>
            </a:avLst>
          </a:prstGeom>
          <a:solidFill>
            <a:srgbClr val="1E2761"/>
          </a:solidFill>
          <a:ln w="12700">
            <a:solidFill>
              <a:srgbClr val="272F55"/>
            </a:solidFill>
            <a:prstDash val="solid"/>
          </a:ln>
        </p:spPr>
      </p:sp>
      <p:sp>
        <p:nvSpPr>
          <p:cNvPr id="7" name="Shape 5"/>
          <p:cNvSpPr/>
          <p:nvPr/>
        </p:nvSpPr>
        <p:spPr>
          <a:xfrm>
            <a:off x="822960" y="1993392"/>
            <a:ext cx="566928" cy="566928"/>
          </a:xfrm>
          <a:prstGeom prst="ellipse">
            <a:avLst/>
          </a:prstGeom>
          <a:solidFill>
            <a:srgbClr val="FF6B4A"/>
          </a:solidFill>
          <a:ln/>
        </p:spPr>
      </p:sp>
      <p:pic>
        <p:nvPicPr>
          <p:cNvPr id="8" name="Image 0" descr="C:\Users\yosrk\AppData\Local\Temp\claude\c--Users-yosrk-OneDrive-Bureau-RHpfe-Antigone-RH\f59fd8f1-a1b7-4e96-84d6-6d2a4296fa99\scratchpad\pfe-soutenance\icons\calendar.png">    </p:cNvPr>
          <p:cNvPicPr>
            <a:picLocks noChangeAspect="1"/>
          </p:cNvPicPr>
          <p:nvPr/>
        </p:nvPicPr>
        <p:blipFill>
          <a:blip r:embed="rId1"/>
          <a:stretch>
            <a:fillRect/>
          </a:stretch>
        </p:blipFill>
        <p:spPr>
          <a:xfrm>
            <a:off x="902330" y="2072762"/>
            <a:ext cx="408188" cy="408188"/>
          </a:xfrm>
          <a:prstGeom prst="rect">
            <a:avLst/>
          </a:prstGeom>
        </p:spPr>
      </p:pic>
      <p:sp>
        <p:nvSpPr>
          <p:cNvPr id="9" name="Text 6"/>
          <p:cNvSpPr txBox="1"/>
          <p:nvPr/>
        </p:nvSpPr>
        <p:spPr>
          <a:xfrm>
            <a:off x="5158588" y="1938528"/>
            <a:ext cx="594360" cy="365760"/>
          </a:xfrm>
          <a:prstGeom prst="rect">
            <a:avLst/>
          </a:prstGeom>
          <a:noFill/>
          <a:ln/>
        </p:spPr>
        <p:txBody>
          <a:bodyPr wrap="square" lIns="0" tIns="0" rIns="0" bIns="0" rtlCol="0" anchor="ctr"/>
          <a:lstStyle/>
          <a:p>
            <a:pPr algn="r" indent="0" marL="0">
              <a:buNone/>
            </a:pPr>
            <a:r>
              <a:rPr lang="en-US" sz="1800" b="1" dirty="0">
                <a:solidFill>
                  <a:srgbClr val="272F55"/>
                </a:solidFill>
                <a:latin typeface="Cambria" pitchFamily="34" charset="0"/>
                <a:ea typeface="Cambria" pitchFamily="34" charset="-122"/>
                <a:cs typeface="Cambria" pitchFamily="34" charset="-120"/>
              </a:rPr>
              <a:t>01</a:t>
            </a:r>
            <a:endParaRPr lang="en-US" sz="1800" dirty="0"/>
          </a:p>
        </p:txBody>
      </p:sp>
      <p:sp>
        <p:nvSpPr>
          <p:cNvPr id="10" name="Text 7"/>
          <p:cNvSpPr txBox="1"/>
          <p:nvPr/>
        </p:nvSpPr>
        <p:spPr>
          <a:xfrm>
            <a:off x="822960" y="2697480"/>
            <a:ext cx="4902556"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Parcours employé</a:t>
            </a:r>
            <a:endParaRPr lang="en-US" sz="1400" dirty="0"/>
          </a:p>
        </p:txBody>
      </p:sp>
      <p:sp>
        <p:nvSpPr>
          <p:cNvPr id="11" name="Text 8"/>
          <p:cNvSpPr txBox="1"/>
          <p:nvPr/>
        </p:nvSpPr>
        <p:spPr>
          <a:xfrm>
            <a:off x="822960" y="3063240"/>
            <a:ext cx="4902556" cy="530352"/>
          </a:xfrm>
          <a:prstGeom prst="rect">
            <a:avLst/>
          </a:prstGeom>
          <a:noFill/>
          <a:ln/>
        </p:spPr>
        <p:txBody>
          <a:bodyPr wrap="square" lIns="0" tIns="0" rIns="0" bIns="0" rtlCol="0" anchor="ctr"/>
          <a:lstStyle/>
          <a:p>
            <a:pPr indent="0" marL="0">
              <a:lnSpc>
                <a:spcPct val="120000"/>
              </a:lnSpc>
              <a:buNone/>
            </a:pPr>
            <a:r>
              <a:rPr lang="en-US" sz="1080" dirty="0">
                <a:solidFill>
                  <a:srgbClr val="B9C6EE"/>
                </a:solidFill>
                <a:latin typeface="Calibri" pitchFamily="34" charset="0"/>
                <a:ea typeface="Calibri" pitchFamily="34" charset="-122"/>
                <a:cs typeface="Calibri" pitchFamily="34" charset="-120"/>
              </a:rPr>
              <a:t>Connexion → dépôt d’une demande de congé → validation par le responsable</a:t>
            </a:r>
            <a:endParaRPr lang="en-US" sz="1080" dirty="0"/>
          </a:p>
        </p:txBody>
      </p:sp>
      <p:sp>
        <p:nvSpPr>
          <p:cNvPr id="12" name="Shape 9"/>
          <p:cNvSpPr/>
          <p:nvPr/>
        </p:nvSpPr>
        <p:spPr>
          <a:xfrm>
            <a:off x="6210148" y="1737360"/>
            <a:ext cx="5414620" cy="1920240"/>
          </a:xfrm>
          <a:prstGeom prst="roundRect">
            <a:avLst>
              <a:gd name="adj" fmla="val 4286"/>
            </a:avLst>
          </a:prstGeom>
          <a:solidFill>
            <a:srgbClr val="1E2761"/>
          </a:solidFill>
          <a:ln w="12700">
            <a:solidFill>
              <a:srgbClr val="272F55"/>
            </a:solidFill>
            <a:prstDash val="solid"/>
          </a:ln>
        </p:spPr>
      </p:sp>
      <p:sp>
        <p:nvSpPr>
          <p:cNvPr id="13" name="Shape 10"/>
          <p:cNvSpPr/>
          <p:nvPr/>
        </p:nvSpPr>
        <p:spPr>
          <a:xfrm>
            <a:off x="6466180" y="1993392"/>
            <a:ext cx="566928" cy="566928"/>
          </a:xfrm>
          <a:prstGeom prst="ellipse">
            <a:avLst/>
          </a:prstGeom>
          <a:solidFill>
            <a:srgbClr val="FF6B4A"/>
          </a:solidFill>
          <a:ln/>
        </p:spPr>
      </p:sp>
      <p:pic>
        <p:nvPicPr>
          <p:cNvPr id="14" name="Image 1" descr="C:\Users\yosrk\AppData\Local\Temp\claude\c--Users-yosrk-OneDrive-Bureau-RHpfe-Antigone-RH\f59fd8f1-a1b7-4e96-84d6-6d2a4296fa99\scratchpad\pfe-soutenance\icons\briefcase.png">    </p:cNvPr>
          <p:cNvPicPr>
            <a:picLocks noChangeAspect="1"/>
          </p:cNvPicPr>
          <p:nvPr/>
        </p:nvPicPr>
        <p:blipFill>
          <a:blip r:embed="rId2"/>
          <a:stretch>
            <a:fillRect/>
          </a:stretch>
        </p:blipFill>
        <p:spPr>
          <a:xfrm>
            <a:off x="6545550" y="2072762"/>
            <a:ext cx="408188" cy="408188"/>
          </a:xfrm>
          <a:prstGeom prst="rect">
            <a:avLst/>
          </a:prstGeom>
        </p:spPr>
      </p:pic>
      <p:sp>
        <p:nvSpPr>
          <p:cNvPr id="15" name="Text 11"/>
          <p:cNvSpPr txBox="1"/>
          <p:nvPr/>
        </p:nvSpPr>
        <p:spPr>
          <a:xfrm>
            <a:off x="10801807" y="1938528"/>
            <a:ext cx="594360" cy="365760"/>
          </a:xfrm>
          <a:prstGeom prst="rect">
            <a:avLst/>
          </a:prstGeom>
          <a:noFill/>
          <a:ln/>
        </p:spPr>
        <p:txBody>
          <a:bodyPr wrap="square" lIns="0" tIns="0" rIns="0" bIns="0" rtlCol="0" anchor="ctr"/>
          <a:lstStyle/>
          <a:p>
            <a:pPr algn="r" indent="0" marL="0">
              <a:buNone/>
            </a:pPr>
            <a:r>
              <a:rPr lang="en-US" sz="1800" b="1" dirty="0">
                <a:solidFill>
                  <a:srgbClr val="272F55"/>
                </a:solidFill>
                <a:latin typeface="Cambria" pitchFamily="34" charset="0"/>
                <a:ea typeface="Cambria" pitchFamily="34" charset="-122"/>
                <a:cs typeface="Cambria" pitchFamily="34" charset="-120"/>
              </a:rPr>
              <a:t>02</a:t>
            </a:r>
            <a:endParaRPr lang="en-US" sz="1800" dirty="0"/>
          </a:p>
        </p:txBody>
      </p:sp>
      <p:sp>
        <p:nvSpPr>
          <p:cNvPr id="16" name="Text 12"/>
          <p:cNvSpPr txBox="1"/>
          <p:nvPr/>
        </p:nvSpPr>
        <p:spPr>
          <a:xfrm>
            <a:off x="6466180" y="2697480"/>
            <a:ext cx="4902556"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Pilotage projet</a:t>
            </a:r>
            <a:endParaRPr lang="en-US" sz="1400" dirty="0"/>
          </a:p>
        </p:txBody>
      </p:sp>
      <p:sp>
        <p:nvSpPr>
          <p:cNvPr id="17" name="Text 13"/>
          <p:cNvSpPr txBox="1"/>
          <p:nvPr/>
        </p:nvSpPr>
        <p:spPr>
          <a:xfrm>
            <a:off x="6466180" y="3063240"/>
            <a:ext cx="4902556" cy="530352"/>
          </a:xfrm>
          <a:prstGeom prst="rect">
            <a:avLst/>
          </a:prstGeom>
          <a:noFill/>
          <a:ln/>
        </p:spPr>
        <p:txBody>
          <a:bodyPr wrap="square" lIns="0" tIns="0" rIns="0" bIns="0" rtlCol="0" anchor="ctr"/>
          <a:lstStyle/>
          <a:p>
            <a:pPr indent="0" marL="0">
              <a:lnSpc>
                <a:spcPct val="120000"/>
              </a:lnSpc>
              <a:buNone/>
            </a:pPr>
            <a:r>
              <a:rPr lang="en-US" sz="1080" dirty="0">
                <a:solidFill>
                  <a:srgbClr val="B9C6EE"/>
                </a:solidFill>
                <a:latin typeface="Calibri" pitchFamily="34" charset="0"/>
                <a:ea typeface="Calibri" pitchFamily="34" charset="-122"/>
                <a:cs typeface="Calibri" pitchFamily="34" charset="-120"/>
              </a:rPr>
              <a:t>Tableau Kanban → plan média → réservation d’un créneau de tournage</a:t>
            </a:r>
            <a:endParaRPr lang="en-US" sz="1080" dirty="0"/>
          </a:p>
        </p:txBody>
      </p:sp>
      <p:sp>
        <p:nvSpPr>
          <p:cNvPr id="18" name="Shape 14"/>
          <p:cNvSpPr/>
          <p:nvPr/>
        </p:nvSpPr>
        <p:spPr>
          <a:xfrm>
            <a:off x="566928" y="3886200"/>
            <a:ext cx="5414620" cy="1920240"/>
          </a:xfrm>
          <a:prstGeom prst="roundRect">
            <a:avLst>
              <a:gd name="adj" fmla="val 4286"/>
            </a:avLst>
          </a:prstGeom>
          <a:solidFill>
            <a:srgbClr val="1E2761"/>
          </a:solidFill>
          <a:ln w="12700">
            <a:solidFill>
              <a:srgbClr val="272F55"/>
            </a:solidFill>
            <a:prstDash val="solid"/>
          </a:ln>
        </p:spPr>
      </p:sp>
      <p:sp>
        <p:nvSpPr>
          <p:cNvPr id="19" name="Shape 15"/>
          <p:cNvSpPr/>
          <p:nvPr/>
        </p:nvSpPr>
        <p:spPr>
          <a:xfrm>
            <a:off x="822960" y="4142232"/>
            <a:ext cx="566928" cy="566928"/>
          </a:xfrm>
          <a:prstGeom prst="ellipse">
            <a:avLst/>
          </a:prstGeom>
          <a:solidFill>
            <a:srgbClr val="FF6B4A"/>
          </a:solidFill>
          <a:ln/>
        </p:spPr>
      </p:sp>
      <p:pic>
        <p:nvPicPr>
          <p:cNvPr id="20" name="Image 2" descr="C:\Users\yosrk\AppData\Local\Temp\claude\c--Users-yosrk-OneDrive-Bureau-RHpfe-Antigone-RH\f59fd8f1-a1b7-4e96-84d6-6d2a4296fa99\scratchpad\pfe-soutenance\icons\invoice.png">    </p:cNvPr>
          <p:cNvPicPr>
            <a:picLocks noChangeAspect="1"/>
          </p:cNvPicPr>
          <p:nvPr/>
        </p:nvPicPr>
        <p:blipFill>
          <a:blip r:embed="rId3"/>
          <a:stretch>
            <a:fillRect/>
          </a:stretch>
        </p:blipFill>
        <p:spPr>
          <a:xfrm>
            <a:off x="902330" y="4221602"/>
            <a:ext cx="408188" cy="408188"/>
          </a:xfrm>
          <a:prstGeom prst="rect">
            <a:avLst/>
          </a:prstGeom>
        </p:spPr>
      </p:pic>
      <p:sp>
        <p:nvSpPr>
          <p:cNvPr id="21" name="Text 16"/>
          <p:cNvSpPr txBox="1"/>
          <p:nvPr/>
        </p:nvSpPr>
        <p:spPr>
          <a:xfrm>
            <a:off x="5158588" y="4087368"/>
            <a:ext cx="594360" cy="365760"/>
          </a:xfrm>
          <a:prstGeom prst="rect">
            <a:avLst/>
          </a:prstGeom>
          <a:noFill/>
          <a:ln/>
        </p:spPr>
        <p:txBody>
          <a:bodyPr wrap="square" lIns="0" tIns="0" rIns="0" bIns="0" rtlCol="0" anchor="ctr"/>
          <a:lstStyle/>
          <a:p>
            <a:pPr algn="r" indent="0" marL="0">
              <a:buNone/>
            </a:pPr>
            <a:r>
              <a:rPr lang="en-US" sz="1800" b="1" dirty="0">
                <a:solidFill>
                  <a:srgbClr val="272F55"/>
                </a:solidFill>
                <a:latin typeface="Cambria" pitchFamily="34" charset="0"/>
                <a:ea typeface="Cambria" pitchFamily="34" charset="-122"/>
                <a:cs typeface="Cambria" pitchFamily="34" charset="-120"/>
              </a:rPr>
              <a:t>03</a:t>
            </a:r>
            <a:endParaRPr lang="en-US" sz="1800" dirty="0"/>
          </a:p>
        </p:txBody>
      </p:sp>
      <p:sp>
        <p:nvSpPr>
          <p:cNvPr id="22" name="Text 17"/>
          <p:cNvSpPr txBox="1"/>
          <p:nvPr/>
        </p:nvSpPr>
        <p:spPr>
          <a:xfrm>
            <a:off x="822960" y="4846320"/>
            <a:ext cx="4902556"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Chaîne financière</a:t>
            </a:r>
            <a:endParaRPr lang="en-US" sz="1400" dirty="0"/>
          </a:p>
        </p:txBody>
      </p:sp>
      <p:sp>
        <p:nvSpPr>
          <p:cNvPr id="23" name="Text 18"/>
          <p:cNvSpPr txBox="1"/>
          <p:nvPr/>
        </p:nvSpPr>
        <p:spPr>
          <a:xfrm>
            <a:off x="822960" y="5212080"/>
            <a:ext cx="4902556" cy="530352"/>
          </a:xfrm>
          <a:prstGeom prst="rect">
            <a:avLst/>
          </a:prstGeom>
          <a:noFill/>
          <a:ln/>
        </p:spPr>
        <p:txBody>
          <a:bodyPr wrap="square" lIns="0" tIns="0" rIns="0" bIns="0" rtlCol="0" anchor="ctr"/>
          <a:lstStyle/>
          <a:p>
            <a:pPr indent="0" marL="0">
              <a:lnSpc>
                <a:spcPct val="120000"/>
              </a:lnSpc>
              <a:buNone/>
            </a:pPr>
            <a:r>
              <a:rPr lang="en-US" sz="1080" dirty="0">
                <a:solidFill>
                  <a:srgbClr val="B9C6EE"/>
                </a:solidFill>
                <a:latin typeface="Calibri" pitchFamily="34" charset="0"/>
                <a:ea typeface="Calibri" pitchFamily="34" charset="-122"/>
                <a:cs typeface="Calibri" pitchFamily="34" charset="-120"/>
              </a:rPr>
              <a:t>Émission d’une facture → encaissement → génération du bulletin de paie</a:t>
            </a:r>
            <a:endParaRPr lang="en-US" sz="1080" dirty="0"/>
          </a:p>
        </p:txBody>
      </p:sp>
      <p:sp>
        <p:nvSpPr>
          <p:cNvPr id="24" name="Shape 19"/>
          <p:cNvSpPr/>
          <p:nvPr/>
        </p:nvSpPr>
        <p:spPr>
          <a:xfrm>
            <a:off x="6210148" y="3886200"/>
            <a:ext cx="5414620" cy="1920240"/>
          </a:xfrm>
          <a:prstGeom prst="roundRect">
            <a:avLst>
              <a:gd name="adj" fmla="val 4286"/>
            </a:avLst>
          </a:prstGeom>
          <a:solidFill>
            <a:srgbClr val="1E2761"/>
          </a:solidFill>
          <a:ln w="12700">
            <a:solidFill>
              <a:srgbClr val="272F55"/>
            </a:solidFill>
            <a:prstDash val="solid"/>
          </a:ln>
        </p:spPr>
      </p:sp>
      <p:sp>
        <p:nvSpPr>
          <p:cNvPr id="25" name="Shape 20"/>
          <p:cNvSpPr/>
          <p:nvPr/>
        </p:nvSpPr>
        <p:spPr>
          <a:xfrm>
            <a:off x="6466180" y="4142232"/>
            <a:ext cx="566928" cy="566928"/>
          </a:xfrm>
          <a:prstGeom prst="ellipse">
            <a:avLst/>
          </a:prstGeom>
          <a:solidFill>
            <a:srgbClr val="FF6B4A"/>
          </a:solidFill>
          <a:ln/>
        </p:spPr>
      </p:sp>
      <p:pic>
        <p:nvPicPr>
          <p:cNvPr id="26" name="Image 3" descr="C:\Users\yosrk\AppData\Local\Temp\claude\c--Users-yosrk-OneDrive-Bureau-RHpfe-Antigone-RH\f59fd8f1-a1b7-4e96-84d6-6d2a4296fa99\scratchpad\pfe-soutenance\icons\robot.png">    </p:cNvPr>
          <p:cNvPicPr>
            <a:picLocks noChangeAspect="1"/>
          </p:cNvPicPr>
          <p:nvPr/>
        </p:nvPicPr>
        <p:blipFill>
          <a:blip r:embed="rId4"/>
          <a:stretch>
            <a:fillRect/>
          </a:stretch>
        </p:blipFill>
        <p:spPr>
          <a:xfrm>
            <a:off x="6545550" y="4221602"/>
            <a:ext cx="408188" cy="408188"/>
          </a:xfrm>
          <a:prstGeom prst="rect">
            <a:avLst/>
          </a:prstGeom>
        </p:spPr>
      </p:pic>
      <p:sp>
        <p:nvSpPr>
          <p:cNvPr id="27" name="Text 21"/>
          <p:cNvSpPr txBox="1"/>
          <p:nvPr/>
        </p:nvSpPr>
        <p:spPr>
          <a:xfrm>
            <a:off x="10801807" y="4087368"/>
            <a:ext cx="594360" cy="365760"/>
          </a:xfrm>
          <a:prstGeom prst="rect">
            <a:avLst/>
          </a:prstGeom>
          <a:noFill/>
          <a:ln/>
        </p:spPr>
        <p:txBody>
          <a:bodyPr wrap="square" lIns="0" tIns="0" rIns="0" bIns="0" rtlCol="0" anchor="ctr"/>
          <a:lstStyle/>
          <a:p>
            <a:pPr algn="r" indent="0" marL="0">
              <a:buNone/>
            </a:pPr>
            <a:r>
              <a:rPr lang="en-US" sz="1800" b="1" dirty="0">
                <a:solidFill>
                  <a:srgbClr val="272F55"/>
                </a:solidFill>
                <a:latin typeface="Cambria" pitchFamily="34" charset="0"/>
                <a:ea typeface="Cambria" pitchFamily="34" charset="-122"/>
                <a:cs typeface="Cambria" pitchFamily="34" charset="-120"/>
              </a:rPr>
              <a:t>04</a:t>
            </a:r>
            <a:endParaRPr lang="en-US" sz="1800" dirty="0"/>
          </a:p>
        </p:txBody>
      </p:sp>
      <p:sp>
        <p:nvSpPr>
          <p:cNvPr id="28" name="Text 22"/>
          <p:cNvSpPr txBox="1"/>
          <p:nvPr/>
        </p:nvSpPr>
        <p:spPr>
          <a:xfrm>
            <a:off x="6466180" y="4846320"/>
            <a:ext cx="4902556"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Assistant IA</a:t>
            </a:r>
            <a:endParaRPr lang="en-US" sz="1400" dirty="0"/>
          </a:p>
        </p:txBody>
      </p:sp>
      <p:sp>
        <p:nvSpPr>
          <p:cNvPr id="29" name="Text 23"/>
          <p:cNvSpPr txBox="1"/>
          <p:nvPr/>
        </p:nvSpPr>
        <p:spPr>
          <a:xfrm>
            <a:off x="6466180" y="5212080"/>
            <a:ext cx="4902556" cy="530352"/>
          </a:xfrm>
          <a:prstGeom prst="rect">
            <a:avLst/>
          </a:prstGeom>
          <a:noFill/>
          <a:ln/>
        </p:spPr>
        <p:txBody>
          <a:bodyPr wrap="square" lIns="0" tIns="0" rIns="0" bIns="0" rtlCol="0" anchor="ctr"/>
          <a:lstStyle/>
          <a:p>
            <a:pPr indent="0" marL="0">
              <a:lnSpc>
                <a:spcPct val="120000"/>
              </a:lnSpc>
              <a:buNone/>
            </a:pPr>
            <a:r>
              <a:rPr lang="en-US" sz="1080" dirty="0">
                <a:solidFill>
                  <a:srgbClr val="B9C6EE"/>
                </a:solidFill>
                <a:latin typeface="Calibri" pitchFamily="34" charset="0"/>
                <a:ea typeface="Calibri" pitchFamily="34" charset="-122"/>
                <a:cs typeface="Calibri" pitchFamily="34" charset="-120"/>
              </a:rPr>
              <a:t>Question en langage naturel → réponse sourcée par l’application, en direct</a:t>
            </a:r>
            <a:endParaRPr lang="en-US" sz="10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B3C"/>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6E76A8"/>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6E76A8"/>
                </a:solidFill>
                <a:latin typeface="Calibri" pitchFamily="34" charset="0"/>
                <a:ea typeface="Calibri" pitchFamily="34" charset="-122"/>
                <a:cs typeface="Calibri" pitchFamily="34" charset="-120"/>
              </a:rPr>
              <a:t>23</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BILAN</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Antigone 360° en chiffres</a:t>
            </a:r>
            <a:endParaRPr lang="en-US" sz="3000" dirty="0"/>
          </a:p>
        </p:txBody>
      </p:sp>
      <p:sp>
        <p:nvSpPr>
          <p:cNvPr id="6" name="Shape 4"/>
          <p:cNvSpPr/>
          <p:nvPr/>
        </p:nvSpPr>
        <p:spPr>
          <a:xfrm>
            <a:off x="566928" y="1828800"/>
            <a:ext cx="2627300" cy="1554480"/>
          </a:xfrm>
          <a:prstGeom prst="roundRect">
            <a:avLst>
              <a:gd name="adj" fmla="val 5294"/>
            </a:avLst>
          </a:prstGeom>
          <a:solidFill>
            <a:srgbClr val="1E2761"/>
          </a:solidFill>
          <a:ln w="12700">
            <a:solidFill>
              <a:srgbClr val="272F55"/>
            </a:solidFill>
            <a:prstDash val="solid"/>
          </a:ln>
        </p:spPr>
      </p:sp>
      <p:sp>
        <p:nvSpPr>
          <p:cNvPr id="7" name="Text 5"/>
          <p:cNvSpPr txBox="1"/>
          <p:nvPr/>
        </p:nvSpPr>
        <p:spPr>
          <a:xfrm>
            <a:off x="566928" y="201168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6</a:t>
            </a:r>
            <a:endParaRPr lang="en-US" sz="3400" dirty="0"/>
          </a:p>
        </p:txBody>
      </p:sp>
      <p:sp>
        <p:nvSpPr>
          <p:cNvPr id="8" name="Text 6"/>
          <p:cNvSpPr txBox="1"/>
          <p:nvPr/>
        </p:nvSpPr>
        <p:spPr>
          <a:xfrm>
            <a:off x="676656" y="278892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mois de développement</a:t>
            </a:r>
            <a:endParaRPr lang="en-US" sz="1100" dirty="0"/>
          </a:p>
        </p:txBody>
      </p:sp>
      <p:sp>
        <p:nvSpPr>
          <p:cNvPr id="9" name="Shape 7"/>
          <p:cNvSpPr/>
          <p:nvPr/>
        </p:nvSpPr>
        <p:spPr>
          <a:xfrm>
            <a:off x="3377108" y="1828800"/>
            <a:ext cx="2627300" cy="1554480"/>
          </a:xfrm>
          <a:prstGeom prst="roundRect">
            <a:avLst>
              <a:gd name="adj" fmla="val 5294"/>
            </a:avLst>
          </a:prstGeom>
          <a:solidFill>
            <a:srgbClr val="1E2761"/>
          </a:solidFill>
          <a:ln w="12700">
            <a:solidFill>
              <a:srgbClr val="272F55"/>
            </a:solidFill>
            <a:prstDash val="solid"/>
          </a:ln>
        </p:spPr>
      </p:sp>
      <p:sp>
        <p:nvSpPr>
          <p:cNvPr id="10" name="Text 8"/>
          <p:cNvSpPr txBox="1"/>
          <p:nvPr/>
        </p:nvSpPr>
        <p:spPr>
          <a:xfrm>
            <a:off x="3377108" y="201168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1</a:t>
            </a:r>
            <a:endParaRPr lang="en-US" sz="3400" dirty="0"/>
          </a:p>
        </p:txBody>
      </p:sp>
      <p:sp>
        <p:nvSpPr>
          <p:cNvPr id="11" name="Text 9"/>
          <p:cNvSpPr txBox="1"/>
          <p:nvPr/>
        </p:nvSpPr>
        <p:spPr>
          <a:xfrm>
            <a:off x="3486836" y="278892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développeur — solo</a:t>
            </a:r>
            <a:endParaRPr lang="en-US" sz="1100" dirty="0"/>
          </a:p>
        </p:txBody>
      </p:sp>
      <p:sp>
        <p:nvSpPr>
          <p:cNvPr id="12" name="Shape 10"/>
          <p:cNvSpPr/>
          <p:nvPr/>
        </p:nvSpPr>
        <p:spPr>
          <a:xfrm>
            <a:off x="6187288" y="1828800"/>
            <a:ext cx="2627300" cy="1554480"/>
          </a:xfrm>
          <a:prstGeom prst="roundRect">
            <a:avLst>
              <a:gd name="adj" fmla="val 5294"/>
            </a:avLst>
          </a:prstGeom>
          <a:solidFill>
            <a:srgbClr val="1E2761"/>
          </a:solidFill>
          <a:ln w="12700">
            <a:solidFill>
              <a:srgbClr val="272F55"/>
            </a:solidFill>
            <a:prstDash val="solid"/>
          </a:ln>
        </p:spPr>
      </p:sp>
      <p:sp>
        <p:nvSpPr>
          <p:cNvPr id="13" name="Text 11"/>
          <p:cNvSpPr txBox="1"/>
          <p:nvPr/>
        </p:nvSpPr>
        <p:spPr>
          <a:xfrm>
            <a:off x="6187288" y="201168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5</a:t>
            </a:r>
            <a:endParaRPr lang="en-US" sz="3400" dirty="0"/>
          </a:p>
        </p:txBody>
      </p:sp>
      <p:sp>
        <p:nvSpPr>
          <p:cNvPr id="14" name="Text 12"/>
          <p:cNvSpPr txBox="1"/>
          <p:nvPr/>
        </p:nvSpPr>
        <p:spPr>
          <a:xfrm>
            <a:off x="6297016" y="278892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releases livrables</a:t>
            </a:r>
            <a:endParaRPr lang="en-US" sz="1100" dirty="0"/>
          </a:p>
        </p:txBody>
      </p:sp>
      <p:sp>
        <p:nvSpPr>
          <p:cNvPr id="15" name="Shape 13"/>
          <p:cNvSpPr/>
          <p:nvPr/>
        </p:nvSpPr>
        <p:spPr>
          <a:xfrm>
            <a:off x="8997467" y="1828800"/>
            <a:ext cx="2627300" cy="1554480"/>
          </a:xfrm>
          <a:prstGeom prst="roundRect">
            <a:avLst>
              <a:gd name="adj" fmla="val 5294"/>
            </a:avLst>
          </a:prstGeom>
          <a:solidFill>
            <a:srgbClr val="1E2761"/>
          </a:solidFill>
          <a:ln w="12700">
            <a:solidFill>
              <a:srgbClr val="272F55"/>
            </a:solidFill>
            <a:prstDash val="solid"/>
          </a:ln>
        </p:spPr>
      </p:sp>
      <p:sp>
        <p:nvSpPr>
          <p:cNvPr id="16" name="Text 14"/>
          <p:cNvSpPr txBox="1"/>
          <p:nvPr/>
        </p:nvSpPr>
        <p:spPr>
          <a:xfrm>
            <a:off x="8997467" y="201168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9</a:t>
            </a:r>
            <a:endParaRPr lang="en-US" sz="3400" dirty="0"/>
          </a:p>
        </p:txBody>
      </p:sp>
      <p:sp>
        <p:nvSpPr>
          <p:cNvPr id="17" name="Text 15"/>
          <p:cNvSpPr txBox="1"/>
          <p:nvPr/>
        </p:nvSpPr>
        <p:spPr>
          <a:xfrm>
            <a:off x="9107195" y="278892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sprints de 2 semaines</a:t>
            </a:r>
            <a:endParaRPr lang="en-US" sz="1100" dirty="0"/>
          </a:p>
        </p:txBody>
      </p:sp>
      <p:sp>
        <p:nvSpPr>
          <p:cNvPr id="18" name="Shape 16"/>
          <p:cNvSpPr/>
          <p:nvPr/>
        </p:nvSpPr>
        <p:spPr>
          <a:xfrm>
            <a:off x="566928" y="3566160"/>
            <a:ext cx="2627300" cy="1554480"/>
          </a:xfrm>
          <a:prstGeom prst="roundRect">
            <a:avLst>
              <a:gd name="adj" fmla="val 5294"/>
            </a:avLst>
          </a:prstGeom>
          <a:solidFill>
            <a:srgbClr val="1E2761"/>
          </a:solidFill>
          <a:ln w="12700">
            <a:solidFill>
              <a:srgbClr val="272F55"/>
            </a:solidFill>
            <a:prstDash val="solid"/>
          </a:ln>
        </p:spPr>
      </p:sp>
      <p:sp>
        <p:nvSpPr>
          <p:cNvPr id="19" name="Text 17"/>
          <p:cNvSpPr txBox="1"/>
          <p:nvPr/>
        </p:nvSpPr>
        <p:spPr>
          <a:xfrm>
            <a:off x="566928" y="374904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17</a:t>
            </a:r>
            <a:endParaRPr lang="en-US" sz="3400" dirty="0"/>
          </a:p>
        </p:txBody>
      </p:sp>
      <p:sp>
        <p:nvSpPr>
          <p:cNvPr id="20" name="Text 18"/>
          <p:cNvSpPr txBox="1"/>
          <p:nvPr/>
        </p:nvSpPr>
        <p:spPr>
          <a:xfrm>
            <a:off x="676656" y="452628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epics du backlog</a:t>
            </a:r>
            <a:endParaRPr lang="en-US" sz="1100" dirty="0"/>
          </a:p>
        </p:txBody>
      </p:sp>
      <p:sp>
        <p:nvSpPr>
          <p:cNvPr id="21" name="Shape 19"/>
          <p:cNvSpPr/>
          <p:nvPr/>
        </p:nvSpPr>
        <p:spPr>
          <a:xfrm>
            <a:off x="3377108" y="3566160"/>
            <a:ext cx="2627300" cy="1554480"/>
          </a:xfrm>
          <a:prstGeom prst="roundRect">
            <a:avLst>
              <a:gd name="adj" fmla="val 5294"/>
            </a:avLst>
          </a:prstGeom>
          <a:solidFill>
            <a:srgbClr val="1E2761"/>
          </a:solidFill>
          <a:ln w="12700">
            <a:solidFill>
              <a:srgbClr val="272F55"/>
            </a:solidFill>
            <a:prstDash val="solid"/>
          </a:ln>
        </p:spPr>
      </p:sp>
      <p:sp>
        <p:nvSpPr>
          <p:cNvPr id="22" name="Text 20"/>
          <p:cNvSpPr txBox="1"/>
          <p:nvPr/>
        </p:nvSpPr>
        <p:spPr>
          <a:xfrm>
            <a:off x="3377108" y="374904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3</a:t>
            </a:r>
            <a:endParaRPr lang="en-US" sz="3400" dirty="0"/>
          </a:p>
        </p:txBody>
      </p:sp>
      <p:sp>
        <p:nvSpPr>
          <p:cNvPr id="23" name="Text 21"/>
          <p:cNvSpPr txBox="1"/>
          <p:nvPr/>
        </p:nvSpPr>
        <p:spPr>
          <a:xfrm>
            <a:off x="3486836" y="452628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frontends React</a:t>
            </a:r>
            <a:endParaRPr lang="en-US" sz="1100" dirty="0"/>
          </a:p>
        </p:txBody>
      </p:sp>
      <p:sp>
        <p:nvSpPr>
          <p:cNvPr id="24" name="Shape 22"/>
          <p:cNvSpPr/>
          <p:nvPr/>
        </p:nvSpPr>
        <p:spPr>
          <a:xfrm>
            <a:off x="6187288" y="3566160"/>
            <a:ext cx="2627300" cy="1554480"/>
          </a:xfrm>
          <a:prstGeom prst="roundRect">
            <a:avLst>
              <a:gd name="adj" fmla="val 5294"/>
            </a:avLst>
          </a:prstGeom>
          <a:solidFill>
            <a:srgbClr val="1E2761"/>
          </a:solidFill>
          <a:ln w="12700">
            <a:solidFill>
              <a:srgbClr val="272F55"/>
            </a:solidFill>
            <a:prstDash val="solid"/>
          </a:ln>
        </p:spPr>
      </p:sp>
      <p:sp>
        <p:nvSpPr>
          <p:cNvPr id="25" name="Text 23"/>
          <p:cNvSpPr txBox="1"/>
          <p:nvPr/>
        </p:nvSpPr>
        <p:spPr>
          <a:xfrm>
            <a:off x="6187288" y="374904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 30</a:t>
            </a:r>
            <a:endParaRPr lang="en-US" sz="3400" dirty="0"/>
          </a:p>
        </p:txBody>
      </p:sp>
      <p:sp>
        <p:nvSpPr>
          <p:cNvPr id="26" name="Text 24"/>
          <p:cNvSpPr txBox="1"/>
          <p:nvPr/>
        </p:nvSpPr>
        <p:spPr>
          <a:xfrm>
            <a:off x="6297016" y="452628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contrôleurs REST</a:t>
            </a:r>
            <a:endParaRPr lang="en-US" sz="1100" dirty="0"/>
          </a:p>
        </p:txBody>
      </p:sp>
      <p:sp>
        <p:nvSpPr>
          <p:cNvPr id="27" name="Shape 25"/>
          <p:cNvSpPr/>
          <p:nvPr/>
        </p:nvSpPr>
        <p:spPr>
          <a:xfrm>
            <a:off x="8997467" y="3566160"/>
            <a:ext cx="2627300" cy="1554480"/>
          </a:xfrm>
          <a:prstGeom prst="roundRect">
            <a:avLst>
              <a:gd name="adj" fmla="val 5294"/>
            </a:avLst>
          </a:prstGeom>
          <a:solidFill>
            <a:srgbClr val="1E2761"/>
          </a:solidFill>
          <a:ln w="12700">
            <a:solidFill>
              <a:srgbClr val="272F55"/>
            </a:solidFill>
            <a:prstDash val="solid"/>
          </a:ln>
        </p:spPr>
      </p:sp>
      <p:sp>
        <p:nvSpPr>
          <p:cNvPr id="28" name="Text 26"/>
          <p:cNvSpPr txBox="1"/>
          <p:nvPr/>
        </p:nvSpPr>
        <p:spPr>
          <a:xfrm>
            <a:off x="8997467" y="3749040"/>
            <a:ext cx="2627300" cy="777240"/>
          </a:xfrm>
          <a:prstGeom prst="rect">
            <a:avLst/>
          </a:prstGeom>
          <a:noFill/>
          <a:ln/>
        </p:spPr>
        <p:txBody>
          <a:bodyPr wrap="square" lIns="0" tIns="0" rIns="0" bIns="0" rtlCol="0" anchor="ctr"/>
          <a:lstStyle/>
          <a:p>
            <a:pPr algn="ctr" indent="0" marL="0">
              <a:buNone/>
            </a:pPr>
            <a:r>
              <a:rPr lang="en-US" sz="3400" b="1" dirty="0">
                <a:solidFill>
                  <a:srgbClr val="FF6B4A"/>
                </a:solidFill>
                <a:latin typeface="Cambria" pitchFamily="34" charset="0"/>
                <a:ea typeface="Cambria" pitchFamily="34" charset="-122"/>
                <a:cs typeface="Cambria" pitchFamily="34" charset="-120"/>
              </a:rPr>
              <a:t>12</a:t>
            </a:r>
            <a:endParaRPr lang="en-US" sz="3400" dirty="0"/>
          </a:p>
        </p:txBody>
      </p:sp>
      <p:sp>
        <p:nvSpPr>
          <p:cNvPr id="29" name="Text 27"/>
          <p:cNvSpPr txBox="1"/>
          <p:nvPr/>
        </p:nvSpPr>
        <p:spPr>
          <a:xfrm>
            <a:off x="9107195" y="4526280"/>
            <a:ext cx="2407844" cy="502920"/>
          </a:xfrm>
          <a:prstGeom prst="rect">
            <a:avLst/>
          </a:prstGeom>
          <a:noFill/>
          <a:ln/>
        </p:spPr>
        <p:txBody>
          <a:bodyPr wrap="square" lIns="0" tIns="0" rIns="0" bIns="0" rtlCol="0" anchor="ctr"/>
          <a:lstStyle/>
          <a:p>
            <a:pPr algn="ctr" indent="0" marL="0">
              <a:lnSpc>
                <a:spcPct val="115000"/>
              </a:lnSpc>
              <a:buNone/>
            </a:pPr>
            <a:r>
              <a:rPr lang="en-US" sz="1100" dirty="0">
                <a:solidFill>
                  <a:srgbClr val="B9C6EE"/>
                </a:solidFill>
                <a:latin typeface="Calibri" pitchFamily="34" charset="0"/>
                <a:ea typeface="Calibri" pitchFamily="34" charset="-122"/>
                <a:cs typeface="Calibri" pitchFamily="34" charset="-120"/>
              </a:rPr>
              <a:t>types de congé gérés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24</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09 · CONCLUSION &amp; PERSPECTIVES</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Conclusion</a:t>
            </a:r>
            <a:endParaRPr lang="en-US" sz="3000" dirty="0"/>
          </a:p>
        </p:txBody>
      </p:sp>
      <p:sp>
        <p:nvSpPr>
          <p:cNvPr id="6" name="Shape 4"/>
          <p:cNvSpPr/>
          <p:nvPr/>
        </p:nvSpPr>
        <p:spPr>
          <a:xfrm>
            <a:off x="566928" y="1691640"/>
            <a:ext cx="11057839" cy="1417320"/>
          </a:xfrm>
          <a:prstGeom prst="roundRect">
            <a:avLst>
              <a:gd name="adj" fmla="val 6452"/>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886968" y="1965960"/>
            <a:ext cx="868680" cy="868680"/>
          </a:xfrm>
          <a:prstGeom prst="ellipse">
            <a:avLst/>
          </a:prstGeom>
          <a:solidFill>
            <a:srgbClr val="17B8A6"/>
          </a:solidFill>
          <a:ln/>
        </p:spPr>
      </p:sp>
      <p:pic>
        <p:nvPicPr>
          <p:cNvPr id="8" name="Image 0" descr="C:\Users\yosrk\AppData\Local\Temp\claude\c--Users-yosrk-OneDrive-Bureau-RHpfe-Antigone-RH\f59fd8f1-a1b7-4e96-84d6-6d2a4296fa99\scratchpad\pfe-soutenance\icons\shield.png">    </p:cNvPr>
          <p:cNvPicPr>
            <a:picLocks noChangeAspect="1"/>
          </p:cNvPicPr>
          <p:nvPr/>
        </p:nvPicPr>
        <p:blipFill>
          <a:blip r:embed="rId1"/>
          <a:stretch>
            <a:fillRect/>
          </a:stretch>
        </p:blipFill>
        <p:spPr>
          <a:xfrm>
            <a:off x="1008583" y="2087575"/>
            <a:ext cx="625450" cy="625450"/>
          </a:xfrm>
          <a:prstGeom prst="rect">
            <a:avLst/>
          </a:prstGeom>
        </p:spPr>
      </p:pic>
      <p:sp>
        <p:nvSpPr>
          <p:cNvPr id="9" name="Text 6"/>
          <p:cNvSpPr txBox="1"/>
          <p:nvPr/>
        </p:nvSpPr>
        <p:spPr>
          <a:xfrm>
            <a:off x="2029968" y="1783080"/>
            <a:ext cx="9320479" cy="123444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mbria" pitchFamily="34" charset="0"/>
                <a:ea typeface="Cambria" pitchFamily="34" charset="-122"/>
                <a:cs typeface="Cambria" pitchFamily="34" charset="-120"/>
              </a:rPr>
              <a:t>Un principe directeur, tenu sur l’ensemble du projet : </a:t>
            </a:r>
            <a:pPr indent="0" marL="0">
              <a:lnSpc>
                <a:spcPct val="130000"/>
              </a:lnSpc>
              <a:buNone/>
            </a:pPr>
            <a:r>
              <a:rPr lang="en-US" sz="1500" b="1" dirty="0">
                <a:solidFill>
                  <a:srgbClr val="17B8A6"/>
                </a:solidFill>
                <a:latin typeface="Cambria" pitchFamily="34" charset="0"/>
                <a:ea typeface="Cambria" pitchFamily="34" charset="-122"/>
                <a:cs typeface="Cambria" pitchFamily="34" charset="-120"/>
              </a:rPr>
              <a:t>la logique métier sensible reste toujours portée par les services du backend</a:t>
            </a:r>
            <a:pPr indent="0" marL="0">
              <a:lnSpc>
                <a:spcPct val="130000"/>
              </a:lnSpc>
              <a:buNone/>
            </a:pPr>
            <a:r>
              <a:rPr lang="en-US" sz="1500" dirty="0">
                <a:solidFill>
                  <a:srgbClr val="FFFFFF"/>
                </a:solidFill>
                <a:latin typeface="Cambria" pitchFamily="34" charset="0"/>
                <a:ea typeface="Cambria" pitchFamily="34" charset="-122"/>
                <a:cs typeface="Cambria" pitchFamily="34" charset="-120"/>
              </a:rPr>
              <a:t> — jamais déléguée au frontend, ni au modèle de langage.</a:t>
            </a:r>
            <a:endParaRPr lang="en-US" sz="1500" dirty="0"/>
          </a:p>
        </p:txBody>
      </p:sp>
      <p:sp>
        <p:nvSpPr>
          <p:cNvPr id="10" name="Text 7"/>
          <p:cNvSpPr txBox="1"/>
          <p:nvPr/>
        </p:nvSpPr>
        <p:spPr>
          <a:xfrm>
            <a:off x="566928" y="3383280"/>
            <a:ext cx="11057839" cy="2651760"/>
          </a:xfrm>
          <a:prstGeom prst="rect">
            <a:avLst/>
          </a:prstGeom>
          <a:noFill/>
          <a:ln/>
        </p:spPr>
        <p:txBody>
          <a:bodyPr wrap="square" lIns="0" tIns="0" rIns="0" bIns="0" rtlCol="0" anchor="ctr"/>
          <a:lstStyle/>
          <a:p>
            <a:pPr marL="177800" indent="-177800">
              <a:lnSpc>
                <a:spcPct val="130000"/>
              </a:lnSpc>
              <a:spcAft>
                <a:spcPts val="1400"/>
              </a:spcAft>
              <a:buSzPct val="100000"/>
              <a:buChar char="•"/>
            </a:pPr>
            <a:r>
              <a:rPr lang="en-US" sz="1350" dirty="0">
                <a:solidFill>
                  <a:srgbClr val="3A3F5C"/>
                </a:solidFill>
                <a:latin typeface="Calibri" pitchFamily="34" charset="0"/>
                <a:ea typeface="Calibri" pitchFamily="34" charset="-122"/>
                <a:cs typeface="Calibri" pitchFamily="34" charset="-120"/>
              </a:rPr>
              <a:t>Antigone 360° couvre aujourd’hui l’intégralité du périmètre initial : identités, organisation RH, projets &amp; plans médias, chaîne financière, assistant IA et informatique décisionnelle.</a:t>
            </a:r>
            <a:endParaRPr lang="en-US" sz="1350" dirty="0"/>
          </a:p>
          <a:p>
            <a:pPr marL="177800" indent="-177800">
              <a:lnSpc>
                <a:spcPct val="130000"/>
              </a:lnSpc>
              <a:spcAft>
                <a:spcPts val="1400"/>
              </a:spcAft>
              <a:buSzPct val="100000"/>
              <a:buChar char="•"/>
            </a:pPr>
            <a:r>
              <a:rPr lang="en-US" sz="1350" dirty="0">
                <a:solidFill>
                  <a:srgbClr val="3A3F5C"/>
                </a:solidFill>
                <a:latin typeface="Calibri" pitchFamily="34" charset="0"/>
                <a:ea typeface="Calibri" pitchFamily="34" charset="-122"/>
                <a:cs typeface="Calibri" pitchFamily="34" charset="-120"/>
              </a:rPr>
              <a:t>Une architecture qui reste unique là où elle doit l’être (un seul backend, une seule base de données) et qui se spécialise là où l’usage l’exige (3 frontends, une application Finance cloisonnée).</a:t>
            </a:r>
            <a:endParaRPr lang="en-US" sz="1350" dirty="0"/>
          </a:p>
          <a:p>
            <a:pPr marL="177800" indent="-177800">
              <a:lnSpc>
                <a:spcPct val="130000"/>
              </a:lnSpc>
              <a:spcAft>
                <a:spcPts val="1400"/>
              </a:spcAft>
              <a:buSzPct val="100000"/>
              <a:buChar char="•"/>
            </a:pPr>
            <a:r>
              <a:rPr lang="en-US" sz="1350" dirty="0">
                <a:solidFill>
                  <a:srgbClr val="3A3F5C"/>
                </a:solidFill>
                <a:latin typeface="Calibri" pitchFamily="34" charset="0"/>
                <a:ea typeface="Calibri" pitchFamily="34" charset="-122"/>
                <a:cs typeface="Calibri" pitchFamily="34" charset="-120"/>
              </a:rPr>
              <a:t>Un pilotage agile qui a permis d’absorber la complexité progressivement : chaque release réutilise explicitement les fondations posées par la précédente.</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6473952"/>
            <a:ext cx="3657600" cy="274320"/>
          </a:xfrm>
          <a:prstGeom prst="rect">
            <a:avLst/>
          </a:prstGeom>
          <a:noFill/>
          <a:ln/>
        </p:spPr>
        <p:txBody>
          <a:bodyPr wrap="square" lIns="0" tIns="0" rIns="0" bIns="0" rtlCol="0" anchor="ctr"/>
          <a:lstStyle/>
          <a:p>
            <a:pPr indent="0" marL="0">
              <a:buNone/>
            </a:pPr>
            <a:r>
              <a:rPr lang="en-US" sz="850" spc="120" kern="0" dirty="0">
                <a:solidFill>
                  <a:srgbClr val="767CA0"/>
                </a:solidFill>
                <a:latin typeface="Calibri" pitchFamily="34" charset="0"/>
                <a:ea typeface="Calibri" pitchFamily="34" charset="-122"/>
                <a:cs typeface="Calibri" pitchFamily="34" charset="-120"/>
              </a:rPr>
              <a:t>ANTIGONE 360°</a:t>
            </a:r>
            <a:endParaRPr lang="en-US" sz="850" dirty="0"/>
          </a:p>
        </p:txBody>
      </p:sp>
      <p:sp>
        <p:nvSpPr>
          <p:cNvPr id="3" name="Text 1"/>
          <p:cNvSpPr txBox="1"/>
          <p:nvPr/>
        </p:nvSpPr>
        <p:spPr>
          <a:xfrm>
            <a:off x="10710367" y="6473952"/>
            <a:ext cx="914400" cy="274320"/>
          </a:xfrm>
          <a:prstGeom prst="rect">
            <a:avLst/>
          </a:prstGeom>
          <a:noFill/>
          <a:ln/>
        </p:spPr>
        <p:txBody>
          <a:bodyPr wrap="square" lIns="0" tIns="0" rIns="0" bIns="0" rtlCol="0" anchor="ctr"/>
          <a:lstStyle/>
          <a:p>
            <a:pPr algn="r" indent="0" marL="0">
              <a:buNone/>
            </a:pPr>
            <a:r>
              <a:rPr lang="en-US" sz="850" dirty="0">
                <a:solidFill>
                  <a:srgbClr val="767CA0"/>
                </a:solidFill>
                <a:latin typeface="Calibri" pitchFamily="34" charset="0"/>
                <a:ea typeface="Calibri" pitchFamily="34" charset="-122"/>
                <a:cs typeface="Calibri" pitchFamily="34" charset="-120"/>
              </a:rPr>
              <a:t>25</a:t>
            </a:r>
            <a:endParaRPr lang="en-US" sz="850" dirty="0"/>
          </a:p>
        </p:txBody>
      </p:sp>
      <p:sp>
        <p:nvSpPr>
          <p:cNvPr id="4" name="Text 2"/>
          <p:cNvSpPr txBox="1"/>
          <p:nvPr/>
        </p:nvSpPr>
        <p:spPr>
          <a:xfrm>
            <a:off x="566928" y="457200"/>
            <a:ext cx="11057839" cy="292608"/>
          </a:xfrm>
          <a:prstGeom prst="rect">
            <a:avLst/>
          </a:prstGeom>
          <a:noFill/>
          <a:ln/>
        </p:spPr>
        <p:txBody>
          <a:bodyPr wrap="square" lIns="0" tIns="0" rIns="0" bIns="0" rtlCol="0" anchor="ctr"/>
          <a:lstStyle/>
          <a:p>
            <a:pPr indent="0" marL="0">
              <a:buNone/>
            </a:pPr>
            <a:r>
              <a:rPr lang="en-US" sz="1250" b="1" spc="200" kern="0" dirty="0">
                <a:solidFill>
                  <a:srgbClr val="FF6B4A"/>
                </a:solidFill>
                <a:latin typeface="Calibri" pitchFamily="34" charset="0"/>
                <a:ea typeface="Calibri" pitchFamily="34" charset="-122"/>
                <a:cs typeface="Calibri" pitchFamily="34" charset="-120"/>
              </a:rPr>
              <a:t>09 · CONCLUSION &amp; PERSPECTIVES</a:t>
            </a:r>
            <a:endParaRPr lang="en-US" sz="1250" dirty="0"/>
          </a:p>
        </p:txBody>
      </p:sp>
      <p:sp>
        <p:nvSpPr>
          <p:cNvPr id="5" name="Text 3"/>
          <p:cNvSpPr txBox="1"/>
          <p:nvPr/>
        </p:nvSpPr>
        <p:spPr>
          <a:xfrm>
            <a:off x="566928" y="749808"/>
            <a:ext cx="11057839" cy="777240"/>
          </a:xfrm>
          <a:prstGeom prst="rect">
            <a:avLst/>
          </a:prstGeom>
          <a:noFill/>
          <a:ln/>
        </p:spPr>
        <p:txBody>
          <a:bodyPr wrap="square" lIns="0" tIns="0" rIns="0" bIns="0" rtlCol="0" anchor="t"/>
          <a:lstStyle/>
          <a:p>
            <a:pPr indent="0" marL="0">
              <a:buNone/>
            </a:pPr>
            <a:r>
              <a:rPr lang="en-US" sz="3000" b="1" dirty="0">
                <a:solidFill>
                  <a:srgbClr val="141B3C"/>
                </a:solidFill>
                <a:latin typeface="Cambria" pitchFamily="34" charset="0"/>
                <a:ea typeface="Cambria" pitchFamily="34" charset="-122"/>
                <a:cs typeface="Cambria" pitchFamily="34" charset="-120"/>
              </a:rPr>
              <a:t>Perspectives d’évolution</a:t>
            </a:r>
            <a:endParaRPr lang="en-US" sz="3000" dirty="0"/>
          </a:p>
        </p:txBody>
      </p:sp>
      <p:sp>
        <p:nvSpPr>
          <p:cNvPr id="6" name="Shape 4"/>
          <p:cNvSpPr/>
          <p:nvPr/>
        </p:nvSpPr>
        <p:spPr>
          <a:xfrm>
            <a:off x="566928" y="1737360"/>
            <a:ext cx="2627300" cy="2286000"/>
          </a:xfrm>
          <a:prstGeom prst="roundRect">
            <a:avLst>
              <a:gd name="adj" fmla="val 3200"/>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7" name="Shape 5"/>
          <p:cNvSpPr/>
          <p:nvPr/>
        </p:nvSpPr>
        <p:spPr>
          <a:xfrm>
            <a:off x="1624546" y="1965960"/>
            <a:ext cx="512064" cy="512064"/>
          </a:xfrm>
          <a:prstGeom prst="ellipse">
            <a:avLst/>
          </a:prstGeom>
          <a:solidFill>
            <a:srgbClr val="17B8A6"/>
          </a:solidFill>
          <a:ln/>
        </p:spPr>
      </p:sp>
      <p:pic>
        <p:nvPicPr>
          <p:cNvPr id="8" name="Image 0" descr="C:\Users\yosrk\AppData\Local\Temp\claude\c--Users-yosrk-OneDrive-Bureau-RHpfe-Antigone-RH\f59fd8f1-a1b7-4e96-84d6-6d2a4296fa99\scratchpad\pfe-soutenance\icons\laptopcode.png">    </p:cNvPr>
          <p:cNvPicPr>
            <a:picLocks noChangeAspect="1"/>
          </p:cNvPicPr>
          <p:nvPr/>
        </p:nvPicPr>
        <p:blipFill>
          <a:blip r:embed="rId1"/>
          <a:stretch>
            <a:fillRect/>
          </a:stretch>
        </p:blipFill>
        <p:spPr>
          <a:xfrm>
            <a:off x="1696235" y="2037649"/>
            <a:ext cx="368686" cy="368686"/>
          </a:xfrm>
          <a:prstGeom prst="rect">
            <a:avLst/>
          </a:prstGeom>
        </p:spPr>
      </p:pic>
      <p:sp>
        <p:nvSpPr>
          <p:cNvPr id="9" name="Text 6"/>
          <p:cNvSpPr txBox="1"/>
          <p:nvPr/>
        </p:nvSpPr>
        <p:spPr>
          <a:xfrm>
            <a:off x="694944" y="2606040"/>
            <a:ext cx="2371268" cy="502920"/>
          </a:xfrm>
          <a:prstGeom prst="rect">
            <a:avLst/>
          </a:prstGeom>
          <a:noFill/>
          <a:ln/>
        </p:spPr>
        <p:txBody>
          <a:bodyPr wrap="square" lIns="0" tIns="0" rIns="0" bIns="0" rtlCol="0" anchor="ctr"/>
          <a:lstStyle/>
          <a:p>
            <a:pPr algn="ctr" indent="0" marL="0">
              <a:lnSpc>
                <a:spcPct val="110000"/>
              </a:lnSpc>
              <a:buNone/>
            </a:pPr>
            <a:r>
              <a:rPr lang="en-US" sz="1150" b="1" dirty="0">
                <a:solidFill>
                  <a:srgbClr val="141B3C"/>
                </a:solidFill>
                <a:latin typeface="Calibri" pitchFamily="34" charset="0"/>
                <a:ea typeface="Calibri" pitchFamily="34" charset="-122"/>
                <a:cs typeface="Calibri" pitchFamily="34" charset="-120"/>
              </a:rPr>
              <a:t>Application mobile</a:t>
            </a:r>
            <a:endParaRPr lang="en-US" sz="1150" dirty="0"/>
          </a:p>
        </p:txBody>
      </p:sp>
      <p:sp>
        <p:nvSpPr>
          <p:cNvPr id="10" name="Text 7"/>
          <p:cNvSpPr txBox="1"/>
          <p:nvPr/>
        </p:nvSpPr>
        <p:spPr>
          <a:xfrm>
            <a:off x="713232" y="3108960"/>
            <a:ext cx="2334692" cy="822960"/>
          </a:xfrm>
          <a:prstGeom prst="rect">
            <a:avLst/>
          </a:prstGeom>
          <a:noFill/>
          <a:ln/>
        </p:spPr>
        <p:txBody>
          <a:bodyPr wrap="square" lIns="0" tIns="0" rIns="0" bIns="0" rtlCol="0" anchor="ctr"/>
          <a:lstStyle/>
          <a:p>
            <a:pPr algn="ctr" indent="0" marL="0">
              <a:lnSpc>
                <a:spcPct val="118000"/>
              </a:lnSpc>
              <a:buNone/>
            </a:pPr>
            <a:r>
              <a:rPr lang="en-US" sz="930" dirty="0">
                <a:solidFill>
                  <a:srgbClr val="3A3F5C"/>
                </a:solidFill>
                <a:latin typeface="Calibri" pitchFamily="34" charset="0"/>
                <a:ea typeface="Calibri" pitchFamily="34" charset="-122"/>
                <a:cs typeface="Calibri" pitchFamily="34" charset="-120"/>
              </a:rPr>
              <a:t>Pointage, congés et notifications accessibles en déplacement</a:t>
            </a:r>
            <a:endParaRPr lang="en-US" sz="930" dirty="0"/>
          </a:p>
        </p:txBody>
      </p:sp>
      <p:sp>
        <p:nvSpPr>
          <p:cNvPr id="11" name="Shape 8"/>
          <p:cNvSpPr/>
          <p:nvPr/>
        </p:nvSpPr>
        <p:spPr>
          <a:xfrm>
            <a:off x="3377108" y="1737360"/>
            <a:ext cx="2627300" cy="2286000"/>
          </a:xfrm>
          <a:prstGeom prst="roundRect">
            <a:avLst>
              <a:gd name="adj" fmla="val 3200"/>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2" name="Shape 9"/>
          <p:cNvSpPr/>
          <p:nvPr/>
        </p:nvSpPr>
        <p:spPr>
          <a:xfrm>
            <a:off x="4434726" y="1965960"/>
            <a:ext cx="512064" cy="512064"/>
          </a:xfrm>
          <a:prstGeom prst="ellipse">
            <a:avLst/>
          </a:prstGeom>
          <a:solidFill>
            <a:srgbClr val="17B8A6"/>
          </a:solidFill>
          <a:ln/>
        </p:spPr>
      </p:sp>
      <p:pic>
        <p:nvPicPr>
          <p:cNvPr id="13" name="Image 1" descr="C:\Users\yosrk\AppData\Local\Temp\claude\c--Users-yosrk-OneDrive-Bureau-RHpfe-Antigone-RH\f59fd8f1-a1b7-4e96-84d6-6d2a4296fa99\scratchpad\pfe-soutenance\icons\robot.png">    </p:cNvPr>
          <p:cNvPicPr>
            <a:picLocks noChangeAspect="1"/>
          </p:cNvPicPr>
          <p:nvPr/>
        </p:nvPicPr>
        <p:blipFill>
          <a:blip r:embed="rId2"/>
          <a:stretch>
            <a:fillRect/>
          </a:stretch>
        </p:blipFill>
        <p:spPr>
          <a:xfrm>
            <a:off x="4506415" y="2037649"/>
            <a:ext cx="368686" cy="368686"/>
          </a:xfrm>
          <a:prstGeom prst="rect">
            <a:avLst/>
          </a:prstGeom>
        </p:spPr>
      </p:pic>
      <p:sp>
        <p:nvSpPr>
          <p:cNvPr id="14" name="Text 10"/>
          <p:cNvSpPr txBox="1"/>
          <p:nvPr/>
        </p:nvSpPr>
        <p:spPr>
          <a:xfrm>
            <a:off x="3505124" y="2606040"/>
            <a:ext cx="2371268" cy="502920"/>
          </a:xfrm>
          <a:prstGeom prst="rect">
            <a:avLst/>
          </a:prstGeom>
          <a:noFill/>
          <a:ln/>
        </p:spPr>
        <p:txBody>
          <a:bodyPr wrap="square" lIns="0" tIns="0" rIns="0" bIns="0" rtlCol="0" anchor="ctr"/>
          <a:lstStyle/>
          <a:p>
            <a:pPr algn="ctr" indent="0" marL="0">
              <a:lnSpc>
                <a:spcPct val="110000"/>
              </a:lnSpc>
              <a:buNone/>
            </a:pPr>
            <a:r>
              <a:rPr lang="en-US" sz="1150" b="1" dirty="0">
                <a:solidFill>
                  <a:srgbClr val="141B3C"/>
                </a:solidFill>
                <a:latin typeface="Calibri" pitchFamily="34" charset="0"/>
                <a:ea typeface="Calibri" pitchFamily="34" charset="-122"/>
                <a:cs typeface="Calibri" pitchFamily="34" charset="-120"/>
              </a:rPr>
              <a:t>IA couvrant toute la plateforme</a:t>
            </a:r>
            <a:endParaRPr lang="en-US" sz="1150" dirty="0"/>
          </a:p>
        </p:txBody>
      </p:sp>
      <p:sp>
        <p:nvSpPr>
          <p:cNvPr id="15" name="Text 11"/>
          <p:cNvSpPr txBox="1"/>
          <p:nvPr/>
        </p:nvSpPr>
        <p:spPr>
          <a:xfrm>
            <a:off x="3523412" y="3108960"/>
            <a:ext cx="2334692" cy="822960"/>
          </a:xfrm>
          <a:prstGeom prst="rect">
            <a:avLst/>
          </a:prstGeom>
          <a:noFill/>
          <a:ln/>
        </p:spPr>
        <p:txBody>
          <a:bodyPr wrap="square" lIns="0" tIns="0" rIns="0" bIns="0" rtlCol="0" anchor="ctr"/>
          <a:lstStyle/>
          <a:p>
            <a:pPr algn="ctr" indent="0" marL="0">
              <a:lnSpc>
                <a:spcPct val="118000"/>
              </a:lnSpc>
              <a:buNone/>
            </a:pPr>
            <a:r>
              <a:rPr lang="en-US" sz="930" dirty="0">
                <a:solidFill>
                  <a:srgbClr val="3A3F5C"/>
                </a:solidFill>
                <a:latin typeface="Calibri" pitchFamily="34" charset="0"/>
                <a:ea typeface="Calibri" pitchFamily="34" charset="-122"/>
                <a:cs typeface="Calibri" pitchFamily="34" charset="-120"/>
              </a:rPr>
              <a:t>Un point d’entrée unique vers l’avancement des projets et les indicateurs financiers</a:t>
            </a:r>
            <a:endParaRPr lang="en-US" sz="930" dirty="0"/>
          </a:p>
        </p:txBody>
      </p:sp>
      <p:sp>
        <p:nvSpPr>
          <p:cNvPr id="16" name="Shape 12"/>
          <p:cNvSpPr/>
          <p:nvPr/>
        </p:nvSpPr>
        <p:spPr>
          <a:xfrm>
            <a:off x="6187288" y="1737360"/>
            <a:ext cx="2627300" cy="2286000"/>
          </a:xfrm>
          <a:prstGeom prst="roundRect">
            <a:avLst>
              <a:gd name="adj" fmla="val 3200"/>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17" name="Shape 13"/>
          <p:cNvSpPr/>
          <p:nvPr/>
        </p:nvSpPr>
        <p:spPr>
          <a:xfrm>
            <a:off x="7244906" y="1965960"/>
            <a:ext cx="512064" cy="512064"/>
          </a:xfrm>
          <a:prstGeom prst="ellipse">
            <a:avLst/>
          </a:prstGeom>
          <a:solidFill>
            <a:srgbClr val="17B8A6"/>
          </a:solidFill>
          <a:ln/>
        </p:spPr>
      </p:sp>
      <p:pic>
        <p:nvPicPr>
          <p:cNvPr id="18" name="Image 2" descr="C:\Users\yosrk\AppData\Local\Temp\claude\c--Users-yosrk-OneDrive-Bureau-RHpfe-Antigone-RH\f59fd8f1-a1b7-4e96-84d6-6d2a4296fa99\scratchpad\pfe-soutenance\icons\chart.png">    </p:cNvPr>
          <p:cNvPicPr>
            <a:picLocks noChangeAspect="1"/>
          </p:cNvPicPr>
          <p:nvPr/>
        </p:nvPicPr>
        <p:blipFill>
          <a:blip r:embed="rId3"/>
          <a:stretch>
            <a:fillRect/>
          </a:stretch>
        </p:blipFill>
        <p:spPr>
          <a:xfrm>
            <a:off x="7316594" y="2037649"/>
            <a:ext cx="368686" cy="368686"/>
          </a:xfrm>
          <a:prstGeom prst="rect">
            <a:avLst/>
          </a:prstGeom>
        </p:spPr>
      </p:pic>
      <p:sp>
        <p:nvSpPr>
          <p:cNvPr id="19" name="Text 14"/>
          <p:cNvSpPr txBox="1"/>
          <p:nvPr/>
        </p:nvSpPr>
        <p:spPr>
          <a:xfrm>
            <a:off x="6315304" y="2606040"/>
            <a:ext cx="2371268" cy="502920"/>
          </a:xfrm>
          <a:prstGeom prst="rect">
            <a:avLst/>
          </a:prstGeom>
          <a:noFill/>
          <a:ln/>
        </p:spPr>
        <p:txBody>
          <a:bodyPr wrap="square" lIns="0" tIns="0" rIns="0" bIns="0" rtlCol="0" anchor="ctr"/>
          <a:lstStyle/>
          <a:p>
            <a:pPr algn="ctr" indent="0" marL="0">
              <a:lnSpc>
                <a:spcPct val="110000"/>
              </a:lnSpc>
              <a:buNone/>
            </a:pPr>
            <a:r>
              <a:rPr lang="en-US" sz="1150" b="1" dirty="0">
                <a:solidFill>
                  <a:srgbClr val="141B3C"/>
                </a:solidFill>
                <a:latin typeface="Calibri" pitchFamily="34" charset="0"/>
                <a:ea typeface="Calibri" pitchFamily="34" charset="-122"/>
                <a:cs typeface="Calibri" pitchFamily="34" charset="-120"/>
              </a:rPr>
              <a:t>Tableaux de bord consolidés</a:t>
            </a:r>
            <a:endParaRPr lang="en-US" sz="1150" dirty="0"/>
          </a:p>
        </p:txBody>
      </p:sp>
      <p:sp>
        <p:nvSpPr>
          <p:cNvPr id="20" name="Text 15"/>
          <p:cNvSpPr txBox="1"/>
          <p:nvPr/>
        </p:nvSpPr>
        <p:spPr>
          <a:xfrm>
            <a:off x="6333592" y="3108960"/>
            <a:ext cx="2334692" cy="822960"/>
          </a:xfrm>
          <a:prstGeom prst="rect">
            <a:avLst/>
          </a:prstGeom>
          <a:noFill/>
          <a:ln/>
        </p:spPr>
        <p:txBody>
          <a:bodyPr wrap="square" lIns="0" tIns="0" rIns="0" bIns="0" rtlCol="0" anchor="ctr"/>
          <a:lstStyle/>
          <a:p>
            <a:pPr algn="ctr" indent="0" marL="0">
              <a:lnSpc>
                <a:spcPct val="118000"/>
              </a:lnSpc>
              <a:buNone/>
            </a:pPr>
            <a:r>
              <a:rPr lang="en-US" sz="930" dirty="0">
                <a:solidFill>
                  <a:srgbClr val="3A3F5C"/>
                </a:solidFill>
                <a:latin typeface="Calibri" pitchFamily="34" charset="0"/>
                <a:ea typeface="Calibri" pitchFamily="34" charset="-122"/>
                <a:cs typeface="Calibri" pitchFamily="34" charset="-120"/>
              </a:rPr>
              <a:t>Une lecture d’ensemble de l’agence, sans naviguer d’un module à l’autre</a:t>
            </a:r>
            <a:endParaRPr lang="en-US" sz="930" dirty="0"/>
          </a:p>
        </p:txBody>
      </p:sp>
      <p:sp>
        <p:nvSpPr>
          <p:cNvPr id="21" name="Shape 16"/>
          <p:cNvSpPr/>
          <p:nvPr/>
        </p:nvSpPr>
        <p:spPr>
          <a:xfrm>
            <a:off x="8997467" y="1737360"/>
            <a:ext cx="2627300" cy="2286000"/>
          </a:xfrm>
          <a:prstGeom prst="roundRect">
            <a:avLst>
              <a:gd name="adj" fmla="val 3200"/>
            </a:avLst>
          </a:prstGeom>
          <a:solidFill>
            <a:srgbClr val="F5F7FC"/>
          </a:solidFill>
          <a:ln w="12700">
            <a:solidFill>
              <a:srgbClr val="E3E7F3"/>
            </a:solidFill>
            <a:prstDash val="solid"/>
          </a:ln>
          <a:effectLst>
            <a:outerShdw sx="100000" sy="100000" kx="0" ky="0" algn="bl" rotWithShape="0" blurRad="76200" dist="25400" dir="5400000">
              <a:srgbClr val="141B3C">
                <a:alpha val="10000"/>
              </a:srgbClr>
            </a:outerShdw>
          </a:effectLst>
        </p:spPr>
      </p:sp>
      <p:sp>
        <p:nvSpPr>
          <p:cNvPr id="22" name="Shape 17"/>
          <p:cNvSpPr/>
          <p:nvPr/>
        </p:nvSpPr>
        <p:spPr>
          <a:xfrm>
            <a:off x="10055085" y="1965960"/>
            <a:ext cx="512064" cy="512064"/>
          </a:xfrm>
          <a:prstGeom prst="ellipse">
            <a:avLst/>
          </a:prstGeom>
          <a:solidFill>
            <a:srgbClr val="17B8A6"/>
          </a:solidFill>
          <a:ln/>
        </p:spPr>
      </p:sp>
      <p:pic>
        <p:nvPicPr>
          <p:cNvPr id="23" name="Image 3" descr="C:\Users\yosrk\AppData\Local\Temp\claude\c--Users-yosrk-OneDrive-Bureau-RHpfe-Antigone-RH\f59fd8f1-a1b7-4e96-84d6-6d2a4296fa99\scratchpad\pfe-soutenance\icons\handshake.png">    </p:cNvPr>
          <p:cNvPicPr>
            <a:picLocks noChangeAspect="1"/>
          </p:cNvPicPr>
          <p:nvPr/>
        </p:nvPicPr>
        <p:blipFill>
          <a:blip r:embed="rId4"/>
          <a:stretch>
            <a:fillRect/>
          </a:stretch>
        </p:blipFill>
        <p:spPr>
          <a:xfrm>
            <a:off x="10126774" y="2037649"/>
            <a:ext cx="368686" cy="368686"/>
          </a:xfrm>
          <a:prstGeom prst="rect">
            <a:avLst/>
          </a:prstGeom>
        </p:spPr>
      </p:pic>
      <p:sp>
        <p:nvSpPr>
          <p:cNvPr id="24" name="Text 18"/>
          <p:cNvSpPr txBox="1"/>
          <p:nvPr/>
        </p:nvSpPr>
        <p:spPr>
          <a:xfrm>
            <a:off x="9125483" y="2606040"/>
            <a:ext cx="2371268" cy="502920"/>
          </a:xfrm>
          <a:prstGeom prst="rect">
            <a:avLst/>
          </a:prstGeom>
          <a:noFill/>
          <a:ln/>
        </p:spPr>
        <p:txBody>
          <a:bodyPr wrap="square" lIns="0" tIns="0" rIns="0" bIns="0" rtlCol="0" anchor="ctr"/>
          <a:lstStyle/>
          <a:p>
            <a:pPr algn="ctr" indent="0" marL="0">
              <a:lnSpc>
                <a:spcPct val="110000"/>
              </a:lnSpc>
              <a:buNone/>
            </a:pPr>
            <a:r>
              <a:rPr lang="en-US" sz="1150" b="1" dirty="0">
                <a:solidFill>
                  <a:srgbClr val="141B3C"/>
                </a:solidFill>
                <a:latin typeface="Calibri" pitchFamily="34" charset="0"/>
                <a:ea typeface="Calibri" pitchFamily="34" charset="-122"/>
                <a:cs typeface="Calibri" pitchFamily="34" charset="-120"/>
              </a:rPr>
              <a:t>Intégrations existantes</a:t>
            </a:r>
            <a:endParaRPr lang="en-US" sz="1150" dirty="0"/>
          </a:p>
        </p:txBody>
      </p:sp>
      <p:sp>
        <p:nvSpPr>
          <p:cNvPr id="25" name="Text 19"/>
          <p:cNvSpPr txBox="1"/>
          <p:nvPr/>
        </p:nvSpPr>
        <p:spPr>
          <a:xfrm>
            <a:off x="9143771" y="3108960"/>
            <a:ext cx="2334692" cy="822960"/>
          </a:xfrm>
          <a:prstGeom prst="rect">
            <a:avLst/>
          </a:prstGeom>
          <a:noFill/>
          <a:ln/>
        </p:spPr>
        <p:txBody>
          <a:bodyPr wrap="square" lIns="0" tIns="0" rIns="0" bIns="0" rtlCol="0" anchor="ctr"/>
          <a:lstStyle/>
          <a:p>
            <a:pPr algn="ctr" indent="0" marL="0">
              <a:lnSpc>
                <a:spcPct val="118000"/>
              </a:lnSpc>
              <a:buNone/>
            </a:pPr>
            <a:r>
              <a:rPr lang="en-US" sz="930" dirty="0">
                <a:solidFill>
                  <a:srgbClr val="3A3F5C"/>
                </a:solidFill>
                <a:latin typeface="Calibri" pitchFamily="34" charset="0"/>
                <a:ea typeface="Calibri" pitchFamily="34" charset="-122"/>
                <a:cs typeface="Calibri" pitchFamily="34" charset="-120"/>
              </a:rPr>
              <a:t>Messagerie d’équipe, calendrier, réseaux sociaux, logiciel de comptabilité</a:t>
            </a:r>
            <a:endParaRPr lang="en-US" sz="930" dirty="0"/>
          </a:p>
        </p:txBody>
      </p:sp>
      <p:sp>
        <p:nvSpPr>
          <p:cNvPr id="26" name="Shape 20"/>
          <p:cNvSpPr/>
          <p:nvPr/>
        </p:nvSpPr>
        <p:spPr>
          <a:xfrm>
            <a:off x="3352648" y="4251960"/>
            <a:ext cx="5486400" cy="1417320"/>
          </a:xfrm>
          <a:prstGeom prst="roundRect">
            <a:avLst>
              <a:gd name="adj" fmla="val 5806"/>
            </a:avLst>
          </a:prstGeom>
          <a:solidFill>
            <a:srgbClr val="141B3C"/>
          </a:solidFill>
          <a:ln w="12700">
            <a:solidFill>
              <a:srgbClr val="141B3C"/>
            </a:solidFill>
            <a:prstDash val="solid"/>
          </a:ln>
          <a:effectLst>
            <a:outerShdw sx="100000" sy="100000" kx="0" ky="0" algn="bl" rotWithShape="0" blurRad="76200" dist="25400" dir="5400000">
              <a:srgbClr val="141B3C">
                <a:alpha val="10000"/>
              </a:srgbClr>
            </a:outerShdw>
          </a:effectLst>
        </p:spPr>
      </p:sp>
      <p:sp>
        <p:nvSpPr>
          <p:cNvPr id="27" name="Shape 21"/>
          <p:cNvSpPr/>
          <p:nvPr/>
        </p:nvSpPr>
        <p:spPr>
          <a:xfrm>
            <a:off x="3626968" y="4617720"/>
            <a:ext cx="685800" cy="685800"/>
          </a:xfrm>
          <a:prstGeom prst="ellipse">
            <a:avLst/>
          </a:prstGeom>
          <a:solidFill>
            <a:srgbClr val="FF6B4A"/>
          </a:solidFill>
          <a:ln/>
        </p:spPr>
      </p:sp>
      <p:pic>
        <p:nvPicPr>
          <p:cNvPr id="28" name="Image 4" descr="C:\Users\yosrk\AppData\Local\Temp\claude\c--Users-yosrk-OneDrive-Bureau-RHpfe-Antigone-RH\f59fd8f1-a1b7-4e96-84d6-6d2a4296fa99\scratchpad\pfe-soutenance\icons\building.png">    </p:cNvPr>
          <p:cNvPicPr>
            <a:picLocks noChangeAspect="1"/>
          </p:cNvPicPr>
          <p:nvPr/>
        </p:nvPicPr>
        <p:blipFill>
          <a:blip r:embed="rId5"/>
          <a:stretch>
            <a:fillRect/>
          </a:stretch>
        </p:blipFill>
        <p:spPr>
          <a:xfrm>
            <a:off x="3722980" y="4713732"/>
            <a:ext cx="493776" cy="493776"/>
          </a:xfrm>
          <a:prstGeom prst="rect">
            <a:avLst/>
          </a:prstGeom>
        </p:spPr>
      </p:pic>
      <p:sp>
        <p:nvSpPr>
          <p:cNvPr id="29" name="Text 22"/>
          <p:cNvSpPr txBox="1"/>
          <p:nvPr/>
        </p:nvSpPr>
        <p:spPr>
          <a:xfrm>
            <a:off x="4495648" y="4434840"/>
            <a:ext cx="411480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Ouverture à d’autres agences</a:t>
            </a:r>
            <a:endParaRPr lang="en-US" sz="1300" dirty="0"/>
          </a:p>
        </p:txBody>
      </p:sp>
      <p:sp>
        <p:nvSpPr>
          <p:cNvPr id="30" name="Text 23"/>
          <p:cNvSpPr txBox="1"/>
          <p:nvPr/>
        </p:nvSpPr>
        <p:spPr>
          <a:xfrm>
            <a:off x="4495648" y="4818888"/>
            <a:ext cx="4114800" cy="731520"/>
          </a:xfrm>
          <a:prstGeom prst="rect">
            <a:avLst/>
          </a:prstGeom>
          <a:noFill/>
          <a:ln/>
        </p:spPr>
        <p:txBody>
          <a:bodyPr wrap="square" lIns="0" tIns="0" rIns="0" bIns="0" rtlCol="0" anchor="ctr"/>
          <a:lstStyle/>
          <a:p>
            <a:pPr indent="0" marL="0">
              <a:lnSpc>
                <a:spcPct val="120000"/>
              </a:lnSpc>
              <a:buNone/>
            </a:pPr>
            <a:r>
              <a:rPr lang="en-US" sz="1050" dirty="0">
                <a:solidFill>
                  <a:srgbClr val="B9C6EE"/>
                </a:solidFill>
                <a:latin typeface="Calibri" pitchFamily="34" charset="0"/>
                <a:ea typeface="Calibri" pitchFamily="34" charset="-122"/>
                <a:cs typeface="Calibri" pitchFamily="34" charset="-120"/>
              </a:rPr>
              <a:t>Un socle suffisamment générique pour être proposé à des structures comparables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B3C"/>
        </a:solidFill>
      </p:bgPr>
    </p:bg>
    <p:spTree>
      <p:nvGrpSpPr>
        <p:cNvPr id="1" name=""/>
        <p:cNvGrpSpPr/>
        <p:nvPr/>
      </p:nvGrpSpPr>
      <p:grpSpPr>
        <a:xfrm>
          <a:off x="0" y="0"/>
          <a:ext cx="0" cy="0"/>
          <a:chOff x="0" y="0"/>
          <a:chExt cx="0" cy="0"/>
        </a:xfrm>
      </p:grpSpPr>
      <p:sp>
        <p:nvSpPr>
          <p:cNvPr id="2" name="Shape 0"/>
          <p:cNvSpPr/>
          <p:nvPr/>
        </p:nvSpPr>
        <p:spPr>
          <a:xfrm>
            <a:off x="-2377440" y="-2286000"/>
            <a:ext cx="5669280" cy="5669280"/>
          </a:xfrm>
          <a:prstGeom prst="ellipse">
            <a:avLst/>
          </a:prstGeom>
          <a:solidFill>
            <a:srgbClr val="1E2761"/>
          </a:solidFill>
          <a:ln/>
        </p:spPr>
      </p:sp>
      <p:sp>
        <p:nvSpPr>
          <p:cNvPr id="3" name="Shape 1"/>
          <p:cNvSpPr/>
          <p:nvPr/>
        </p:nvSpPr>
        <p:spPr>
          <a:xfrm>
            <a:off x="9326880" y="3474720"/>
            <a:ext cx="5120640" cy="5120640"/>
          </a:xfrm>
          <a:prstGeom prst="ellipse">
            <a:avLst/>
          </a:prstGeom>
          <a:solidFill>
            <a:srgbClr val="1E2761"/>
          </a:solidFill>
          <a:ln/>
        </p:spPr>
      </p:sp>
      <p:sp>
        <p:nvSpPr>
          <p:cNvPr id="4" name="Shape 2"/>
          <p:cNvSpPr/>
          <p:nvPr/>
        </p:nvSpPr>
        <p:spPr>
          <a:xfrm>
            <a:off x="5547208" y="1691640"/>
            <a:ext cx="1097280" cy="1097280"/>
          </a:xfrm>
          <a:prstGeom prst="ellipse">
            <a:avLst/>
          </a:prstGeom>
          <a:solidFill>
            <a:srgbClr val="FF6B4A"/>
          </a:solidFill>
          <a:ln/>
        </p:spPr>
      </p:sp>
      <p:pic>
        <p:nvPicPr>
          <p:cNvPr id="5" name="Image 0" descr="C:\Users\yosrk\AppData\Local\Temp\claude\c--Users-yosrk-OneDrive-Bureau-RHpfe-Antigone-RH\f59fd8f1-a1b7-4e96-84d6-6d2a4296fa99\scratchpad\pfe-soutenance\icons\handshake.png">    </p:cNvPr>
          <p:cNvPicPr>
            <a:picLocks noChangeAspect="1"/>
          </p:cNvPicPr>
          <p:nvPr/>
        </p:nvPicPr>
        <p:blipFill>
          <a:blip r:embed="rId1"/>
          <a:stretch>
            <a:fillRect/>
          </a:stretch>
        </p:blipFill>
        <p:spPr>
          <a:xfrm>
            <a:off x="5700827" y="1845259"/>
            <a:ext cx="790042" cy="790042"/>
          </a:xfrm>
          <a:prstGeom prst="rect">
            <a:avLst/>
          </a:prstGeom>
        </p:spPr>
      </p:pic>
      <p:sp>
        <p:nvSpPr>
          <p:cNvPr id="6" name="Text 3"/>
          <p:cNvSpPr txBox="1"/>
          <p:nvPr/>
        </p:nvSpPr>
        <p:spPr>
          <a:xfrm>
            <a:off x="822960" y="3063240"/>
            <a:ext cx="105156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Merci de votre attention</a:t>
            </a:r>
            <a:endParaRPr lang="en-US" sz="4200" dirty="0"/>
          </a:p>
        </p:txBody>
      </p:sp>
      <p:sp>
        <p:nvSpPr>
          <p:cNvPr id="7" name="Text 4"/>
          <p:cNvSpPr txBox="1"/>
          <p:nvPr/>
        </p:nvSpPr>
        <p:spPr>
          <a:xfrm>
            <a:off x="822960" y="3977640"/>
            <a:ext cx="10515600" cy="502920"/>
          </a:xfrm>
          <a:prstGeom prst="rect">
            <a:avLst/>
          </a:prstGeom>
          <a:noFill/>
          <a:ln/>
        </p:spPr>
        <p:txBody>
          <a:bodyPr wrap="square" lIns="0" tIns="0" rIns="0" bIns="0" rtlCol="0" anchor="ctr"/>
          <a:lstStyle/>
          <a:p>
            <a:pPr algn="ctr" indent="0" marL="0">
              <a:buNone/>
            </a:pPr>
            <a:r>
              <a:rPr lang="en-US" sz="1600" spc="150" kern="0" dirty="0">
                <a:solidFill>
                  <a:srgbClr val="FF6B4A"/>
                </a:solidFill>
                <a:latin typeface="Calibri" pitchFamily="34" charset="0"/>
                <a:ea typeface="Calibri" pitchFamily="34" charset="-122"/>
                <a:cs typeface="Calibri" pitchFamily="34" charset="-120"/>
              </a:rPr>
              <a:t>ANTIGONE 360°  —  Questions ?</a:t>
            </a:r>
            <a:endParaRPr lang="en-US" sz="1600" dirty="0"/>
          </a:p>
        </p:txBody>
      </p:sp>
      <p:sp>
        <p:nvSpPr>
          <p:cNvPr id="8" name="Text 5"/>
          <p:cNvSpPr txBox="1"/>
          <p:nvPr/>
        </p:nvSpPr>
        <p:spPr>
          <a:xfrm>
            <a:off x="822960" y="6035040"/>
            <a:ext cx="10515600" cy="365760"/>
          </a:xfrm>
          <a:prstGeom prst="rect">
            <a:avLst/>
          </a:prstGeom>
          <a:noFill/>
          <a:ln/>
        </p:spPr>
        <p:txBody>
          <a:bodyPr wrap="square" lIns="0" tIns="0" rIns="0" bIns="0" rtlCol="0" anchor="ctr"/>
          <a:lstStyle/>
          <a:p>
            <a:pPr algn="ctr" indent="0" marL="0">
              <a:buNone/>
            </a:pPr>
            <a:r>
              <a:rPr lang="en-US" sz="1150" dirty="0">
                <a:solidFill>
                  <a:srgbClr val="B9C6EE"/>
                </a:solidFill>
                <a:latin typeface="Calibri" pitchFamily="34" charset="0"/>
                <a:ea typeface="Calibri" pitchFamily="34" charset="-122"/>
                <a:cs typeface="Calibri" pitchFamily="34" charset="-120"/>
              </a:rPr>
              <a:t>Yosr Khriji  ·  yosr.khriji27@gmail.com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2026-09-27T13:37:31Z</dcterms:created>
  <dcterms:modified xsi:type="dcterms:W3CDTF">2026-09-27T13:37:31Z</dcterms:modified>
</cp:coreProperties>
</file>